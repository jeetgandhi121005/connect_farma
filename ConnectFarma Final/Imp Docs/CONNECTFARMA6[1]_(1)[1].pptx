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4"/>
  </p:notesMasterIdLst>
  <p:handoutMasterIdLst>
    <p:handoutMasterId r:id="rId45"/>
  </p:handoutMasterIdLst>
  <p:sldIdLst>
    <p:sldId id="256" r:id="rId2"/>
    <p:sldId id="259" r:id="rId3"/>
    <p:sldId id="257" r:id="rId4"/>
    <p:sldId id="258" r:id="rId5"/>
    <p:sldId id="323" r:id="rId6"/>
    <p:sldId id="311" r:id="rId7"/>
    <p:sldId id="317" r:id="rId8"/>
    <p:sldId id="313" r:id="rId9"/>
    <p:sldId id="260" r:id="rId10"/>
    <p:sldId id="266" r:id="rId11"/>
    <p:sldId id="261" r:id="rId12"/>
    <p:sldId id="321" r:id="rId13"/>
    <p:sldId id="320" r:id="rId14"/>
    <p:sldId id="322" r:id="rId15"/>
    <p:sldId id="312" r:id="rId16"/>
    <p:sldId id="319" r:id="rId17"/>
    <p:sldId id="314" r:id="rId18"/>
    <p:sldId id="324" r:id="rId19"/>
    <p:sldId id="315" r:id="rId20"/>
    <p:sldId id="265" r:id="rId21"/>
    <p:sldId id="292" r:id="rId22"/>
    <p:sldId id="263" r:id="rId23"/>
    <p:sldId id="264" r:id="rId24"/>
    <p:sldId id="325" r:id="rId25"/>
    <p:sldId id="326" r:id="rId26"/>
    <p:sldId id="286" r:id="rId27"/>
    <p:sldId id="287" r:id="rId28"/>
    <p:sldId id="288" r:id="rId29"/>
    <p:sldId id="328" r:id="rId30"/>
    <p:sldId id="329" r:id="rId31"/>
    <p:sldId id="289" r:id="rId32"/>
    <p:sldId id="330" r:id="rId33"/>
    <p:sldId id="331" r:id="rId34"/>
    <p:sldId id="332" r:id="rId35"/>
    <p:sldId id="327" r:id="rId36"/>
    <p:sldId id="291" r:id="rId37"/>
    <p:sldId id="296" r:id="rId38"/>
    <p:sldId id="297" r:id="rId39"/>
    <p:sldId id="298" r:id="rId40"/>
    <p:sldId id="299" r:id="rId41"/>
    <p:sldId id="300" r:id="rId42"/>
    <p:sldId id="310"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60"/>
  </p:normalViewPr>
  <p:slideViewPr>
    <p:cSldViewPr snapToGrid="0">
      <p:cViewPr varScale="1">
        <p:scale>
          <a:sx n="82" d="100"/>
          <a:sy n="82" d="100"/>
        </p:scale>
        <p:origin x="557" y="77"/>
      </p:cViewPr>
      <p:guideLst/>
    </p:cSldViewPr>
  </p:slideViewPr>
  <p:notesTextViewPr>
    <p:cViewPr>
      <p:scale>
        <a:sx n="1" d="1"/>
        <a:sy n="1" d="1"/>
      </p:scale>
      <p:origin x="0" y="0"/>
    </p:cViewPr>
  </p:notesTextViewPr>
  <p:gridSpacing cx="76319" cy="76319"/>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logo</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C154CC-B232-4B3A-B1FE-A952091764A7}" type="datetime1">
              <a:rPr lang="en-US" smtClean="0"/>
              <a:t>9/3/2025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986E5B-F288-43A4-AE76-CA39DE98C5DC}"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logo</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3D23F8-C5DA-4C04-8CFC-6AF215EC86D0}" type="datetime1">
              <a:rPr lang="en-US" smtClean="0"/>
              <a:t>9/3/2025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348EA5-A711-4DEC-AF9A-325D601A5989}" type="slidenum">
              <a:rPr lang="en-US" smtClean="0"/>
              <a:t>‹#›</a:t>
            </a:fld>
            <a:endParaRPr lang="en-US"/>
          </a:p>
        </p:txBody>
      </p:sp>
    </p:spTree>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6348EA5-A711-4DEC-AF9A-325D601A5989}" type="slidenum">
              <a:rPr lang="en-US" smtClean="0"/>
              <a:t>1</a:t>
            </a:fld>
            <a:endParaRPr lang="en-US"/>
          </a:p>
        </p:txBody>
      </p:sp>
      <p:sp>
        <p:nvSpPr>
          <p:cNvPr id="5" name="Date Placeholder 4"/>
          <p:cNvSpPr>
            <a:spLocks noGrp="1"/>
          </p:cNvSpPr>
          <p:nvPr>
            <p:ph type="dt" idx="11"/>
          </p:nvPr>
        </p:nvSpPr>
        <p:spPr/>
        <p:txBody>
          <a:bodyPr/>
          <a:lstStyle/>
          <a:p>
            <a:fld id="{627BE3C9-E8F3-4129-9BC1-FDFCD1F93E28}" type="datetime1">
              <a:rPr lang="en-US" smtClean="0"/>
              <a:t>9/3/2025</a:t>
            </a:fld>
            <a:endParaRPr lang="en-US"/>
          </a:p>
        </p:txBody>
      </p:sp>
      <p:sp>
        <p:nvSpPr>
          <p:cNvPr id="6" name="Footer Placeholder 5"/>
          <p:cNvSpPr>
            <a:spLocks noGrp="1"/>
          </p:cNvSpPr>
          <p:nvPr>
            <p:ph type="ftr" sz="quarter" idx="12"/>
          </p:nvPr>
        </p:nvSpPr>
        <p:spPr/>
        <p:txBody>
          <a:bodyPr/>
          <a:lstStyle/>
          <a:p>
            <a:endParaRPr lang="en-US"/>
          </a:p>
        </p:txBody>
      </p:sp>
      <p:sp>
        <p:nvSpPr>
          <p:cNvPr id="7" name="Header Placeholder 6"/>
          <p:cNvSpPr>
            <a:spLocks noGrp="1"/>
          </p:cNvSpPr>
          <p:nvPr>
            <p:ph type="hdr" sz="quarter" idx="13"/>
          </p:nvPr>
        </p:nvSpPr>
        <p:spPr/>
        <p:txBody>
          <a:bodyPr/>
          <a:lstStyle/>
          <a:p>
            <a:r>
              <a:rPr lang="en-US"/>
              <a:t>logo</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
        <p:nvSpPr>
          <p:cNvPr id="4" name="Header Placeholder 3"/>
          <p:cNvSpPr>
            <a:spLocks noGrp="1"/>
          </p:cNvSpPr>
          <p:nvPr>
            <p:ph type="hdr" sz="quarter"/>
          </p:nvPr>
        </p:nvSpPr>
        <p:spPr/>
        <p:txBody>
          <a:bodyPr/>
          <a:lstStyle/>
          <a:p>
            <a:r>
              <a:rPr lang="en-US"/>
              <a:t>logo</a:t>
            </a:r>
          </a:p>
        </p:txBody>
      </p:sp>
      <p:sp>
        <p:nvSpPr>
          <p:cNvPr id="5" name="Date Placeholder 4"/>
          <p:cNvSpPr>
            <a:spLocks noGrp="1"/>
          </p:cNvSpPr>
          <p:nvPr>
            <p:ph type="dt" idx="1"/>
          </p:nvPr>
        </p:nvSpPr>
        <p:spPr/>
        <p:txBody>
          <a:bodyPr/>
          <a:lstStyle/>
          <a:p>
            <a:fld id="{AC7445A4-1391-4C60-AD75-E1244B2B96DC}" type="datetime1">
              <a:rPr lang="en-US" smtClean="0"/>
              <a:t>9/3/2025</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C6348EA5-A711-4DEC-AF9A-325D601A5989}" type="slidenum">
              <a:rPr lang="en-US" smtClean="0"/>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8/1/2025</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8/1/2025</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8/1/2025</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8/1/2025</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8/1/2025</a:t>
            </a:r>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8/1/2025</a:t>
            </a:r>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8/1/2025</a:t>
            </a:r>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8/1/2025</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8/1/2025</a:t>
            </a:r>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8/1/2025</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8/1/2025</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8/1/2025</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8/1/2025</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8/1/2025</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8/1/2025</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8/1/2025</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US"/>
              <a:t>8/1/2025</a:t>
            </a:r>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pPr algn="l"/>
            <a:r>
              <a:rPr lang="en-US" dirty="0"/>
              <a:t>Bringing farms to families</a:t>
            </a:r>
          </a:p>
        </p:txBody>
      </p:sp>
      <p:sp>
        <p:nvSpPr>
          <p:cNvPr id="6" name="Slide Number Placeholder 5"/>
          <p:cNvSpPr>
            <a:spLocks noGrp="1"/>
          </p:cNvSpPr>
          <p:nvPr>
            <p:ph type="sldNum" sz="quarter" idx="12"/>
          </p:nvPr>
        </p:nvSpPr>
        <p:spPr/>
        <p:txBody>
          <a:bodyPr/>
          <a:lstStyle/>
          <a:p>
            <a:fld id="{D57F1E4F-1CFF-5643-939E-217C01CDF565}" type="slidenum">
              <a:rPr lang="en-US" smtClean="0"/>
              <a:t>1</a:t>
            </a:fld>
            <a:endParaRPr lang="en-US" dirty="0"/>
          </a:p>
        </p:txBody>
      </p:sp>
      <p:sp>
        <p:nvSpPr>
          <p:cNvPr id="15" name="Date Placeholder 3"/>
          <p:cNvSpPr>
            <a:spLocks noGrp="1"/>
          </p:cNvSpPr>
          <p:nvPr>
            <p:ph type="ctrTitle"/>
          </p:nvPr>
        </p:nvSpPr>
        <p:spPr/>
        <p:txBody>
          <a:bodyPr/>
          <a:lstStyle/>
          <a:p>
            <a:pPr algn="l"/>
            <a:r>
              <a:rPr lang="en-US" b="1" dirty="0">
                <a:solidFill>
                  <a:schemeClr val="accent1"/>
                </a:solidFill>
              </a:rPr>
              <a:t>CONNECTFARMA</a:t>
            </a:r>
          </a:p>
        </p:txBody>
      </p:sp>
      <p:pic>
        <p:nvPicPr>
          <p:cNvPr id="16" name="Image 1"/>
          <p:cNvPicPr/>
          <p:nvPr/>
        </p:nvPicPr>
        <p:blipFill>
          <a:blip r:embed="rId3" cstate="print"/>
          <a:stretch>
            <a:fillRect/>
          </a:stretch>
        </p:blipFill>
        <p:spPr>
          <a:xfrm>
            <a:off x="1681504" y="1835574"/>
            <a:ext cx="1388745" cy="1137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57F1E4F-1CFF-5643-939E-217C01CDF565}" type="slidenum">
              <a:rPr lang="en-US" smtClean="0"/>
              <a:t>2</a:t>
            </a:fld>
            <a:endParaRPr lang="en-US" dirty="0"/>
          </a:p>
        </p:txBody>
      </p:sp>
      <p:graphicFrame>
        <p:nvGraphicFramePr>
          <p:cNvPr id="12" name="Content Placeholder 11"/>
          <p:cNvGraphicFramePr>
            <a:graphicFrameLocks noGrp="1"/>
          </p:cNvGraphicFramePr>
          <p:nvPr>
            <p:ph idx="1"/>
          </p:nvPr>
        </p:nvGraphicFramePr>
        <p:xfrm>
          <a:off x="1819175" y="144377"/>
          <a:ext cx="6337997" cy="6605482"/>
        </p:xfrm>
        <a:graphic>
          <a:graphicData uri="http://schemas.openxmlformats.org/drawingml/2006/table">
            <a:tbl>
              <a:tblPr firstRow="1" firstCol="1" bandRow="1">
                <a:tableStyleId>{5C22544A-7EE6-4342-B048-85BDC9FD1C3A}</a:tableStyleId>
              </a:tblPr>
              <a:tblGrid>
                <a:gridCol w="650589">
                  <a:extLst>
                    <a:ext uri="{9D8B030D-6E8A-4147-A177-3AD203B41FA5}">
                      <a16:colId xmlns:a16="http://schemas.microsoft.com/office/drawing/2014/main" val="20000"/>
                    </a:ext>
                  </a:extLst>
                </a:gridCol>
                <a:gridCol w="5013296">
                  <a:extLst>
                    <a:ext uri="{9D8B030D-6E8A-4147-A177-3AD203B41FA5}">
                      <a16:colId xmlns:a16="http://schemas.microsoft.com/office/drawing/2014/main" val="20001"/>
                    </a:ext>
                  </a:extLst>
                </a:gridCol>
                <a:gridCol w="674112">
                  <a:extLst>
                    <a:ext uri="{9D8B030D-6E8A-4147-A177-3AD203B41FA5}">
                      <a16:colId xmlns:a16="http://schemas.microsoft.com/office/drawing/2014/main" val="20002"/>
                    </a:ext>
                  </a:extLst>
                </a:gridCol>
              </a:tblGrid>
              <a:tr h="294668">
                <a:tc>
                  <a:txBody>
                    <a:bodyPr/>
                    <a:lstStyle/>
                    <a:p>
                      <a:endParaRPr lang="en-US" sz="900" dirty="0"/>
                    </a:p>
                    <a:p>
                      <a:endParaRPr lang="en-US" sz="900" dirty="0"/>
                    </a:p>
                  </a:txBody>
                  <a:tcPr marL="4820" marR="4820" marT="4820" marB="4820" anchor="ctr"/>
                </a:tc>
                <a:tc>
                  <a:txBody>
                    <a:bodyPr/>
                    <a:lstStyle/>
                    <a:p>
                      <a:pPr algn="ctr"/>
                      <a:r>
                        <a:rPr lang="en-US" sz="1600" dirty="0"/>
                        <a:t>Index</a:t>
                      </a:r>
                    </a:p>
                  </a:txBody>
                  <a:tcPr marL="46269" marR="46269" marT="23134" marB="23134"/>
                </a:tc>
                <a:tc>
                  <a:txBody>
                    <a:bodyPr/>
                    <a:lstStyle/>
                    <a:p>
                      <a:endParaRPr lang="en-US" sz="900"/>
                    </a:p>
                  </a:txBody>
                  <a:tcPr marL="46269" marR="46269" marT="23134" marB="23134"/>
                </a:tc>
                <a:extLst>
                  <a:ext uri="{0D108BD9-81ED-4DB2-BD59-A6C34878D82A}">
                    <a16:rowId xmlns:a16="http://schemas.microsoft.com/office/drawing/2014/main" val="10000"/>
                  </a:ext>
                </a:extLst>
              </a:tr>
              <a:tr h="515061">
                <a:tc>
                  <a:txBody>
                    <a:bodyPr/>
                    <a:lstStyle/>
                    <a:p>
                      <a:pPr marL="0" marR="0" algn="ctr">
                        <a:lnSpc>
                          <a:spcPct val="107000"/>
                        </a:lnSpc>
                        <a:spcBef>
                          <a:spcPts val="0"/>
                        </a:spcBef>
                        <a:spcAft>
                          <a:spcPts val="800"/>
                        </a:spcAft>
                      </a:pPr>
                      <a:r>
                        <a:rPr lang="en-US" sz="1400" b="0" dirty="0" err="1">
                          <a:effectLst/>
                          <a:latin typeface="Times New Roman" panose="02020603050405020304" pitchFamily="18" charset="0"/>
                          <a:cs typeface="Times New Roman" panose="02020603050405020304" pitchFamily="18" charset="0"/>
                        </a:rPr>
                        <a:t>Sr</a:t>
                      </a:r>
                      <a:r>
                        <a:rPr lang="en-US" sz="1400" b="0" baseline="0" dirty="0">
                          <a:effectLst/>
                          <a:latin typeface="Times New Roman" panose="02020603050405020304" pitchFamily="18" charset="0"/>
                          <a:cs typeface="Times New Roman" panose="02020603050405020304" pitchFamily="18" charset="0"/>
                        </a:rPr>
                        <a:t> </a:t>
                      </a:r>
                      <a:r>
                        <a:rPr lang="en-US" sz="1400" b="0" dirty="0">
                          <a:effectLst/>
                          <a:latin typeface="Times New Roman" panose="02020603050405020304" pitchFamily="18" charset="0"/>
                          <a:cs typeface="Times New Roman" panose="02020603050405020304" pitchFamily="18" charset="0"/>
                        </a:rPr>
                        <a:t>No</a:t>
                      </a:r>
                      <a:endParaRPr lang="en-US" sz="6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Section Title</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Page No</a:t>
                      </a:r>
                      <a:r>
                        <a:rPr lang="en-US" sz="700" b="0" dirty="0">
                          <a:effectLst/>
                          <a:latin typeface="Times New Roman" panose="02020603050405020304" pitchFamily="18" charset="0"/>
                          <a:cs typeface="Times New Roman" panose="02020603050405020304" pitchFamily="18" charset="0"/>
                        </a:rPr>
                        <a:t>.</a:t>
                      </a:r>
                      <a:endParaRPr lang="en-US" sz="6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1"/>
                  </a:ext>
                </a:extLst>
              </a:tr>
              <a:tr h="343373">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0.1</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Cover Page &amp; Submission Details</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1</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2"/>
                  </a:ext>
                </a:extLst>
              </a:tr>
              <a:tr h="231871">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0.2</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Project Overview</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3"/>
                  </a:ext>
                </a:extLst>
              </a:tr>
              <a:tr h="327221">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0.3</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Index (Basic Table of Contents)</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3</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4"/>
                  </a:ext>
                </a:extLst>
              </a:tr>
              <a:tr h="248884">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1.1</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Project Proposal &amp; Planning</a:t>
                      </a: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4</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5"/>
                  </a:ext>
                </a:extLst>
              </a:tr>
              <a:tr h="231871">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1.2</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Advantages of </a:t>
                      </a:r>
                      <a:r>
                        <a:rPr lang="en-US" sz="1400" b="0" dirty="0" err="1">
                          <a:effectLst/>
                          <a:latin typeface="Times New Roman" panose="02020603050405020304" pitchFamily="18" charset="0"/>
                          <a:cs typeface="Times New Roman" panose="02020603050405020304" pitchFamily="18" charset="0"/>
                        </a:rPr>
                        <a:t>ConnectFrama</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5</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6"/>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1.3</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Proposed System &amp; Modules Overview</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6</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7"/>
                  </a:ext>
                </a:extLst>
              </a:tr>
              <a:tr h="231871">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2.1</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System Design &amp; Database</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7</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8"/>
                  </a:ext>
                </a:extLst>
              </a:tr>
              <a:tr h="231871">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2.2</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System Diagram</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8</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9"/>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2.3</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System Design Layout: Home Page</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9</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0"/>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2.4</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UI Screens: </a:t>
                      </a:r>
                      <a:r>
                        <a:rPr lang="en-US" sz="1400" b="0" dirty="0" err="1">
                          <a:effectLst/>
                          <a:latin typeface="Times New Roman" panose="02020603050405020304" pitchFamily="18" charset="0"/>
                          <a:cs typeface="Times New Roman" panose="02020603050405020304" pitchFamily="18" charset="0"/>
                        </a:rPr>
                        <a:t>SignUp</a:t>
                      </a:r>
                      <a:r>
                        <a:rPr lang="en-US" sz="1400" b="0" dirty="0">
                          <a:effectLst/>
                          <a:latin typeface="Times New Roman" panose="02020603050405020304" pitchFamily="18" charset="0"/>
                          <a:cs typeface="Times New Roman" panose="02020603050405020304" pitchFamily="18" charset="0"/>
                        </a:rPr>
                        <a:t>/Login (Consumer &amp; Farmer)</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10</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1"/>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2.5</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Database Development – Consumer Table</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23</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2"/>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2.6</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Database Development – Farmer Table</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24</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3"/>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2.7</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Database Development – Product Table</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25</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4"/>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2.8</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Modules Summary (Farmer, Customer, Admin, Order)</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26</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5"/>
                  </a:ext>
                </a:extLst>
              </a:tr>
              <a:tr h="515061">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2.9</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Functional Details (User Registration, Login, Listing, Orders)</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27</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6"/>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2.10</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Dashboard Features (Admin, Farmer, Consumer)</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28</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7"/>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2.11</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Contact &amp; Support + Final Flow Diagram</a:t>
                      </a:r>
                    </a:p>
                  </a:txBody>
                  <a:tcPr marL="34702" marR="34702" marT="0" marB="0" anchor="ctr"/>
                </a:tc>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29</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8"/>
                  </a:ext>
                </a:extLst>
              </a:tr>
              <a:tr h="343373">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ea typeface="MS Mincho"/>
                          <a:cs typeface="Times New Roman" panose="02020603050405020304" pitchFamily="18" charset="0"/>
                        </a:rPr>
                        <a:t>3.1</a:t>
                      </a: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Use Case</a:t>
                      </a:r>
                      <a:r>
                        <a:rPr lang="en-US" sz="1400" b="0" baseline="0" dirty="0">
                          <a:effectLst/>
                          <a:latin typeface="Times New Roman" panose="02020603050405020304" pitchFamily="18" charset="0"/>
                          <a:cs typeface="Times New Roman" panose="02020603050405020304" pitchFamily="18" charset="0"/>
                        </a:rPr>
                        <a:t> Diagram – Consumer Table</a:t>
                      </a:r>
                      <a:endParaRPr lang="en-US" sz="1400" b="0" dirty="0">
                        <a:effectLst/>
                        <a:latin typeface="Times New Roman" panose="02020603050405020304" pitchFamily="18" charset="0"/>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9"/>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365" y="2160589"/>
            <a:ext cx="9318543" cy="3880773"/>
          </a:xfrm>
        </p:spPr>
        <p:txBody>
          <a:bodyPr>
            <a:normAutofit lnSpcReduction="10000"/>
          </a:bodyPr>
          <a:lstStyle/>
          <a:p>
            <a:r>
              <a:rPr lang="en-US" b="1" dirty="0">
                <a:latin typeface="Times New Roman" panose="02020603050405020304" pitchFamily="18" charset="0"/>
                <a:cs typeface="Times New Roman" panose="02020603050405020304" pitchFamily="18" charset="0"/>
              </a:rPr>
              <a:t>Submitted to: </a:t>
            </a:r>
            <a:r>
              <a:rPr lang="en-US" dirty="0">
                <a:latin typeface="Times New Roman" panose="02020603050405020304" pitchFamily="18" charset="0"/>
                <a:cs typeface="Times New Roman" panose="02020603050405020304" pitchFamily="18" charset="0"/>
              </a:rPr>
              <a:t>Department of Computer Applications</a:t>
            </a:r>
          </a:p>
          <a:p>
            <a:r>
              <a:rPr lang="en-US" b="1" dirty="0">
                <a:latin typeface="Times New Roman" panose="02020603050405020304" pitchFamily="18" charset="0"/>
                <a:cs typeface="Times New Roman" panose="02020603050405020304" pitchFamily="18" charset="0"/>
              </a:rPr>
              <a:t>College Name: </a:t>
            </a:r>
            <a:r>
              <a:rPr lang="en-US" dirty="0">
                <a:latin typeface="Times New Roman" panose="02020603050405020304" pitchFamily="18" charset="0"/>
                <a:cs typeface="Times New Roman" panose="02020603050405020304" pitchFamily="18" charset="0"/>
              </a:rPr>
              <a:t>JG University</a:t>
            </a:r>
          </a:p>
          <a:p>
            <a:r>
              <a:rPr lang="en-US" b="1" dirty="0">
                <a:latin typeface="Times New Roman" panose="02020603050405020304" pitchFamily="18" charset="0"/>
                <a:cs typeface="Times New Roman" panose="02020603050405020304" pitchFamily="18" charset="0"/>
              </a:rPr>
              <a:t>Course: </a:t>
            </a:r>
            <a:r>
              <a:rPr lang="en-US" u="sng" dirty="0">
                <a:latin typeface="Times New Roman" panose="02020603050405020304" pitchFamily="18" charset="0"/>
                <a:cs typeface="Times New Roman" panose="02020603050405020304" pitchFamily="18" charset="0"/>
              </a:rPr>
              <a:t>BCA Semester 5</a:t>
            </a:r>
          </a:p>
          <a:p>
            <a:r>
              <a:rPr lang="en-US" b="1" dirty="0">
                <a:latin typeface="Times New Roman" panose="02020603050405020304" pitchFamily="18" charset="0"/>
                <a:cs typeface="Times New Roman" panose="02020603050405020304" pitchFamily="18" charset="0"/>
              </a:rPr>
              <a:t>Class Mentor: </a:t>
            </a:r>
            <a:r>
              <a:rPr lang="en-US" b="1" dirty="0" err="1">
                <a:latin typeface="Times New Roman" panose="02020603050405020304" pitchFamily="18" charset="0"/>
                <a:cs typeface="Times New Roman" panose="02020603050405020304" pitchFamily="18" charset="0"/>
              </a:rPr>
              <a:t>Javani</a:t>
            </a:r>
            <a:r>
              <a:rPr lang="en-US" b="1" dirty="0">
                <a:latin typeface="Times New Roman" panose="02020603050405020304" pitchFamily="18" charset="0"/>
                <a:cs typeface="Times New Roman" panose="02020603050405020304" pitchFamily="18" charset="0"/>
              </a:rPr>
              <a:t> Shah</a:t>
            </a:r>
          </a:p>
          <a:p>
            <a:pPr marL="0" indent="0" algn="ctr">
              <a:buNone/>
            </a:pPr>
            <a:r>
              <a:rPr lang="en-US" b="1" dirty="0">
                <a:latin typeface="Times New Roman" panose="02020603050405020304" pitchFamily="18" charset="0"/>
                <a:cs typeface="Times New Roman" panose="02020603050405020304" pitchFamily="18" charset="0"/>
              </a:rPr>
              <a:t> Designed by</a:t>
            </a:r>
            <a:r>
              <a:rPr lang="en-US" dirty="0">
                <a:latin typeface="Times New Roman" panose="02020603050405020304" pitchFamily="18" charset="0"/>
                <a:cs typeface="Times New Roman" panose="02020603050405020304" pitchFamily="18" charset="0"/>
              </a:rPr>
              <a:t>:</a:t>
            </a:r>
          </a:p>
          <a:p>
            <a:pPr marL="0" indent="0" algn="ctr">
              <a:buNone/>
            </a:pPr>
            <a:r>
              <a:rPr lang="en-US" dirty="0">
                <a:latin typeface="Times New Roman" panose="02020603050405020304" pitchFamily="18" charset="0"/>
                <a:cs typeface="Times New Roman" panose="02020603050405020304" pitchFamily="18" charset="0"/>
              </a:rPr>
              <a:t>                                                                                                    1. </a:t>
            </a:r>
            <a:r>
              <a:rPr lang="en-US" dirty="0" err="1">
                <a:latin typeface="Times New Roman" panose="02020603050405020304" pitchFamily="18" charset="0"/>
                <a:cs typeface="Times New Roman" panose="02020603050405020304" pitchFamily="18" charset="0"/>
              </a:rPr>
              <a:t>Jeet</a:t>
            </a:r>
            <a:r>
              <a:rPr lang="en-US" dirty="0">
                <a:latin typeface="Times New Roman" panose="02020603050405020304" pitchFamily="18" charset="0"/>
                <a:cs typeface="Times New Roman" panose="02020603050405020304" pitchFamily="18" charset="0"/>
              </a:rPr>
              <a:t> Gandhi (1017)</a:t>
            </a:r>
          </a:p>
          <a:p>
            <a:pPr marL="0" indent="0" algn="ctr">
              <a:buNone/>
            </a:pPr>
            <a:r>
              <a:rPr lang="en-US" dirty="0">
                <a:latin typeface="Times New Roman" panose="02020603050405020304" pitchFamily="18" charset="0"/>
                <a:cs typeface="Times New Roman" panose="02020603050405020304" pitchFamily="18" charset="0"/>
              </a:rPr>
              <a:t>                                                                                                  2. </a:t>
            </a:r>
            <a:r>
              <a:rPr lang="en-US" dirty="0" err="1">
                <a:latin typeface="Times New Roman" panose="02020603050405020304" pitchFamily="18" charset="0"/>
                <a:cs typeface="Times New Roman" panose="02020603050405020304" pitchFamily="18" charset="0"/>
              </a:rPr>
              <a:t>Divy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Rawal</a:t>
            </a:r>
            <a:r>
              <a:rPr lang="en-US" dirty="0">
                <a:latin typeface="Times New Roman" panose="02020603050405020304" pitchFamily="18" charset="0"/>
                <a:cs typeface="Times New Roman" panose="02020603050405020304" pitchFamily="18" charset="0"/>
              </a:rPr>
              <a:t> (1052)</a:t>
            </a:r>
          </a:p>
          <a:p>
            <a:pPr marL="0" indent="0" algn="ctr">
              <a:buNone/>
            </a:pPr>
            <a:r>
              <a:rPr lang="en-US" dirty="0">
                <a:latin typeface="Times New Roman" panose="02020603050405020304" pitchFamily="18" charset="0"/>
                <a:cs typeface="Times New Roman" panose="02020603050405020304" pitchFamily="18" charset="0"/>
              </a:rPr>
              <a:t>                                                                                                       3.Prince </a:t>
            </a:r>
            <a:r>
              <a:rPr lang="en-US" dirty="0" err="1">
                <a:latin typeface="Times New Roman" panose="02020603050405020304" pitchFamily="18" charset="0"/>
                <a:cs typeface="Times New Roman" panose="02020603050405020304" pitchFamily="18" charset="0"/>
              </a:rPr>
              <a:t>Savaliya</a:t>
            </a:r>
            <a:r>
              <a:rPr lang="en-US" dirty="0">
                <a:latin typeface="Times New Roman" panose="02020603050405020304" pitchFamily="18" charset="0"/>
                <a:cs typeface="Times New Roman" panose="02020603050405020304" pitchFamily="18" charset="0"/>
              </a:rPr>
              <a:t> (1061)</a:t>
            </a:r>
          </a:p>
          <a:p>
            <a:pPr marL="0" indent="0" algn="ctr">
              <a:buNone/>
            </a:pPr>
            <a:r>
              <a:rPr lang="en-US" dirty="0">
                <a:latin typeface="Times New Roman" panose="02020603050405020304" pitchFamily="18" charset="0"/>
                <a:cs typeface="Times New Roman" panose="02020603050405020304" pitchFamily="18" charset="0"/>
              </a:rPr>
              <a:t>                                                                                                    4. </a:t>
            </a:r>
            <a:r>
              <a:rPr lang="en-US" dirty="0" err="1">
                <a:latin typeface="Times New Roman" panose="02020603050405020304" pitchFamily="18" charset="0"/>
                <a:cs typeface="Times New Roman" panose="02020603050405020304" pitchFamily="18" charset="0"/>
              </a:rPr>
              <a:t>Kavya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Sevak</a:t>
            </a:r>
            <a:r>
              <a:rPr lang="en-US" dirty="0">
                <a:latin typeface="Times New Roman" panose="02020603050405020304" pitchFamily="18" charset="0"/>
                <a:cs typeface="Times New Roman" panose="02020603050405020304" pitchFamily="18" charset="0"/>
              </a:rPr>
              <a:t> (1062)</a:t>
            </a:r>
          </a:p>
          <a:p>
            <a:pPr marL="0" indent="0" algn="ctr">
              <a:buNone/>
            </a:pPr>
            <a:r>
              <a:rPr lang="en-US" dirty="0">
                <a:latin typeface="Times New Roman" panose="02020603050405020304" pitchFamily="18" charset="0"/>
                <a:cs typeface="Times New Roman" panose="02020603050405020304" pitchFamily="18" charset="0"/>
              </a:rPr>
              <a:t>                                                                                                     5. </a:t>
            </a:r>
            <a:r>
              <a:rPr lang="en-US" dirty="0" err="1">
                <a:latin typeface="Times New Roman" panose="02020603050405020304" pitchFamily="18" charset="0"/>
                <a:cs typeface="Times New Roman" panose="02020603050405020304" pitchFamily="18" charset="0"/>
              </a:rPr>
              <a:t>Saiyam</a:t>
            </a:r>
            <a:r>
              <a:rPr lang="en-US" dirty="0">
                <a:latin typeface="Times New Roman" panose="02020603050405020304" pitchFamily="18" charset="0"/>
                <a:cs typeface="Times New Roman" panose="02020603050405020304" pitchFamily="18" charset="0"/>
              </a:rPr>
              <a:t> Shah (1064)</a:t>
            </a:r>
          </a:p>
        </p:txBody>
      </p:sp>
      <p:sp>
        <p:nvSpPr>
          <p:cNvPr id="6" name="Slide Number Placeholder 5"/>
          <p:cNvSpPr>
            <a:spLocks noGrp="1"/>
          </p:cNvSpPr>
          <p:nvPr>
            <p:ph type="sldNum" sz="quarter" idx="12"/>
          </p:nvPr>
        </p:nvSpPr>
        <p:spPr/>
        <p:txBody>
          <a:bodyPr/>
          <a:lstStyle/>
          <a:p>
            <a:fld id="{D57F1E4F-1CFF-5643-939E-217C01CDF565}" type="slidenum">
              <a:rPr lang="en-US" smtClean="0"/>
              <a:t>3</a:t>
            </a:fld>
            <a:endParaRPr lang="en-US" dirty="0"/>
          </a:p>
        </p:txBody>
      </p:sp>
      <p:sp>
        <p:nvSpPr>
          <p:cNvPr id="7" name="Date Placeholder 3"/>
          <p:cNvSpPr txBox="1"/>
          <p:nvPr/>
        </p:nvSpPr>
        <p:spPr>
          <a:xfrm>
            <a:off x="2313353" y="4591244"/>
            <a:ext cx="786241" cy="317498"/>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endParaRPr lang="en-US" dirty="0"/>
          </a:p>
        </p:txBody>
      </p:sp>
      <p:sp>
        <p:nvSpPr>
          <p:cNvPr id="10" name="Date Placeholder 3"/>
          <p:cNvSpPr>
            <a:spLocks noGrp="1"/>
          </p:cNvSpPr>
          <p:nvPr>
            <p:ph type="title"/>
          </p:nvPr>
        </p:nvSpPr>
        <p:spPr/>
        <p:txBody>
          <a:bodyPr/>
          <a:lstStyle/>
          <a:p>
            <a:pPr algn="ctr"/>
            <a:r>
              <a:rPr lang="en-US" b="1" dirty="0"/>
              <a:t>INTERNAL PROJECT REPORT</a:t>
            </a:r>
            <a:br>
              <a:rPr lang="en-US" dirty="0"/>
            </a:b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cs typeface="+mj-lt"/>
              </a:rPr>
              <a:t>Project Overview</a:t>
            </a:r>
          </a:p>
        </p:txBody>
      </p:sp>
      <p:sp>
        <p:nvSpPr>
          <p:cNvPr id="3" name="Content Placeholder 2"/>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Title: </a:t>
            </a:r>
            <a:r>
              <a:rPr lang="en-US" dirty="0" err="1">
                <a:latin typeface="Times New Roman" panose="02020603050405020304" pitchFamily="18" charset="0"/>
                <a:cs typeface="Times New Roman" panose="02020603050405020304" pitchFamily="18" charset="0"/>
              </a:rPr>
              <a:t>ConnectFarma</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Tagline: </a:t>
            </a:r>
            <a:r>
              <a:rPr lang="en-US">
                <a:latin typeface="Times New Roman" panose="02020603050405020304" pitchFamily="18" charset="0"/>
                <a:cs typeface="Times New Roman" panose="02020603050405020304" pitchFamily="18" charset="0"/>
              </a:rPr>
              <a:t>Bringing Farms </a:t>
            </a:r>
            <a:r>
              <a:rPr lang="en-US" dirty="0">
                <a:latin typeface="Times New Roman" panose="02020603050405020304" pitchFamily="18" charset="0"/>
                <a:cs typeface="Times New Roman" panose="02020603050405020304" pitchFamily="18" charset="0"/>
              </a:rPr>
              <a:t>to Families.</a:t>
            </a:r>
          </a:p>
          <a:p>
            <a:r>
              <a:rPr lang="en-US" b="1" dirty="0">
                <a:latin typeface="Times New Roman" panose="02020603050405020304" pitchFamily="18" charset="0"/>
                <a:cs typeface="Times New Roman" panose="02020603050405020304" pitchFamily="18" charset="0"/>
              </a:rPr>
              <a:t>Project Type: </a:t>
            </a:r>
            <a:r>
              <a:rPr lang="en-US" dirty="0">
                <a:latin typeface="Times New Roman" panose="02020603050405020304" pitchFamily="18" charset="0"/>
                <a:cs typeface="Times New Roman" panose="02020603050405020304" pitchFamily="18" charset="0"/>
              </a:rPr>
              <a:t>In-House</a:t>
            </a:r>
          </a:p>
          <a:p>
            <a:r>
              <a:rPr lang="en-US" b="1" dirty="0">
                <a:latin typeface="Times New Roman" panose="02020603050405020304" pitchFamily="18" charset="0"/>
                <a:cs typeface="Times New Roman" panose="02020603050405020304" pitchFamily="18" charset="0"/>
              </a:rPr>
              <a:t>Technology Stack: Frontend: </a:t>
            </a:r>
            <a:r>
              <a:rPr lang="en-US" dirty="0">
                <a:latin typeface="Times New Roman" panose="02020603050405020304" pitchFamily="18" charset="0"/>
                <a:cs typeface="Times New Roman" panose="02020603050405020304" pitchFamily="18" charset="0"/>
              </a:rPr>
              <a:t>HTML, CSS, JAVASCRIPT</a:t>
            </a:r>
          </a:p>
          <a:p>
            <a:pPr marL="0" indent="0">
              <a:buNone/>
            </a:pPr>
            <a:r>
              <a:rPr lang="en-US" b="1" dirty="0">
                <a:latin typeface="Times New Roman" panose="02020603050405020304" pitchFamily="18" charset="0"/>
                <a:cs typeface="Times New Roman" panose="02020603050405020304" pitchFamily="18" charset="0"/>
              </a:rPr>
              <a:t>      	                               Backend</a:t>
            </a:r>
            <a:r>
              <a:rPr lang="en-US" dirty="0">
                <a:latin typeface="Times New Roman" panose="02020603050405020304" pitchFamily="18" charset="0"/>
                <a:cs typeface="Times New Roman" panose="02020603050405020304" pitchFamily="18" charset="0"/>
              </a:rPr>
              <a:t>: PHP/Python </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Database</a:t>
            </a:r>
            <a:r>
              <a:rPr lang="en-US" dirty="0">
                <a:latin typeface="Times New Roman" panose="02020603050405020304" pitchFamily="18" charset="0"/>
                <a:cs typeface="Times New Roman" panose="02020603050405020304" pitchFamily="18" charset="0"/>
              </a:rPr>
              <a:t>: MySQL</a:t>
            </a:r>
          </a:p>
          <a:p>
            <a:pPr marL="0" indent="0">
              <a:buNone/>
            </a:pPr>
            <a:endParaRPr lang="en-US"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ym typeface="+mn-ea"/>
              </a:rPr>
              <a:t>Tools and Technologies</a:t>
            </a:r>
            <a:endParaRPr lang="en-US" altLang="en-GB"/>
          </a:p>
        </p:txBody>
      </p:sp>
      <p:sp>
        <p:nvSpPr>
          <p:cNvPr id="6" name="Slide Number Placeholder 5"/>
          <p:cNvSpPr>
            <a:spLocks noGrp="1"/>
          </p:cNvSpPr>
          <p:nvPr>
            <p:ph type="sldNum" sz="quarter" idx="12"/>
          </p:nvPr>
        </p:nvSpPr>
        <p:spPr/>
        <p:txBody>
          <a:bodyPr/>
          <a:lstStyle/>
          <a:p>
            <a:fld id="{D57F1E4F-1CFF-5643-939E-217C01CDF565}" type="slidenum">
              <a:rPr lang="en-US" dirty="0"/>
              <a:t>5</a:t>
            </a:fld>
            <a:endParaRPr lang="en-US" dirty="0"/>
          </a:p>
        </p:txBody>
      </p:sp>
      <p:sp>
        <p:nvSpPr>
          <p:cNvPr id="9" name="Text Box 8"/>
          <p:cNvSpPr txBox="1"/>
          <p:nvPr/>
        </p:nvSpPr>
        <p:spPr>
          <a:xfrm>
            <a:off x="565785" y="1930400"/>
            <a:ext cx="8708390" cy="3700145"/>
          </a:xfrm>
          <a:prstGeom prst="rect">
            <a:avLst/>
          </a:prstGeom>
          <a:noFill/>
        </p:spPr>
        <p:txBody>
          <a:bodyPr wrap="square" rtlCol="0">
            <a:noAutofit/>
          </a:bodyPr>
          <a:lstStyle/>
          <a:p>
            <a:r>
              <a:rPr lang="en-US"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1.</a:t>
            </a: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 HTML (Hyper Text Markup Language)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 Used for creating the structure of the </a:t>
            </a:r>
            <a:r>
              <a:rPr lang="en-US" sz="1600" dirty="0" err="1">
                <a:solidFill>
                  <a:schemeClr val="tx1">
                    <a:lumMod val="95000"/>
                    <a:lumOff val="5000"/>
                  </a:schemeClr>
                </a:solidFill>
                <a:latin typeface="Times New Roman" panose="02020603050405020304" pitchFamily="18" charset="0"/>
                <a:cs typeface="Times New Roman" panose="02020603050405020304" pitchFamily="18" charset="0"/>
                <a:sym typeface="+mn-ea"/>
              </a:rPr>
              <a:t>ConnectFarma</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 web platform.</a:t>
            </a:r>
          </a:p>
          <a:p>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2. </a:t>
            </a: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CSS (Cascading Style Sheets)</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 :-Applied to design and style the user interface for a clean and user-friendly experience.</a:t>
            </a:r>
          </a:p>
          <a:p>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3.</a:t>
            </a: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 JavaScript (JS)</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 :- Implemented to add interactivity and dynamic features, enhancing the overall functionality of the platform.</a:t>
            </a:r>
          </a:p>
          <a:p>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4. </a:t>
            </a: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Python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Used for backend development, handling business logic, and managing data processing.</a:t>
            </a:r>
          </a:p>
          <a:p>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5.</a:t>
            </a:r>
            <a:r>
              <a:rPr lang="en-US" sz="16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 Database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sym typeface="+mn-ea"/>
              </a:rPr>
              <a:t> Implemented to securely store and manage information related to products, customers, orders, and transactions.</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GB" altLang="en-US"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cs typeface="+mj-lt"/>
              </a:rPr>
              <a:t>About Us:</a:t>
            </a:r>
            <a:endParaRPr lang="en-IN" b="1" dirty="0">
              <a:cs typeface="+mj-lt"/>
            </a:endParaRPr>
          </a:p>
        </p:txBody>
      </p:sp>
      <p:sp>
        <p:nvSpPr>
          <p:cNvPr id="3" name="Content Placeholder 2"/>
          <p:cNvSpPr>
            <a:spLocks noGrp="1"/>
          </p:cNvSpPr>
          <p:nvPr>
            <p:ph idx="1"/>
          </p:nvPr>
        </p:nvSpPr>
        <p:spPr>
          <a:xfrm>
            <a:off x="677545" y="1762125"/>
            <a:ext cx="8596630" cy="3388360"/>
          </a:xfrm>
        </p:spPr>
        <p:txBody>
          <a:bodyPr>
            <a:normAutofit/>
          </a:bodyPr>
          <a:lstStyle/>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1. Who We Are: </a:t>
            </a:r>
            <a:r>
              <a:rPr lang="en-US" sz="1600" dirty="0" err="1">
                <a:solidFill>
                  <a:schemeClr val="tx1">
                    <a:lumMod val="95000"/>
                    <a:lumOff val="5000"/>
                  </a:schemeClr>
                </a:solidFill>
                <a:latin typeface="Times New Roman" panose="02020603050405020304" pitchFamily="18" charset="0"/>
                <a:cs typeface="Times New Roman" panose="02020603050405020304" pitchFamily="18" charset="0"/>
              </a:rPr>
              <a:t>ConnectFarma</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is a digital e-commerce platform that directly connects farmers with consumers.</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.2. Our Vision :To ensure 100% fresh, hygienic, and affordable produce reaches every home.</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3. Our Mission :Empower farmers with the right value for their produce. Provide customers with quality and timely deliveries on a daily basis.</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4. What We Offer: Subscription-based delivery: Daily or weekly as per your preference.</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5. Why Choose Us: Direct farmer-to-consumer connection. Fresh and quality-checked products.</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6. Our Values Trust - Building reliable relationships with both farmers and customers.</a:t>
            </a:r>
          </a:p>
        </p:txBody>
      </p:sp>
      <p:sp>
        <p:nvSpPr>
          <p:cNvPr id="6" name="Slide Number Placeholder 5"/>
          <p:cNvSpPr>
            <a:spLocks noGrp="1"/>
          </p:cNvSpPr>
          <p:nvPr>
            <p:ph type="sldNum" sz="quarter" idx="12"/>
          </p:nvPr>
        </p:nvSpPr>
        <p:spPr/>
        <p:txBody>
          <a:bodyPr/>
          <a:lstStyle/>
          <a:p>
            <a:fld id="{D57F1E4F-1CFF-5643-939E-217C01CDF565}" type="slidenum">
              <a:rPr lang="en-US" smtClean="0"/>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79396"/>
            <a:ext cx="8141888" cy="951548"/>
          </a:xfrm>
        </p:spPr>
        <p:txBody>
          <a:bodyPr>
            <a:normAutofit fontScale="90000"/>
          </a:bodyPr>
          <a:lstStyle/>
          <a:p>
            <a:pPr algn="ctr"/>
            <a:r>
              <a:rPr lang="en-US" sz="4000" b="1" dirty="0">
                <a:cs typeface="+mj-lt"/>
              </a:rPr>
              <a:t>Scope </a:t>
            </a:r>
            <a:br>
              <a:rPr lang="en-IN" dirty="0"/>
            </a:br>
            <a:endParaRPr lang="en-IN" dirty="0"/>
          </a:p>
        </p:txBody>
      </p:sp>
      <p:sp>
        <p:nvSpPr>
          <p:cNvPr id="3" name="Content Placeholder 2"/>
          <p:cNvSpPr>
            <a:spLocks noGrp="1"/>
          </p:cNvSpPr>
          <p:nvPr>
            <p:ph idx="1"/>
          </p:nvPr>
        </p:nvSpPr>
        <p:spPr>
          <a:xfrm>
            <a:off x="533400" y="1438937"/>
            <a:ext cx="8740602" cy="4967549"/>
          </a:xfrm>
        </p:spPr>
        <p:txBody>
          <a:bodyPr>
            <a:normAutofit/>
          </a:bodyPr>
          <a:lstStyle/>
          <a:p>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1. Seamless e-commerce platform Dedicated to the daily supply of fresh fruits and vegetables.</a:t>
            </a:r>
          </a:p>
          <a:p>
            <a:pPr marL="800100" lvl="1" indent="-342900">
              <a:buFont typeface="+mj-lt"/>
              <a:buAutoNum type="alphaLcParenR"/>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   Inspired by the “Milk Basket” model.</a:t>
            </a:r>
          </a:p>
          <a:p>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2. Convenient doorstep delivery Customers can receive fresh produce daily.</a:t>
            </a:r>
          </a:p>
          <a:p>
            <a:pPr lvl="1">
              <a:buFont typeface="+mj-lt"/>
              <a:buAutoNum type="alphaLcParenR"/>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    Flexible options for scheduled deliveries.</a:t>
            </a:r>
          </a:p>
          <a:p>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3. Key features Subscription-based services.</a:t>
            </a:r>
          </a:p>
          <a:p>
            <a:pPr lvl="1">
              <a:buFont typeface="+mj-lt"/>
              <a:buAutoNum type="alphaLcParenR"/>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    Flexible delivery slots.</a:t>
            </a:r>
          </a:p>
          <a:p>
            <a:pPr lvl="1">
              <a:buFont typeface="+mj-lt"/>
              <a:buAutoNum type="alphaLcParenR"/>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    User-friendly online ordering system.</a:t>
            </a:r>
          </a:p>
          <a:p>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4. Farmer–consumer direct connect Eliminates middlemen.</a:t>
            </a:r>
          </a:p>
          <a:p>
            <a:pPr lvl="1">
              <a:buFont typeface="+mj-lt"/>
              <a:buAutoNum type="alphaLcParenR"/>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    Ensures better earnings for farmers.</a:t>
            </a:r>
          </a:p>
          <a:p>
            <a:pPr lvl="1">
              <a:buFont typeface="+mj-lt"/>
              <a:buAutoNum type="alphaLcParenR"/>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    Promotes fair pricing and reduced wastage.</a:t>
            </a:r>
          </a:p>
          <a:p>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5. Long-term scope Expansion into other daily essentials.</a:t>
            </a:r>
          </a:p>
          <a:p>
            <a:pPr lvl="1">
              <a:buFont typeface="+mj-lt"/>
              <a:buAutoNum type="alphaLcParenR"/>
            </a:pPr>
            <a:r>
              <a:rPr lang="en-IN" sz="1600" dirty="0">
                <a:solidFill>
                  <a:schemeClr val="tx1">
                    <a:lumMod val="95000"/>
                    <a:lumOff val="5000"/>
                  </a:schemeClr>
                </a:solidFill>
                <a:latin typeface="Times New Roman" panose="02020603050405020304" pitchFamily="18" charset="0"/>
                <a:cs typeface="Times New Roman" panose="02020603050405020304" pitchFamily="18" charset="0"/>
              </a:rPr>
              <a:t>    Strengthening market reach and customer base.</a:t>
            </a:r>
          </a:p>
          <a:p>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t>7</a:t>
            </a:fld>
            <a:endParaRPr lang="en-US" dirty="0"/>
          </a:p>
        </p:txBody>
      </p:sp>
      <p:sp>
        <p:nvSpPr>
          <p:cNvPr id="9" name="Title 1"/>
          <p:cNvSpPr txBox="1"/>
          <p:nvPr/>
        </p:nvSpPr>
        <p:spPr>
          <a:xfrm>
            <a:off x="3243157" y="2360956"/>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cs typeface="+mj-lt"/>
              </a:rPr>
              <a:t>Objectives</a:t>
            </a:r>
          </a:p>
        </p:txBody>
      </p:sp>
      <p:sp>
        <p:nvSpPr>
          <p:cNvPr id="3" name="Content Placeholder 2"/>
          <p:cNvSpPr>
            <a:spLocks noGrp="1"/>
          </p:cNvSpPr>
          <p:nvPr>
            <p:ph idx="1"/>
          </p:nvPr>
        </p:nvSpPr>
        <p:spPr>
          <a:xfrm>
            <a:off x="677334" y="1762268"/>
            <a:ext cx="8596668" cy="3880773"/>
          </a:xfrm>
        </p:spPr>
        <p:txBody>
          <a:bodyPr/>
          <a:lstStyle/>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1. Direct Farmer-to-Consumer Connection – Eliminate middlemen and create a link between farmers and consumers, ensuring fair prices for both sides.</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2. Fair Pricing and Transparency – Provide genuine and transparent pricing so that farmers earn more and customers save money.</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3. Freshness and Quality – Deliver fresh, healthy, and high-quality fruits and vegetables directly from farms to homes.</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4. Convenience in Shopping – Offer a simple, user-friendly online platform with doorstep delivery to save customers’ time and effort.</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5. Sustainability – Encourage eco-friendly practices like minimal packaging and reduced food wastage to promote a greener future.</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57F1E4F-1CFF-5643-939E-217C01CDF565}" type="slidenum">
              <a:rPr lang="en-US" smtClean="0"/>
              <a:t>9</a:t>
            </a:fld>
            <a:endParaRPr lang="en-US" dirty="0"/>
          </a:p>
        </p:txBody>
      </p:sp>
      <p:sp>
        <p:nvSpPr>
          <p:cNvPr id="7" name="Date Placeholder 3"/>
          <p:cNvSpPr>
            <a:spLocks noGrp="1"/>
          </p:cNvSpPr>
          <p:nvPr>
            <p:ph type="title"/>
          </p:nvPr>
        </p:nvSpPr>
        <p:spPr>
          <a:xfrm>
            <a:off x="908685" y="2802255"/>
            <a:ext cx="8596630" cy="626745"/>
          </a:xfrm>
        </p:spPr>
        <p:txBody>
          <a:bodyPr>
            <a:normAutofit fontScale="90000"/>
          </a:bodyPr>
          <a:lstStyle/>
          <a:p>
            <a:pPr algn="ctr"/>
            <a:r>
              <a:rPr lang="en-US" b="1" dirty="0"/>
              <a:t>Project </a:t>
            </a:r>
            <a:r>
              <a:rPr lang="en-US" sz="4000" b="1" dirty="0"/>
              <a:t>Proposal </a:t>
            </a:r>
            <a:r>
              <a:rPr lang="en-US" b="1" dirty="0"/>
              <a:t>&amp; Planning</a:t>
            </a:r>
            <a:br>
              <a:rPr lang="en-US" b="1" dirty="0"/>
            </a:br>
            <a:endParaRPr lang="en-U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545" y="1323975"/>
            <a:ext cx="9357360" cy="4813935"/>
          </a:xfrm>
        </p:spPr>
        <p:txBody>
          <a:bodyPr>
            <a:normAutofit/>
          </a:bodyPr>
          <a:lstStyle/>
          <a:p>
            <a:pPr marL="0" lvl="0" indent="0">
              <a:buNone/>
            </a:pPr>
            <a:r>
              <a:rPr lang="en-US" sz="1600" b="1" dirty="0">
                <a:latin typeface="Times New Roman" panose="02020603050405020304" pitchFamily="18" charset="0"/>
                <a:cs typeface="Times New Roman" panose="02020603050405020304" pitchFamily="18" charset="0"/>
              </a:rPr>
              <a:t>1.Project Title</a:t>
            </a:r>
            <a:r>
              <a:rPr lang="en-US" sz="1600" dirty="0">
                <a:latin typeface="Times New Roman" panose="02020603050405020304" pitchFamily="18" charset="0"/>
                <a:cs typeface="Times New Roman" panose="02020603050405020304" pitchFamily="18" charset="0"/>
              </a:rPr>
              <a:t>:</a:t>
            </a:r>
          </a:p>
          <a:p>
            <a:pPr marL="0" indent="0">
              <a:buNone/>
            </a:pPr>
            <a:r>
              <a:rPr lang="en-US" sz="1400" dirty="0">
                <a:latin typeface="Times New Roman" panose="02020603050405020304" pitchFamily="18" charset="0"/>
                <a:cs typeface="Times New Roman" panose="02020603050405020304" pitchFamily="18" charset="0"/>
              </a:rPr>
              <a:t>           </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1600" dirty="0" err="1">
                <a:solidFill>
                  <a:schemeClr val="tx1">
                    <a:lumMod val="95000"/>
                    <a:lumOff val="5000"/>
                  </a:schemeClr>
                </a:solidFill>
                <a:latin typeface="Times New Roman" panose="02020603050405020304" pitchFamily="18" charset="0"/>
                <a:cs typeface="Times New Roman" panose="02020603050405020304" pitchFamily="18" charset="0"/>
              </a:rPr>
              <a:t>ConnectFarma</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 A Local Farmers Market Website</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2. Problem Statement:</a:t>
            </a:r>
          </a:p>
          <a:p>
            <a:pPr marL="457200" lvl="1" indent="0">
              <a:buNone/>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a) Farmers face challenges in connecting directly with urban consumers due to the lack of digital platforms. This allows middlemen to take advantage, increasing their profits and selling products to consumers at a higher price. There is a need for a transparent, user-friendly platform to bridge this gap and facilitate direct transactions.</a:t>
            </a:r>
          </a:p>
          <a:p>
            <a:pPr marL="457200" lvl="1"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3. Existing System and Limitations:</a:t>
            </a:r>
          </a:p>
          <a:p>
            <a:pPr marL="457200" lvl="1" indent="0">
              <a:buNone/>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a) Offline Markets: Time-bound, location-specific, and lack reach.</a:t>
            </a:r>
          </a:p>
          <a:p>
            <a:pPr marL="457200" lvl="1" indent="0">
              <a:buNone/>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b) Existing Apps: Target large-scale agriculture or wholesalers, not local farmers.</a:t>
            </a:r>
          </a:p>
          <a:p>
            <a:pPr marL="457200" lvl="1" indent="0">
              <a:buNone/>
            </a:pPr>
            <a:endParaRPr lang="en-US" sz="1400" b="1" dirty="0">
              <a:latin typeface="Times New Roman" panose="02020603050405020304" pitchFamily="18" charset="0"/>
              <a:cs typeface="Times New Roman" panose="02020603050405020304" pitchFamily="18" charset="0"/>
            </a:endParaRP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r>
              <a:rPr lang="en-US" dirty="0"/>
              <a:t>11</a:t>
            </a:r>
          </a:p>
        </p:txBody>
      </p:sp>
      <p:sp>
        <p:nvSpPr>
          <p:cNvPr id="7" name="Footer Placeholder 4"/>
          <p:cNvSpPr>
            <a:spLocks noGrp="1"/>
          </p:cNvSpPr>
          <p:nvPr>
            <p:ph idx="1"/>
          </p:nvPr>
        </p:nvSpPr>
        <p:spPr>
          <a:xfrm>
            <a:off x="642620" y="2001520"/>
            <a:ext cx="8631555" cy="3615055"/>
          </a:xfrm>
        </p:spPr>
        <p:txBody>
          <a:bodyPr>
            <a:normAutofit fontScale="25000" lnSpcReduction="20000"/>
          </a:bodyPr>
          <a:lstStyle/>
          <a:p>
            <a:pPr marL="0" indent="0">
              <a:buNone/>
            </a:pPr>
            <a:r>
              <a:rPr lang="en-US" sz="6400" dirty="0">
                <a:solidFill>
                  <a:schemeClr val="tx1">
                    <a:lumMod val="95000"/>
                    <a:lumOff val="5000"/>
                  </a:schemeClr>
                </a:solidFill>
                <a:latin typeface="Times New Roman" panose="02020603050405020304" pitchFamily="18" charset="0"/>
                <a:cs typeface="Times New Roman" panose="02020603050405020304" pitchFamily="18" charset="0"/>
                <a:sym typeface="+mn-ea"/>
              </a:rPr>
              <a:t>Current System</a:t>
            </a:r>
            <a:endParaRPr lang="en-US" sz="64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buNone/>
            </a:pPr>
            <a:r>
              <a:rPr lang="en-US" sz="6400" dirty="0">
                <a:solidFill>
                  <a:schemeClr val="tx1">
                    <a:lumMod val="95000"/>
                    <a:lumOff val="5000"/>
                  </a:schemeClr>
                </a:solidFill>
                <a:latin typeface="Times New Roman" panose="02020603050405020304" pitchFamily="18" charset="0"/>
                <a:cs typeface="Times New Roman" panose="02020603050405020304" pitchFamily="18" charset="0"/>
                <a:sym typeface="+mn-ea"/>
              </a:rPr>
              <a:t>At present, popular platforms like </a:t>
            </a:r>
            <a:r>
              <a:rPr lang="en-US" sz="6400" dirty="0" err="1">
                <a:solidFill>
                  <a:schemeClr val="tx1">
                    <a:lumMod val="95000"/>
                    <a:lumOff val="5000"/>
                  </a:schemeClr>
                </a:solidFill>
                <a:latin typeface="Times New Roman" panose="02020603050405020304" pitchFamily="18" charset="0"/>
                <a:cs typeface="Times New Roman" panose="02020603050405020304" pitchFamily="18" charset="0"/>
                <a:sym typeface="+mn-ea"/>
              </a:rPr>
              <a:t>Blinkit</a:t>
            </a:r>
            <a:r>
              <a:rPr lang="en-US" sz="6400"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r>
              <a:rPr lang="en-US" sz="6400" dirty="0" err="1">
                <a:solidFill>
                  <a:schemeClr val="tx1">
                    <a:lumMod val="95000"/>
                    <a:lumOff val="5000"/>
                  </a:schemeClr>
                </a:solidFill>
                <a:latin typeface="Times New Roman" panose="02020603050405020304" pitchFamily="18" charset="0"/>
                <a:cs typeface="Times New Roman" panose="02020603050405020304" pitchFamily="18" charset="0"/>
                <a:sym typeface="+mn-ea"/>
              </a:rPr>
              <a:t>Zepto</a:t>
            </a:r>
            <a:r>
              <a:rPr lang="en-US" sz="6400" dirty="0">
                <a:solidFill>
                  <a:schemeClr val="tx1">
                    <a:lumMod val="95000"/>
                    <a:lumOff val="5000"/>
                  </a:schemeClr>
                </a:solidFill>
                <a:latin typeface="Times New Roman" panose="02020603050405020304" pitchFamily="18" charset="0"/>
                <a:cs typeface="Times New Roman" panose="02020603050405020304" pitchFamily="18" charset="0"/>
                <a:sym typeface="+mn-ea"/>
              </a:rPr>
              <a:t>, and </a:t>
            </a:r>
            <a:r>
              <a:rPr lang="en-US" sz="6400" dirty="0" err="1">
                <a:solidFill>
                  <a:schemeClr val="tx1">
                    <a:lumMod val="95000"/>
                    <a:lumOff val="5000"/>
                  </a:schemeClr>
                </a:solidFill>
                <a:latin typeface="Times New Roman" panose="02020603050405020304" pitchFamily="18" charset="0"/>
                <a:cs typeface="Times New Roman" panose="02020603050405020304" pitchFamily="18" charset="0"/>
                <a:sym typeface="+mn-ea"/>
              </a:rPr>
              <a:t>BigBasket</a:t>
            </a:r>
            <a:r>
              <a:rPr lang="en-US" sz="6400" dirty="0">
                <a:solidFill>
                  <a:schemeClr val="tx1">
                    <a:lumMod val="95000"/>
                    <a:lumOff val="5000"/>
                  </a:schemeClr>
                </a:solidFill>
                <a:latin typeface="Times New Roman" panose="02020603050405020304" pitchFamily="18" charset="0"/>
                <a:cs typeface="Times New Roman" panose="02020603050405020304" pitchFamily="18" charset="0"/>
                <a:sym typeface="+mn-ea"/>
              </a:rPr>
              <a:t> are widely used for the delivery of fruits and vegetables. However, these platforms face several limitations:</a:t>
            </a:r>
            <a:endParaRPr lang="en-US" sz="64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buNone/>
            </a:pPr>
            <a:r>
              <a:rPr lang="en-US" sz="6400" dirty="0">
                <a:solidFill>
                  <a:schemeClr val="tx1">
                    <a:lumMod val="95000"/>
                    <a:lumOff val="5000"/>
                  </a:schemeClr>
                </a:solidFill>
                <a:latin typeface="Times New Roman" panose="02020603050405020304" pitchFamily="18" charset="0"/>
                <a:cs typeface="Times New Roman" panose="02020603050405020304" pitchFamily="18" charset="0"/>
                <a:sym typeface="+mn-ea"/>
              </a:rPr>
              <a:t>1. </a:t>
            </a:r>
            <a:r>
              <a:rPr lang="en-US" sz="64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Higher Pricing</a:t>
            </a:r>
            <a:r>
              <a:rPr lang="en-US" sz="6400"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p>
          <a:p>
            <a:pPr marL="0" indent="0">
              <a:buNone/>
            </a:pPr>
            <a:r>
              <a:rPr lang="en-US" sz="6400" dirty="0">
                <a:solidFill>
                  <a:schemeClr val="tx1">
                    <a:lumMod val="95000"/>
                    <a:lumOff val="5000"/>
                  </a:schemeClr>
                </a:solidFill>
                <a:latin typeface="Times New Roman" panose="02020603050405020304" pitchFamily="18" charset="0"/>
                <a:cs typeface="Times New Roman" panose="02020603050405020304" pitchFamily="18" charset="0"/>
                <a:sym typeface="+mn-ea"/>
              </a:rPr>
              <a:t>      Due to multiple intermediaries, customers often pay more than the actual farm value.</a:t>
            </a:r>
            <a:endParaRPr lang="en-US" sz="64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buNone/>
            </a:pPr>
            <a:r>
              <a:rPr lang="en-US" sz="6400" dirty="0">
                <a:solidFill>
                  <a:schemeClr val="tx1">
                    <a:lumMod val="95000"/>
                    <a:lumOff val="5000"/>
                  </a:schemeClr>
                </a:solidFill>
                <a:latin typeface="Times New Roman" panose="02020603050405020304" pitchFamily="18" charset="0"/>
                <a:cs typeface="Times New Roman" panose="02020603050405020304" pitchFamily="18" charset="0"/>
                <a:sym typeface="+mn-ea"/>
              </a:rPr>
              <a:t>2. </a:t>
            </a:r>
            <a:r>
              <a:rPr lang="en-US" sz="64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Middlemen Involvement:-</a:t>
            </a:r>
          </a:p>
          <a:p>
            <a:pPr marL="0" indent="0">
              <a:buNone/>
            </a:pPr>
            <a:r>
              <a:rPr lang="en-US" sz="64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r>
              <a:rPr lang="en-US" sz="6400" dirty="0">
                <a:solidFill>
                  <a:schemeClr val="tx1">
                    <a:lumMod val="95000"/>
                    <a:lumOff val="5000"/>
                  </a:schemeClr>
                </a:solidFill>
                <a:latin typeface="Times New Roman" panose="02020603050405020304" pitchFamily="18" charset="0"/>
                <a:cs typeface="Times New Roman" panose="02020603050405020304" pitchFamily="18" charset="0"/>
                <a:sym typeface="+mn-ea"/>
              </a:rPr>
              <a:t> Farmers do not get fair earnings, as a significant share goes to middlemen.</a:t>
            </a:r>
            <a:endParaRPr lang="en-US" sz="64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buNone/>
            </a:pPr>
            <a:r>
              <a:rPr lang="en-US" sz="6400" dirty="0">
                <a:solidFill>
                  <a:schemeClr val="tx1">
                    <a:lumMod val="95000"/>
                    <a:lumOff val="5000"/>
                  </a:schemeClr>
                </a:solidFill>
                <a:latin typeface="Times New Roman" panose="02020603050405020304" pitchFamily="18" charset="0"/>
                <a:cs typeface="Times New Roman" panose="02020603050405020304" pitchFamily="18" charset="0"/>
                <a:sym typeface="+mn-ea"/>
              </a:rPr>
              <a:t>3. </a:t>
            </a:r>
            <a:r>
              <a:rPr lang="en-US" sz="64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Quality Issues:-</a:t>
            </a:r>
            <a:r>
              <a:rPr lang="en-US" sz="6400"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p>
          <a:p>
            <a:pPr marL="0" indent="0">
              <a:buNone/>
            </a:pPr>
            <a:r>
              <a:rPr lang="en-US" sz="6400" dirty="0">
                <a:solidFill>
                  <a:schemeClr val="tx1">
                    <a:lumMod val="95000"/>
                    <a:lumOff val="5000"/>
                  </a:schemeClr>
                </a:solidFill>
                <a:latin typeface="Times New Roman" panose="02020603050405020304" pitchFamily="18" charset="0"/>
                <a:cs typeface="Times New Roman" panose="02020603050405020304" pitchFamily="18" charset="0"/>
                <a:sym typeface="+mn-ea"/>
              </a:rPr>
              <a:t>      Customers sometimes receive overripe, stale, or low-quality produce.</a:t>
            </a:r>
            <a:endParaRPr lang="en-US" sz="64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buNone/>
            </a:pPr>
            <a:r>
              <a:rPr lang="en-US" sz="6400" dirty="0">
                <a:solidFill>
                  <a:schemeClr val="tx1">
                    <a:lumMod val="95000"/>
                    <a:lumOff val="5000"/>
                  </a:schemeClr>
                </a:solidFill>
                <a:latin typeface="Times New Roman" panose="02020603050405020304" pitchFamily="18" charset="0"/>
                <a:cs typeface="Times New Roman" panose="02020603050405020304" pitchFamily="18" charset="0"/>
                <a:sym typeface="+mn-ea"/>
              </a:rPr>
              <a:t>4. </a:t>
            </a:r>
            <a:r>
              <a:rPr lang="en-US" sz="64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Limited Freshness Guarantee:- </a:t>
            </a:r>
          </a:p>
          <a:p>
            <a:pPr marL="0" indent="0">
              <a:buNone/>
            </a:pPr>
            <a:r>
              <a:rPr lang="en-US" sz="6400" b="1" dirty="0">
                <a:solidFill>
                  <a:schemeClr val="tx1">
                    <a:lumMod val="95000"/>
                    <a:lumOff val="5000"/>
                  </a:schemeClr>
                </a:solidFill>
                <a:latin typeface="Times New Roman" panose="02020603050405020304" pitchFamily="18" charset="0"/>
                <a:cs typeface="Times New Roman" panose="02020603050405020304" pitchFamily="18" charset="0"/>
                <a:sym typeface="+mn-ea"/>
              </a:rPr>
              <a:t>     </a:t>
            </a:r>
            <a:r>
              <a:rPr lang="en-US" sz="6400" dirty="0">
                <a:solidFill>
                  <a:schemeClr val="tx1">
                    <a:lumMod val="95000"/>
                    <a:lumOff val="5000"/>
                  </a:schemeClr>
                </a:solidFill>
                <a:latin typeface="Times New Roman" panose="02020603050405020304" pitchFamily="18" charset="0"/>
                <a:cs typeface="Times New Roman" panose="02020603050405020304" pitchFamily="18" charset="0"/>
                <a:sym typeface="+mn-ea"/>
              </a:rPr>
              <a:t> Many products are stored in warehouses for long durations, which reduces freshness.</a:t>
            </a:r>
            <a:endParaRPr lang="en-IN" sz="64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buNone/>
            </a:pPr>
            <a:r>
              <a:rPr lang="en-US" sz="6400" b="1" dirty="0">
                <a:solidFill>
                  <a:schemeClr val="tx1">
                    <a:lumMod val="95000"/>
                    <a:lumOff val="5000"/>
                  </a:schemeClr>
                </a:solidFill>
                <a:latin typeface="Times New Roman" panose="02020603050405020304" pitchFamily="18" charset="0"/>
                <a:cs typeface="Times New Roman" panose="02020603050405020304" pitchFamily="18" charset="0"/>
              </a:rPr>
              <a:t>  </a:t>
            </a:r>
            <a:endParaRPr lang="en-US" sz="64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5" name="Text Box 4"/>
          <p:cNvSpPr txBox="1"/>
          <p:nvPr/>
        </p:nvSpPr>
        <p:spPr>
          <a:xfrm>
            <a:off x="969010" y="716915"/>
            <a:ext cx="8196580" cy="1103630"/>
          </a:xfrm>
          <a:prstGeom prst="rect">
            <a:avLst/>
          </a:prstGeom>
          <a:noFill/>
        </p:spPr>
        <p:txBody>
          <a:bodyPr wrap="square" rtlCol="0">
            <a:noAutofit/>
          </a:bodyPr>
          <a:lstStyle/>
          <a:p>
            <a:pPr algn="ctr"/>
            <a:r>
              <a:rPr lang="en-US" altLang="en-GB" sz="3600" b="1">
                <a:solidFill>
                  <a:schemeClr val="accent1"/>
                </a:solidFill>
                <a:latin typeface="+mj-lt"/>
                <a:cs typeface="+mj-lt"/>
              </a:rPr>
              <a:t>DrawBack of Existing system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765175" y="2861945"/>
            <a:ext cx="8596630" cy="567055"/>
          </a:xfrm>
        </p:spPr>
        <p:txBody>
          <a:bodyPr>
            <a:normAutofit fontScale="90000"/>
          </a:bodyPr>
          <a:lstStyle/>
          <a:p>
            <a:pPr algn="ctr"/>
            <a:r>
              <a:rPr lang="en-US" sz="4000" b="1" dirty="0">
                <a:cs typeface="+mj-lt"/>
                <a:sym typeface="+mn-ea"/>
              </a:rPr>
              <a:t> Advantages of </a:t>
            </a:r>
            <a:r>
              <a:rPr lang="en-US" sz="4000" b="1" dirty="0" err="1">
                <a:cs typeface="+mj-lt"/>
                <a:sym typeface="+mn-ea"/>
              </a:rPr>
              <a:t>ConnectFrama</a:t>
            </a:r>
            <a:endParaRPr lang="en-GB" altLang="en-US" sz="4000">
              <a:cs typeface="+mj-lt"/>
            </a:endParaRPr>
          </a:p>
        </p:txBody>
      </p:sp>
      <p:sp>
        <p:nvSpPr>
          <p:cNvPr id="6" name="Slide Number Placeholder 5"/>
          <p:cNvSpPr>
            <a:spLocks noGrp="1"/>
          </p:cNvSpPr>
          <p:nvPr>
            <p:ph type="sldNum" sz="quarter" idx="12"/>
          </p:nvPr>
        </p:nvSpPr>
        <p:spPr/>
        <p:txBody>
          <a:bodyPr/>
          <a:lstStyle/>
          <a:p>
            <a:fld id="{D57F1E4F-1CFF-5643-939E-217C01CDF565}" type="slidenum">
              <a:rPr lang="en-US" dirty="0"/>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545" y="215265"/>
            <a:ext cx="8723630" cy="5621020"/>
          </a:xfrm>
        </p:spPr>
        <p:txBody>
          <a:bodyPr>
            <a:normAutofit fontScale="90000"/>
          </a:bodyPr>
          <a:lstStyle/>
          <a:p>
            <a:pPr marL="0" indent="0">
              <a:buNone/>
            </a:pPr>
            <a:endParaRPr lang="en-US" sz="2000"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sym typeface="+mn-ea"/>
              </a:rPr>
              <a:t>1. Direct Farmer-to-Consumer Link</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sym typeface="+mn-ea"/>
              </a:rPr>
              <a:t>Farmers can sell their produce directly to customers without middlemen, ensuring better profits.</a:t>
            </a:r>
            <a:endParaRPr lang="en-US" dirty="0">
              <a:latin typeface="Times New Roman" panose="02020603050405020304" pitchFamily="18" charset="0"/>
              <a:cs typeface="Times New Roman" panose="02020603050405020304" pitchFamily="18" charset="0"/>
            </a:endParaRPr>
          </a:p>
          <a:p>
            <a:pPr marL="0" lvl="0" indent="0">
              <a:buNone/>
            </a:pPr>
            <a:r>
              <a:rPr lang="en-US" b="1" dirty="0">
                <a:latin typeface="Times New Roman" panose="02020603050405020304" pitchFamily="18" charset="0"/>
                <a:cs typeface="Times New Roman" panose="02020603050405020304" pitchFamily="18" charset="0"/>
                <a:sym typeface="+mn-ea"/>
              </a:rPr>
              <a:t>2. Fresh and Quality Produce</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sym typeface="+mn-ea"/>
              </a:rPr>
              <a:t>Since farmers manage their own stock, customers receive fresh fruits and vegetables with assured quality                          .</a:t>
            </a:r>
            <a:endParaRPr lang="en-US" dirty="0">
              <a:latin typeface="Times New Roman" panose="02020603050405020304" pitchFamily="18" charset="0"/>
              <a:cs typeface="Times New Roman" panose="02020603050405020304" pitchFamily="18" charset="0"/>
            </a:endParaRPr>
          </a:p>
          <a:p>
            <a:pPr marL="0" lvl="0" indent="0">
              <a:buNone/>
            </a:pPr>
            <a:r>
              <a:rPr lang="en-US" b="1" dirty="0">
                <a:latin typeface="Times New Roman" panose="02020603050405020304" pitchFamily="18" charset="0"/>
                <a:cs typeface="Times New Roman" panose="02020603050405020304" pitchFamily="18" charset="0"/>
                <a:sym typeface="+mn-ea"/>
              </a:rPr>
              <a:t>3. Fair Pricing</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sym typeface="+mn-ea"/>
              </a:rPr>
              <a:t>Eliminating intermediaries results in transparent and reasonable pricing for both farmers and buyers.</a:t>
            </a:r>
            <a:endParaRPr lang="en-US" dirty="0">
              <a:latin typeface="Times New Roman" panose="02020603050405020304" pitchFamily="18" charset="0"/>
              <a:cs typeface="Times New Roman" panose="02020603050405020304" pitchFamily="18" charset="0"/>
            </a:endParaRPr>
          </a:p>
          <a:p>
            <a:pPr marL="0" lvl="0" indent="0">
              <a:buNone/>
            </a:pPr>
            <a:r>
              <a:rPr lang="en-US" b="1" dirty="0">
                <a:latin typeface="Times New Roman" panose="02020603050405020304" pitchFamily="18" charset="0"/>
                <a:cs typeface="Times New Roman" panose="02020603050405020304" pitchFamily="18" charset="0"/>
                <a:sym typeface="+mn-ea"/>
              </a:rPr>
              <a:t>4. Focus on Fruits &amp; Vegetables Only</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sym typeface="+mn-ea"/>
              </a:rPr>
              <a:t>Unlike other platforms, (Blinkit,Zepto,Big Basket)</a:t>
            </a:r>
            <a:r>
              <a:rPr lang="en-US" dirty="0" err="1">
                <a:latin typeface="Times New Roman" panose="02020603050405020304" pitchFamily="18" charset="0"/>
                <a:cs typeface="Times New Roman" panose="02020603050405020304" pitchFamily="18" charset="0"/>
                <a:sym typeface="+mn-ea"/>
              </a:rPr>
              <a:t>ConnectFrama</a:t>
            </a:r>
            <a:r>
              <a:rPr lang="en-US" dirty="0">
                <a:latin typeface="Times New Roman" panose="02020603050405020304" pitchFamily="18" charset="0"/>
                <a:cs typeface="Times New Roman" panose="02020603050405020304" pitchFamily="18" charset="0"/>
                <a:sym typeface="+mn-ea"/>
              </a:rPr>
              <a:t> is fully dedicated to the fruits and vegetable segment, ensuring specialized service.</a:t>
            </a:r>
          </a:p>
          <a:p>
            <a:pPr marL="0" lvl="0" indent="0">
              <a:buNone/>
            </a:pPr>
            <a:r>
              <a:rPr lang="en-US" b="1" dirty="0">
                <a:latin typeface="Times New Roman" panose="02020603050405020304" pitchFamily="18" charset="0"/>
                <a:cs typeface="Times New Roman" panose="02020603050405020304" pitchFamily="18" charset="0"/>
                <a:sym typeface="+mn-ea"/>
              </a:rPr>
              <a:t>5. User-Friendly Platform</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sym typeface="+mn-ea"/>
              </a:rPr>
              <a:t> Designed with simplicity in mind for both farmers and consumers, including easy registration and order management.</a:t>
            </a:r>
            <a:endParaRPr lang="en-US" dirty="0">
              <a:latin typeface="Times New Roman" panose="02020603050405020304" pitchFamily="18" charset="0"/>
              <a:cs typeface="Times New Roman" panose="02020603050405020304" pitchFamily="18" charset="0"/>
            </a:endParaRPr>
          </a:p>
          <a:p>
            <a:pPr marL="0" lvl="0" indent="0">
              <a:buNone/>
            </a:pPr>
            <a:r>
              <a:rPr lang="en-US" b="1" dirty="0">
                <a:latin typeface="Times New Roman" panose="02020603050405020304" pitchFamily="18" charset="0"/>
                <a:cs typeface="Times New Roman" panose="02020603050405020304" pitchFamily="18" charset="0"/>
                <a:sym typeface="+mn-ea"/>
              </a:rPr>
              <a:t>6. Community Empowerment</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sym typeface="+mn-ea"/>
              </a:rPr>
              <a:t>   It supports local agriculture, boosts farmer income, and promotes healthy eating in urban areas.</a:t>
            </a: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endParaRPr lang="en-GB" altLang="en-US"/>
          </a:p>
        </p:txBody>
      </p:sp>
      <p:sp>
        <p:nvSpPr>
          <p:cNvPr id="6" name="Slide Number Placeholder 5"/>
          <p:cNvSpPr>
            <a:spLocks noGrp="1"/>
          </p:cNvSpPr>
          <p:nvPr>
            <p:ph type="sldNum" sz="quarter" idx="12"/>
          </p:nvPr>
        </p:nvSpPr>
        <p:spPr/>
        <p:txBody>
          <a:bodyPr/>
          <a:lstStyle/>
          <a:p>
            <a:fld id="{D57F1E4F-1CFF-5643-939E-217C01CDF565}" type="slidenum">
              <a:rPr lang="en-US" dirty="0"/>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545" y="2879725"/>
            <a:ext cx="8596630" cy="669925"/>
          </a:xfrm>
        </p:spPr>
        <p:txBody>
          <a:bodyPr/>
          <a:lstStyle/>
          <a:p>
            <a:pPr algn="ctr"/>
            <a:r>
              <a:rPr lang="en-US" b="1" dirty="0">
                <a:sym typeface="+mn-ea"/>
              </a:rPr>
              <a:t>Proposed System</a:t>
            </a:r>
            <a:endParaRPr lang="en-GB" altLang="en-US" b="1"/>
          </a:p>
        </p:txBody>
      </p:sp>
      <p:sp>
        <p:nvSpPr>
          <p:cNvPr id="6" name="Slide Number Placeholder 5"/>
          <p:cNvSpPr>
            <a:spLocks noGrp="1"/>
          </p:cNvSpPr>
          <p:nvPr>
            <p:ph type="sldNum" sz="quarter" idx="12"/>
          </p:nvPr>
        </p:nvSpPr>
        <p:spPr/>
        <p:txBody>
          <a:bodyPr/>
          <a:lstStyle/>
          <a:p>
            <a:fld id="{D57F1E4F-1CFF-5643-939E-217C01CDF565}" type="slidenum">
              <a:rPr lang="en-US" dirty="0"/>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1355" y="829310"/>
            <a:ext cx="8596630" cy="5076190"/>
          </a:xfrm>
        </p:spPr>
        <p:txBody>
          <a:bodyPr>
            <a:noAutofit/>
          </a:bodyPr>
          <a:lstStyle/>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1. Direct Farmer-to-Consumer Platform – Eliminates middlemen by connecting farmers directly with consumers.</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2. User Registration System – Separate signup/login for farmers and consumers.</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3. Product Management – Farmers can add, update, and manage their products (fruits, vegetables, grains, dairy, etc.).</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4. Category-Based Browsing – Consumers can search and browse products by category with images.</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5. Order Management – Consumers can place orders; farmers can view and process them.</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6. Secure Payments (Future Scope) – Option for online payment or cash on delivery.</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7. Feedback System – Consumers can give feedback on products and services.</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8. Contact/Support System – Consumers and farmers can reach admins for queries/issues.</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9. Admin Dashboard – Admin monitors user activities, products, feedback, and ensures system security.</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10 . Sustainability Goal – Promotes organic produce, local farming, and reduces food wastage.</a:t>
            </a:r>
          </a:p>
          <a:p>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System Requirement</a:t>
            </a:r>
            <a:endParaRPr lang="en-IN" b="1" dirty="0"/>
          </a:p>
        </p:txBody>
      </p:sp>
      <p:sp>
        <p:nvSpPr>
          <p:cNvPr id="3" name="Content Placeholder 2"/>
          <p:cNvSpPr>
            <a:spLocks noGrp="1"/>
          </p:cNvSpPr>
          <p:nvPr>
            <p:ph idx="1"/>
          </p:nvPr>
        </p:nvSpPr>
        <p:spPr>
          <a:xfrm>
            <a:off x="677545" y="1929765"/>
            <a:ext cx="8596630" cy="3371215"/>
          </a:xfrm>
        </p:spPr>
        <p:txBody>
          <a:bodyPr/>
          <a:lstStyle/>
          <a:p>
            <a:pPr marL="0" indent="0">
              <a:buNone/>
            </a:pPr>
            <a:r>
              <a:rPr lang="en-US" b="1" u="sng" dirty="0"/>
              <a:t>Browser Compatibility</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The Connect </a:t>
            </a:r>
            <a:r>
              <a:rPr lang="en-US" sz="1600" dirty="0" err="1">
                <a:solidFill>
                  <a:schemeClr val="tx1">
                    <a:lumMod val="95000"/>
                    <a:lumOff val="5000"/>
                  </a:schemeClr>
                </a:solidFill>
                <a:latin typeface="Times New Roman" panose="02020603050405020304" pitchFamily="18" charset="0"/>
                <a:cs typeface="Times New Roman" panose="02020603050405020304" pitchFamily="18" charset="0"/>
              </a:rPr>
              <a:t>Farma</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platform is designed to run smoothly on multiple web browsers for better accessibility and user experience. It supports:</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1. Google Chrome – Primary browser for testing and running the application.</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2. Mozilla Firefox – Ensures compatibility and performance across different systems.</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3. Microsoft Edge – Provides seamless access on Windows-based systems.</a:t>
            </a:r>
          </a:p>
          <a:p>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4. Brave Browser – Supports privacy-focused users without compromising performance.</a:t>
            </a:r>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sz="16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System User</a:t>
            </a:r>
            <a:endParaRPr lang="en-IN" b="1" dirty="0"/>
          </a:p>
        </p:txBody>
      </p:sp>
      <p:sp>
        <p:nvSpPr>
          <p:cNvPr id="3" name="Content Placeholder 2"/>
          <p:cNvSpPr>
            <a:spLocks noGrp="1"/>
          </p:cNvSpPr>
          <p:nvPr>
            <p:ph idx="1"/>
          </p:nvPr>
        </p:nvSpPr>
        <p:spPr>
          <a:xfrm>
            <a:off x="677334" y="1516645"/>
            <a:ext cx="8596668" cy="3880773"/>
          </a:xfrm>
        </p:spPr>
        <p:txBody>
          <a:bodyPr/>
          <a:lstStyle/>
          <a:p>
            <a:r>
              <a:rPr lang="en-US" sz="2400" b="1" dirty="0">
                <a:latin typeface="Times New Roman" panose="02020603050405020304" pitchFamily="18" charset="0"/>
                <a:cs typeface="Times New Roman" panose="02020603050405020304" pitchFamily="18" charset="0"/>
              </a:rPr>
              <a:t> Customer</a:t>
            </a:r>
          </a:p>
          <a:p>
            <a:r>
              <a:rPr lang="en-US" sz="2400" b="1" dirty="0">
                <a:latin typeface="Times New Roman" panose="02020603050405020304" pitchFamily="18" charset="0"/>
                <a:cs typeface="Times New Roman" panose="02020603050405020304" pitchFamily="18" charset="0"/>
              </a:rPr>
              <a:t> Farmer</a:t>
            </a:r>
          </a:p>
          <a:p>
            <a:r>
              <a:rPr lang="en-US" sz="2400" b="1" dirty="0">
                <a:latin typeface="Times New Roman" panose="02020603050405020304" pitchFamily="18" charset="0"/>
                <a:cs typeface="Times New Roman" panose="02020603050405020304" pitchFamily="18" charset="0"/>
              </a:rPr>
              <a:t> Admin</a:t>
            </a:r>
          </a:p>
          <a:p>
            <a:r>
              <a:rPr lang="en-US" sz="2400" b="1" dirty="0">
                <a:latin typeface="Times New Roman" panose="02020603050405020304" pitchFamily="18" charset="0"/>
                <a:cs typeface="Times New Roman" panose="02020603050405020304" pitchFamily="18" charset="0"/>
              </a:rPr>
              <a:t> Order</a:t>
            </a:r>
            <a:endParaRPr lang="en-IN" sz="2400" b="1"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050" y="2142490"/>
            <a:ext cx="9264650" cy="619125"/>
          </a:xfrm>
        </p:spPr>
        <p:txBody>
          <a:bodyPr>
            <a:normAutofit fontScale="90000"/>
          </a:bodyPr>
          <a:lstStyle/>
          <a:p>
            <a:pPr algn="ctr"/>
            <a:r>
              <a:rPr lang="en-US" altLang="en-GB" sz="4000" b="1"/>
              <a:t>Role of User</a:t>
            </a:r>
          </a:p>
        </p:txBody>
      </p:sp>
      <p:sp>
        <p:nvSpPr>
          <p:cNvPr id="6" name="Slide Number Placeholder 5"/>
          <p:cNvSpPr>
            <a:spLocks noGrp="1"/>
          </p:cNvSpPr>
          <p:nvPr>
            <p:ph type="sldNum" sz="quarter" idx="12"/>
          </p:nvPr>
        </p:nvSpPr>
        <p:spPr/>
        <p:txBody>
          <a:bodyPr/>
          <a:lstStyle/>
          <a:p>
            <a:fld id="{D57F1E4F-1CFF-5643-939E-217C01CDF565}" type="slidenum">
              <a:rPr lang="en-US" dirty="0"/>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3870" y="370205"/>
            <a:ext cx="9159875" cy="5368925"/>
          </a:xfrm>
        </p:spPr>
        <p:txBody>
          <a:bodyPr>
            <a:noAutofit/>
          </a:bodyPr>
          <a:lstStyle/>
          <a:p>
            <a:r>
              <a:rPr lang="en-US" sz="1600" dirty="0">
                <a:latin typeface="Times New Roman" panose="02020603050405020304" pitchFamily="18" charset="0"/>
                <a:cs typeface="Times New Roman" panose="02020603050405020304" pitchFamily="18" charset="0"/>
              </a:rPr>
              <a:t>1. </a:t>
            </a:r>
            <a:r>
              <a:rPr lang="en-US" sz="1600" b="1" dirty="0">
                <a:latin typeface="Times New Roman" panose="02020603050405020304" pitchFamily="18" charset="0"/>
                <a:cs typeface="Times New Roman" panose="02020603050405020304" pitchFamily="18" charset="0"/>
              </a:rPr>
              <a:t>Customer</a:t>
            </a:r>
            <a:endParaRPr lang="en-US" sz="1600" dirty="0">
              <a:latin typeface="Times New Roman" panose="02020603050405020304" pitchFamily="18" charset="0"/>
              <a:cs typeface="Times New Roman" panose="02020603050405020304" pitchFamily="18" charset="0"/>
            </a:endParaRPr>
          </a:p>
          <a:p>
            <a:pPr>
              <a:buFont typeface="+mj-lt"/>
              <a:buAutoNum type="alphaLcParenR"/>
            </a:pPr>
            <a:r>
              <a:rPr lang="en-US" sz="1600" dirty="0">
                <a:latin typeface="Times New Roman" panose="02020603050405020304" pitchFamily="18" charset="0"/>
                <a:cs typeface="Times New Roman" panose="02020603050405020304" pitchFamily="18" charset="0"/>
              </a:rPr>
              <a:t>Browse and order fresh produce</a:t>
            </a:r>
          </a:p>
          <a:p>
            <a:pPr>
              <a:buFont typeface="+mj-lt"/>
              <a:buAutoNum type="alphaLcParenR"/>
            </a:pPr>
            <a:r>
              <a:rPr lang="en-US" sz="1600" dirty="0">
                <a:latin typeface="Times New Roman" panose="02020603050405020304" pitchFamily="18" charset="0"/>
                <a:cs typeface="Times New Roman" panose="02020603050405020304" pitchFamily="18" charset="0"/>
              </a:rPr>
              <a:t>Choose delivery schedule &amp; track orders</a:t>
            </a:r>
          </a:p>
          <a:p>
            <a:pPr>
              <a:buFont typeface="+mj-lt"/>
              <a:buAutoNum type="alphaLcParenR"/>
            </a:pPr>
            <a:r>
              <a:rPr lang="en-US" sz="1600" dirty="0">
                <a:latin typeface="Times New Roman" panose="02020603050405020304" pitchFamily="18" charset="0"/>
                <a:cs typeface="Times New Roman" panose="02020603050405020304" pitchFamily="18" charset="0"/>
              </a:rPr>
              <a:t>Make secure payments</a:t>
            </a:r>
          </a:p>
          <a:p>
            <a:r>
              <a:rPr lang="en-US" sz="1600" dirty="0">
                <a:latin typeface="Times New Roman" panose="02020603050405020304" pitchFamily="18" charset="0"/>
                <a:cs typeface="Times New Roman" panose="02020603050405020304" pitchFamily="18" charset="0"/>
              </a:rPr>
              <a:t>2. </a:t>
            </a:r>
            <a:r>
              <a:rPr lang="en-US" sz="1600" b="1" dirty="0">
                <a:latin typeface="Times New Roman" panose="02020603050405020304" pitchFamily="18" charset="0"/>
                <a:cs typeface="Times New Roman" panose="02020603050405020304" pitchFamily="18" charset="0"/>
              </a:rPr>
              <a:t>Farmer</a:t>
            </a:r>
            <a:endParaRPr lang="en-US" sz="1600" dirty="0">
              <a:latin typeface="Times New Roman" panose="02020603050405020304" pitchFamily="18" charset="0"/>
              <a:cs typeface="Times New Roman" panose="02020603050405020304" pitchFamily="18" charset="0"/>
            </a:endParaRPr>
          </a:p>
          <a:p>
            <a:pPr>
              <a:buFont typeface="+mj-lt"/>
              <a:buAutoNum type="alphaLcParenR"/>
            </a:pPr>
            <a:r>
              <a:rPr lang="en-US" sz="1600" dirty="0">
                <a:latin typeface="Times New Roman" panose="02020603050405020304" pitchFamily="18" charset="0"/>
                <a:cs typeface="Times New Roman" panose="02020603050405020304" pitchFamily="18" charset="0"/>
              </a:rPr>
              <a:t>List and update products</a:t>
            </a:r>
          </a:p>
          <a:p>
            <a:pPr>
              <a:buFont typeface="+mj-lt"/>
              <a:buAutoNum type="alphaLcParenR"/>
            </a:pPr>
            <a:r>
              <a:rPr lang="en-US" sz="1600" dirty="0">
                <a:latin typeface="Times New Roman" panose="02020603050405020304" pitchFamily="18" charset="0"/>
                <a:cs typeface="Times New Roman" panose="02020603050405020304" pitchFamily="18" charset="0"/>
              </a:rPr>
              <a:t>Supply fresh produce as per demand</a:t>
            </a:r>
          </a:p>
          <a:p>
            <a:pPr>
              <a:buFont typeface="+mj-lt"/>
              <a:buAutoNum type="alphaLcParenR"/>
            </a:pPr>
            <a:r>
              <a:rPr lang="en-US" sz="1600" dirty="0">
                <a:latin typeface="Times New Roman" panose="02020603050405020304" pitchFamily="18" charset="0"/>
                <a:cs typeface="Times New Roman" panose="02020603050405020304" pitchFamily="18" charset="0"/>
              </a:rPr>
              <a:t>Maintain quality and transparency</a:t>
            </a:r>
          </a:p>
          <a:p>
            <a:r>
              <a:rPr lang="en-US" sz="1600" b="1" dirty="0">
                <a:latin typeface="Times New Roman" panose="02020603050405020304" pitchFamily="18" charset="0"/>
                <a:cs typeface="Times New Roman" panose="02020603050405020304" pitchFamily="18" charset="0"/>
              </a:rPr>
              <a:t>3. Admin</a:t>
            </a:r>
          </a:p>
          <a:p>
            <a:pPr>
              <a:buFont typeface="+mj-lt"/>
              <a:buAutoNum type="alphaLcParenR"/>
            </a:pPr>
            <a:r>
              <a:rPr lang="en-US" sz="1600" dirty="0">
                <a:latin typeface="Times New Roman" panose="02020603050405020304" pitchFamily="18" charset="0"/>
                <a:cs typeface="Times New Roman" panose="02020603050405020304" pitchFamily="18" charset="0"/>
              </a:rPr>
              <a:t>Manage users and product listings</a:t>
            </a:r>
          </a:p>
          <a:p>
            <a:pPr>
              <a:buFont typeface="+mj-lt"/>
              <a:buAutoNum type="alphaLcParenR"/>
            </a:pPr>
            <a:r>
              <a:rPr lang="en-US" sz="1600" dirty="0">
                <a:latin typeface="Times New Roman" panose="02020603050405020304" pitchFamily="18" charset="0"/>
                <a:cs typeface="Times New Roman" panose="02020603050405020304" pitchFamily="18" charset="0"/>
              </a:rPr>
              <a:t>Monitor orders &amp; transactions</a:t>
            </a:r>
          </a:p>
          <a:p>
            <a:pPr>
              <a:buFont typeface="+mj-lt"/>
              <a:buAutoNum type="alphaLcParenR"/>
            </a:pPr>
            <a:r>
              <a:rPr lang="en-US" sz="1600" dirty="0">
                <a:latin typeface="Times New Roman" panose="02020603050405020304" pitchFamily="18" charset="0"/>
                <a:cs typeface="Times New Roman" panose="02020603050405020304" pitchFamily="18" charset="0"/>
              </a:rPr>
              <a:t>Resolve issues and ensure smooth operations</a:t>
            </a:r>
          </a:p>
          <a:p>
            <a:r>
              <a:rPr lang="en-US" sz="1600" b="1" dirty="0">
                <a:latin typeface="Times New Roman" panose="02020603050405020304" pitchFamily="18" charset="0"/>
                <a:cs typeface="Times New Roman" panose="02020603050405020304" pitchFamily="18" charset="0"/>
              </a:rPr>
              <a:t>4. Order System</a:t>
            </a:r>
          </a:p>
          <a:p>
            <a:r>
              <a:rPr lang="en-US" sz="1600" dirty="0">
                <a:latin typeface="Times New Roman" panose="02020603050405020304" pitchFamily="18" charset="0"/>
                <a:cs typeface="Times New Roman" panose="02020603050405020304" pitchFamily="18" charset="0"/>
              </a:rPr>
              <a:t>Process and track orders</a:t>
            </a:r>
          </a:p>
          <a:p>
            <a:r>
              <a:rPr lang="en-US" sz="1600" dirty="0">
                <a:latin typeface="Times New Roman" panose="02020603050405020304" pitchFamily="18" charset="0"/>
                <a:cs typeface="Times New Roman" panose="02020603050405020304" pitchFamily="18" charset="0"/>
              </a:rPr>
              <a:t>Manage delivery schedules</a:t>
            </a:r>
          </a:p>
          <a:p>
            <a:r>
              <a:rPr lang="en-US" sz="1600" dirty="0">
                <a:latin typeface="Times New Roman" panose="02020603050405020304" pitchFamily="18" charset="0"/>
                <a:cs typeface="Times New Roman" panose="02020603050405020304" pitchFamily="18" charset="0"/>
              </a:rPr>
              <a:t>Ensure timely and accurate delivery</a:t>
            </a:r>
          </a:p>
        </p:txBody>
      </p:sp>
      <p:sp>
        <p:nvSpPr>
          <p:cNvPr id="6" name="Slide Number Placeholder 5"/>
          <p:cNvSpPr>
            <a:spLocks noGrp="1"/>
          </p:cNvSpPr>
          <p:nvPr>
            <p:ph type="sldNum" sz="quarter" idx="12"/>
          </p:nvPr>
        </p:nvSpPr>
        <p:spPr/>
        <p:txBody>
          <a:bodyPr/>
          <a:lstStyle/>
          <a:p>
            <a:fld id="{D57F1E4F-1CFF-5643-939E-217C01CDF565}" type="slidenum">
              <a:rPr lang="en-US" smtClean="0"/>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7265" y="2320290"/>
            <a:ext cx="8596630" cy="1108710"/>
          </a:xfrm>
        </p:spPr>
        <p:txBody>
          <a:bodyPr>
            <a:normAutofit fontScale="90000"/>
          </a:bodyPr>
          <a:lstStyle/>
          <a:p>
            <a:pPr algn="ctr"/>
            <a:r>
              <a:rPr lang="en-US" sz="4000" b="1" dirty="0"/>
              <a:t>System Design &amp; Database Development &amp; Data Dictionary</a:t>
            </a:r>
            <a:endParaRPr lang="en-US" sz="4000" dirty="0"/>
          </a:p>
        </p:txBody>
      </p:sp>
      <p:sp>
        <p:nvSpPr>
          <p:cNvPr id="6" name="Slide Number Placeholder 5"/>
          <p:cNvSpPr>
            <a:spLocks noGrp="1"/>
          </p:cNvSpPr>
          <p:nvPr>
            <p:ph type="sldNum" sz="quarter" idx="12"/>
          </p:nvPr>
        </p:nvSpPr>
        <p:spPr/>
        <p:txBody>
          <a:bodyPr/>
          <a:lstStyle/>
          <a:p>
            <a:fld id="{D57F1E4F-1CFF-5643-939E-217C01CDF565}" type="slidenum">
              <a:rPr lang="en-US" smtClean="0"/>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System Design</a:t>
            </a:r>
          </a:p>
        </p:txBody>
      </p:sp>
      <p:sp>
        <p:nvSpPr>
          <p:cNvPr id="3" name="Content Placeholder 2"/>
          <p:cNvSpPr>
            <a:spLocks noGrp="1"/>
          </p:cNvSpPr>
          <p:nvPr>
            <p:ph idx="1"/>
          </p:nvPr>
        </p:nvSpPr>
        <p:spPr/>
        <p:txBody>
          <a:bodyPr>
            <a:normAutofit/>
          </a:bodyPr>
          <a:lstStyle/>
          <a:p>
            <a:r>
              <a:rPr lang="en-US" sz="1600" b="1" dirty="0">
                <a:latin typeface="Times New Roman" panose="02020603050405020304" pitchFamily="18" charset="0"/>
                <a:cs typeface="Times New Roman" panose="02020603050405020304" pitchFamily="18" charset="0"/>
              </a:rPr>
              <a:t>Module And Sub-Module</a:t>
            </a:r>
          </a:p>
          <a:p>
            <a:endParaRPr lang="en-US" sz="1600" b="1" dirty="0">
              <a:latin typeface="Times New Roman" panose="02020603050405020304" pitchFamily="18" charset="0"/>
              <a:cs typeface="Times New Roman" panose="02020603050405020304" pitchFamily="18" charset="0"/>
            </a:endParaRPr>
          </a:p>
          <a:p>
            <a:pPr marL="0" indent="0">
              <a:buNone/>
            </a:pPr>
            <a:endParaRPr lang="en-US" sz="1600" b="1"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t>21</a:t>
            </a:fld>
            <a:endParaRPr lang="en-US" dirty="0"/>
          </a:p>
        </p:txBody>
      </p:sp>
      <p:graphicFrame>
        <p:nvGraphicFramePr>
          <p:cNvPr id="7" name="Table 6"/>
          <p:cNvGraphicFramePr>
            <a:graphicFrameLocks noGrp="1"/>
          </p:cNvGraphicFramePr>
          <p:nvPr/>
        </p:nvGraphicFramePr>
        <p:xfrm>
          <a:off x="677334" y="2908300"/>
          <a:ext cx="8810698" cy="2541852"/>
        </p:xfrm>
        <a:graphic>
          <a:graphicData uri="http://schemas.openxmlformats.org/drawingml/2006/table">
            <a:tbl>
              <a:tblPr firstRow="1" bandRow="1">
                <a:tableStyleId>{5C22544A-7EE6-4342-B048-85BDC9FD1C3A}</a:tableStyleId>
              </a:tblPr>
              <a:tblGrid>
                <a:gridCol w="4114738">
                  <a:extLst>
                    <a:ext uri="{9D8B030D-6E8A-4147-A177-3AD203B41FA5}">
                      <a16:colId xmlns:a16="http://schemas.microsoft.com/office/drawing/2014/main" val="20000"/>
                    </a:ext>
                  </a:extLst>
                </a:gridCol>
                <a:gridCol w="4695960">
                  <a:extLst>
                    <a:ext uri="{9D8B030D-6E8A-4147-A177-3AD203B41FA5}">
                      <a16:colId xmlns:a16="http://schemas.microsoft.com/office/drawing/2014/main" val="20001"/>
                    </a:ext>
                  </a:extLst>
                </a:gridCol>
              </a:tblGrid>
              <a:tr h="393960">
                <a:tc>
                  <a:txBody>
                    <a:bodyPr/>
                    <a:lstStyle/>
                    <a:p>
                      <a:r>
                        <a:rPr lang="en-US" dirty="0">
                          <a:latin typeface="Times New Roman" panose="02020603050405020304" pitchFamily="18" charset="0"/>
                          <a:cs typeface="Times New Roman" panose="02020603050405020304" pitchFamily="18" charset="0"/>
                        </a:rPr>
                        <a:t>Module</a:t>
                      </a:r>
                    </a:p>
                  </a:txBody>
                  <a:tcPr/>
                </a:tc>
                <a:tc>
                  <a:txBody>
                    <a:bodyPr/>
                    <a:lstStyle/>
                    <a:p>
                      <a:r>
                        <a:rPr lang="en-US" dirty="0">
                          <a:latin typeface="Times New Roman" panose="02020603050405020304" pitchFamily="18" charset="0"/>
                          <a:cs typeface="Times New Roman" panose="02020603050405020304" pitchFamily="18" charset="0"/>
                        </a:rPr>
                        <a:t>Sub-Module</a:t>
                      </a:r>
                    </a:p>
                  </a:txBody>
                  <a:tcPr/>
                </a:tc>
                <a:extLst>
                  <a:ext uri="{0D108BD9-81ED-4DB2-BD59-A6C34878D82A}">
                    <a16:rowId xmlns:a16="http://schemas.microsoft.com/office/drawing/2014/main" val="10000"/>
                  </a:ext>
                </a:extLst>
              </a:tr>
              <a:tr h="393960">
                <a:tc>
                  <a:txBody>
                    <a:bodyPr/>
                    <a:lstStyle/>
                    <a:p>
                      <a:r>
                        <a:rPr lang="en-US" dirty="0">
                          <a:latin typeface="Times New Roman" panose="02020603050405020304" pitchFamily="18" charset="0"/>
                          <a:cs typeface="Times New Roman" panose="02020603050405020304" pitchFamily="18" charset="0"/>
                        </a:rPr>
                        <a:t>Farmer</a:t>
                      </a:r>
                      <a:r>
                        <a:rPr lang="en-US" baseline="0" dirty="0">
                          <a:latin typeface="Times New Roman" panose="02020603050405020304" pitchFamily="18" charset="0"/>
                          <a:cs typeface="Times New Roman" panose="02020603050405020304" pitchFamily="18" charset="0"/>
                        </a:rPr>
                        <a:t> Module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Registration , Login</a:t>
                      </a:r>
                      <a:r>
                        <a:rPr lang="en-US" baseline="0" dirty="0">
                          <a:latin typeface="Times New Roman" panose="02020603050405020304" pitchFamily="18" charset="0"/>
                          <a:cs typeface="Times New Roman" panose="02020603050405020304" pitchFamily="18" charset="0"/>
                        </a:rPr>
                        <a:t> , Product Upload</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679986">
                <a:tc>
                  <a:txBody>
                    <a:bodyPr/>
                    <a:lstStyle/>
                    <a:p>
                      <a:r>
                        <a:rPr lang="en-US" dirty="0">
                          <a:latin typeface="Times New Roman" panose="02020603050405020304" pitchFamily="18" charset="0"/>
                          <a:cs typeface="Times New Roman" panose="02020603050405020304" pitchFamily="18" charset="0"/>
                        </a:rPr>
                        <a:t>Consumer Module</a:t>
                      </a:r>
                    </a:p>
                  </a:txBody>
                  <a:tcPr/>
                </a:tc>
                <a:tc>
                  <a:txBody>
                    <a:bodyPr/>
                    <a:lstStyle/>
                    <a:p>
                      <a:r>
                        <a:rPr lang="en-US" dirty="0">
                          <a:latin typeface="Times New Roman" panose="02020603050405020304" pitchFamily="18" charset="0"/>
                          <a:cs typeface="Times New Roman" panose="02020603050405020304" pitchFamily="18" charset="0"/>
                        </a:rPr>
                        <a:t>Registration</a:t>
                      </a:r>
                      <a:r>
                        <a:rPr lang="en-US" baseline="0" dirty="0">
                          <a:latin typeface="Times New Roman" panose="02020603050405020304" pitchFamily="18" charset="0"/>
                          <a:cs typeface="Times New Roman" panose="02020603050405020304" pitchFamily="18" charset="0"/>
                        </a:rPr>
                        <a:t> , Product Browsing , Add to Cart , Place Order</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679986">
                <a:tc>
                  <a:txBody>
                    <a:bodyPr/>
                    <a:lstStyle/>
                    <a:p>
                      <a:r>
                        <a:rPr lang="en-US" dirty="0">
                          <a:latin typeface="Times New Roman" panose="02020603050405020304" pitchFamily="18" charset="0"/>
                          <a:cs typeface="Times New Roman" panose="02020603050405020304" pitchFamily="18" charset="0"/>
                        </a:rPr>
                        <a:t>Admin Module</a:t>
                      </a:r>
                    </a:p>
                  </a:txBody>
                  <a:tcPr/>
                </a:tc>
                <a:tc>
                  <a:txBody>
                    <a:bodyPr/>
                    <a:lstStyle/>
                    <a:p>
                      <a:r>
                        <a:rPr lang="en-US" dirty="0">
                          <a:latin typeface="Times New Roman" panose="02020603050405020304" pitchFamily="18" charset="0"/>
                          <a:cs typeface="Times New Roman" panose="02020603050405020304" pitchFamily="18" charset="0"/>
                        </a:rPr>
                        <a:t>Approved Users ,</a:t>
                      </a:r>
                      <a:r>
                        <a:rPr lang="en-US" baseline="0" dirty="0">
                          <a:latin typeface="Times New Roman" panose="02020603050405020304" pitchFamily="18" charset="0"/>
                          <a:cs typeface="Times New Roman" panose="02020603050405020304" pitchFamily="18" charset="0"/>
                        </a:rPr>
                        <a:t> View Reports , Manage Listings</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93960">
                <a:tc>
                  <a:txBody>
                    <a:bodyPr/>
                    <a:lstStyle/>
                    <a:p>
                      <a:r>
                        <a:rPr lang="en-US" dirty="0">
                          <a:latin typeface="Times New Roman" panose="02020603050405020304" pitchFamily="18" charset="0"/>
                          <a:cs typeface="Times New Roman" panose="02020603050405020304" pitchFamily="18" charset="0"/>
                        </a:rPr>
                        <a:t>Order Module</a:t>
                      </a:r>
                    </a:p>
                  </a:txBody>
                  <a:tcPr/>
                </a:tc>
                <a:tc>
                  <a:txBody>
                    <a:bodyPr/>
                    <a:lstStyle/>
                    <a:p>
                      <a:r>
                        <a:rPr lang="en-US" dirty="0">
                          <a:latin typeface="Times New Roman" panose="02020603050405020304" pitchFamily="18" charset="0"/>
                          <a:cs typeface="Times New Roman" panose="02020603050405020304" pitchFamily="18" charset="0"/>
                        </a:rPr>
                        <a:t>Invoice Generation , Status Updates</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400" y="502920"/>
            <a:ext cx="9567545" cy="5538470"/>
          </a:xfrm>
        </p:spPr>
        <p:txBody>
          <a:bodyPr>
            <a:normAutofit fontScale="92500" lnSpcReduction="20000"/>
          </a:bodyPr>
          <a:lstStyle/>
          <a:p>
            <a:pPr marL="0" lvl="0" indent="0">
              <a:buNone/>
            </a:pPr>
            <a:r>
              <a:rPr lang="en-US" sz="1900" b="1" dirty="0">
                <a:latin typeface="Times New Roman" panose="02020603050405020304" pitchFamily="18" charset="0"/>
                <a:cs typeface="Times New Roman" panose="02020603050405020304" pitchFamily="18" charset="0"/>
              </a:rPr>
              <a:t>1. User Registration (Consumers &amp; Farmers</a:t>
            </a:r>
            <a:r>
              <a:rPr lang="en-US" sz="1900" b="1" dirty="0"/>
              <a:t>)</a:t>
            </a:r>
          </a:p>
          <a:p>
            <a:pPr marL="0" indent="0">
              <a:buNone/>
            </a:pPr>
            <a:r>
              <a:rPr lang="en-US" sz="1600" dirty="0">
                <a:latin typeface="Times New Roman" panose="02020603050405020304" pitchFamily="18" charset="0"/>
                <a:cs typeface="Times New Roman" panose="02020603050405020304" pitchFamily="18" charset="0"/>
              </a:rPr>
              <a:t>Allows both consumers and farmers to sign up by providing basic details like name, email, contact number, and password.      Validates input and securely stores user data in the database</a:t>
            </a:r>
            <a:r>
              <a:rPr lang="en-US" sz="1600" dirty="0"/>
              <a:t>.</a:t>
            </a:r>
          </a:p>
          <a:p>
            <a:pPr marL="0" indent="0">
              <a:buNone/>
            </a:pPr>
            <a:endParaRPr lang="en-US" sz="1600" dirty="0"/>
          </a:p>
          <a:p>
            <a:pPr marL="0" indent="0">
              <a:buNone/>
            </a:pPr>
            <a:r>
              <a:rPr lang="en-US" sz="1900" b="1" dirty="0">
                <a:latin typeface="Times New Roman" panose="02020603050405020304" pitchFamily="18" charset="0"/>
                <a:cs typeface="Times New Roman" panose="02020603050405020304" pitchFamily="18" charset="0"/>
              </a:rPr>
              <a:t>2. Login &amp; Authentication</a:t>
            </a:r>
          </a:p>
          <a:p>
            <a:pPr marL="0" indent="0">
              <a:buNone/>
            </a:pPr>
            <a:r>
              <a:rPr lang="en-US" sz="1600" dirty="0">
                <a:latin typeface="Times New Roman" panose="02020603050405020304" pitchFamily="18" charset="0"/>
                <a:cs typeface="Times New Roman" panose="02020603050405020304" pitchFamily="18" charset="0"/>
              </a:rPr>
              <a:t>Enables registered users to log in securely. Authenticates credentials and manages user sessions to personalize access to          features.</a:t>
            </a:r>
          </a:p>
          <a:p>
            <a:pPr marL="0" indent="0">
              <a:buNone/>
            </a:pPr>
            <a:endParaRPr lang="en-US" sz="2500" b="1" dirty="0"/>
          </a:p>
          <a:p>
            <a:pPr marL="0" indent="0">
              <a:buNone/>
            </a:pPr>
            <a:r>
              <a:rPr lang="en-US" sz="2100" b="1" dirty="0">
                <a:latin typeface="Times New Roman" panose="02020603050405020304" pitchFamily="18" charset="0"/>
                <a:cs typeface="Times New Roman" panose="02020603050405020304" pitchFamily="18" charset="0"/>
              </a:rPr>
              <a:t>3</a:t>
            </a:r>
            <a:r>
              <a:rPr lang="en-US" sz="1900" b="1" dirty="0">
                <a:latin typeface="Times New Roman" panose="02020603050405020304" pitchFamily="18" charset="0"/>
                <a:cs typeface="Times New Roman" panose="02020603050405020304" pitchFamily="18" charset="0"/>
              </a:rPr>
              <a:t>. Product Categories</a:t>
            </a:r>
          </a:p>
          <a:p>
            <a:pPr marL="0" indent="0">
              <a:buNone/>
            </a:pPr>
            <a:r>
              <a:rPr lang="en-US" sz="1600" dirty="0">
                <a:latin typeface="Times New Roman" panose="02020603050405020304" pitchFamily="18" charset="0"/>
                <a:cs typeface="Times New Roman" panose="02020603050405020304" pitchFamily="18" charset="0"/>
              </a:rPr>
              <a:t>Displays farm product categories like fruits, vegetables, dairy, etc., with images and descriptions. Helps users easily browse what’s available.</a:t>
            </a:r>
          </a:p>
          <a:p>
            <a:endParaRPr lang="en-US" dirty="0"/>
          </a:p>
          <a:p>
            <a:pPr marL="0" indent="0">
              <a:buNone/>
            </a:pPr>
            <a:r>
              <a:rPr lang="en-US" sz="1700" b="1" dirty="0">
                <a:latin typeface="Times New Roman" panose="02020603050405020304" pitchFamily="18" charset="0"/>
                <a:cs typeface="Times New Roman" panose="02020603050405020304" pitchFamily="18" charset="0"/>
              </a:rPr>
              <a:t>4. Product Listing &amp; Details</a:t>
            </a:r>
          </a:p>
          <a:p>
            <a:pPr marL="0" indent="0">
              <a:buNone/>
            </a:pPr>
            <a:r>
              <a:rPr lang="en-US" sz="1500" dirty="0">
                <a:latin typeface="Times New Roman" panose="02020603050405020304" pitchFamily="18" charset="0"/>
                <a:cs typeface="Times New Roman" panose="02020603050405020304" pitchFamily="18" charset="0"/>
              </a:rPr>
              <a:t>Farmers can upload products with names, prices, and images. Consumers can view product details, availability, and prices before ordering.</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1700" b="1" dirty="0">
                <a:latin typeface="Times New Roman" panose="02020603050405020304" pitchFamily="18" charset="0"/>
                <a:cs typeface="Times New Roman" panose="02020603050405020304" pitchFamily="18" charset="0"/>
              </a:rPr>
              <a:t>5. Order Placement &amp; Cart</a:t>
            </a:r>
          </a:p>
          <a:p>
            <a:pPr marL="0" indent="0">
              <a:buNone/>
            </a:pPr>
            <a:r>
              <a:rPr lang="en-US" sz="1500" dirty="0">
                <a:latin typeface="Times New Roman" panose="02020603050405020304" pitchFamily="18" charset="0"/>
                <a:cs typeface="Times New Roman" panose="02020603050405020304" pitchFamily="18" charset="0"/>
              </a:rPr>
              <a:t>Consumers can add items to their cart, review the list, and place an order. The cart system helps manage multiple items and total cost calculations.</a:t>
            </a:r>
          </a:p>
          <a:p>
            <a:endParaRPr lang="en-US" sz="15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2255" y="804545"/>
            <a:ext cx="9770745" cy="5219700"/>
          </a:xfrm>
        </p:spPr>
        <p:txBody>
          <a:bodyPr>
            <a:normAutofit/>
          </a:bodyPr>
          <a:lstStyle/>
          <a:p>
            <a:pPr marL="0" lvl="0" indent="0">
              <a:buNone/>
            </a:pPr>
            <a:r>
              <a:rPr lang="en-US" sz="1600" b="1" dirty="0">
                <a:latin typeface="Times New Roman" panose="02020603050405020304" pitchFamily="18" charset="0"/>
                <a:cs typeface="Times New Roman" panose="02020603050405020304" pitchFamily="18" charset="0"/>
              </a:rPr>
              <a:t>6. Admin Dashboard</a:t>
            </a:r>
          </a:p>
          <a:p>
            <a:pPr marL="0" indent="0">
              <a:buNone/>
            </a:pPr>
            <a:r>
              <a:rPr lang="en-US" sz="1400" dirty="0">
                <a:latin typeface="Times New Roman" panose="02020603050405020304" pitchFamily="18" charset="0"/>
                <a:cs typeface="Times New Roman" panose="02020603050405020304" pitchFamily="18" charset="0"/>
              </a:rPr>
              <a:t>Provides control to monitor users, products, and orders. Admin can approve farmer accounts, manage data, and ensure smooth operations.</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7. Farmer Dashboard</a:t>
            </a:r>
          </a:p>
          <a:p>
            <a:pPr marL="0" indent="0">
              <a:buNone/>
            </a:pPr>
            <a:r>
              <a:rPr lang="en-US" sz="1400" dirty="0">
                <a:latin typeface="Times New Roman" panose="02020603050405020304" pitchFamily="18" charset="0"/>
                <a:cs typeface="Times New Roman" panose="02020603050405020304" pitchFamily="18" charset="0"/>
              </a:rPr>
              <a:t> Farmers can manage their profile, add or edit product listings, and track orders received. It simplifies their selling process.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8. Consumer </a:t>
            </a:r>
            <a:r>
              <a:rPr lang="en-US" sz="1600" b="1" dirty="0" err="1">
                <a:latin typeface="Times New Roman" panose="02020603050405020304" pitchFamily="18" charset="0"/>
                <a:cs typeface="Times New Roman" panose="02020603050405020304" pitchFamily="18" charset="0"/>
              </a:rPr>
              <a:t>DashBoard</a:t>
            </a:r>
            <a:endParaRPr lang="en-US" sz="1600" b="1"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Consumers can view past orders, track current ones, and manage their profile. Gives a clear overview of their buying activity.</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9.Contact &amp; Support</a:t>
            </a:r>
          </a:p>
          <a:p>
            <a:pPr marL="0" indent="0">
              <a:buNone/>
            </a:pPr>
            <a:r>
              <a:rPr lang="en-US" sz="1400" dirty="0">
                <a:latin typeface="Times New Roman" panose="02020603050405020304" pitchFamily="18" charset="0"/>
                <a:cs typeface="Times New Roman" panose="02020603050405020304" pitchFamily="18" charset="0"/>
              </a:rPr>
              <a:t>A contact page for consumers or farmers to raise questions or concerns. Ensures good communication and trust in the platform.</a:t>
            </a:r>
          </a:p>
        </p:txBody>
      </p:sp>
      <p:sp>
        <p:nvSpPr>
          <p:cNvPr id="6" name="Slide Number Placeholder 5"/>
          <p:cNvSpPr>
            <a:spLocks noGrp="1"/>
          </p:cNvSpPr>
          <p:nvPr>
            <p:ph type="sldNum" sz="quarter" idx="12"/>
          </p:nvPr>
        </p:nvSpPr>
        <p:spPr/>
        <p:txBody>
          <a:bodyPr/>
          <a:lstStyle/>
          <a:p>
            <a:fld id="{D57F1E4F-1CFF-5643-939E-217C01CDF565}" type="slidenum">
              <a:rPr lang="en-US" smtClean="0"/>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7060" y="2768600"/>
            <a:ext cx="8596630" cy="660400"/>
          </a:xfrm>
        </p:spPr>
        <p:txBody>
          <a:bodyPr/>
          <a:lstStyle/>
          <a:p>
            <a:pPr algn="ctr"/>
            <a:r>
              <a:rPr lang="en-US" altLang="en-GB" b="1"/>
              <a:t>System Diagram</a:t>
            </a:r>
          </a:p>
        </p:txBody>
      </p:sp>
      <p:sp>
        <p:nvSpPr>
          <p:cNvPr id="6" name="Slide Number Placeholder 5"/>
          <p:cNvSpPr>
            <a:spLocks noGrp="1"/>
          </p:cNvSpPr>
          <p:nvPr>
            <p:ph type="sldNum" sz="quarter" idx="12"/>
          </p:nvPr>
        </p:nvSpPr>
        <p:spPr/>
        <p:txBody>
          <a:bodyPr/>
          <a:lstStyle/>
          <a:p>
            <a:fld id="{D57F1E4F-1CFF-5643-939E-217C01CDF565}" type="slidenum">
              <a:rPr lang="en-US" dirty="0"/>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System Design"/>
          <p:cNvPicPr>
            <a:picLocks noGrp="1" noChangeAspect="1"/>
          </p:cNvPicPr>
          <p:nvPr>
            <p:ph idx="1"/>
          </p:nvPr>
        </p:nvPicPr>
        <p:blipFill>
          <a:blip r:embed="rId2"/>
          <a:stretch>
            <a:fillRect/>
          </a:stretch>
        </p:blipFill>
        <p:spPr>
          <a:xfrm>
            <a:off x="1005840" y="754380"/>
            <a:ext cx="8132445" cy="5287010"/>
          </a:xfrm>
          <a:prstGeom prst="rect">
            <a:avLst/>
          </a:prstGeom>
        </p:spPr>
      </p:pic>
      <p:sp>
        <p:nvSpPr>
          <p:cNvPr id="6" name="Slide Number Placeholder 5"/>
          <p:cNvSpPr>
            <a:spLocks noGrp="1"/>
          </p:cNvSpPr>
          <p:nvPr>
            <p:ph type="sldNum" sz="quarter" idx="12"/>
          </p:nvPr>
        </p:nvSpPr>
        <p:spPr/>
        <p:txBody>
          <a:bodyPr/>
          <a:lstStyle/>
          <a:p>
            <a:fld id="{D57F1E4F-1CFF-5643-939E-217C01CDF565}" type="slidenum">
              <a:rPr lang="en-US" dirty="0"/>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935" y="2740660"/>
            <a:ext cx="8596630" cy="688340"/>
          </a:xfrm>
        </p:spPr>
        <p:txBody>
          <a:bodyPr/>
          <a:lstStyle/>
          <a:p>
            <a:pPr algn="ctr"/>
            <a:r>
              <a:rPr lang="en-US" b="1" dirty="0"/>
              <a:t>Database Dictionary</a:t>
            </a:r>
          </a:p>
        </p:txBody>
      </p:sp>
      <p:sp>
        <p:nvSpPr>
          <p:cNvPr id="6" name="Slide Number Placeholder 5"/>
          <p:cNvSpPr>
            <a:spLocks noGrp="1"/>
          </p:cNvSpPr>
          <p:nvPr>
            <p:ph type="sldNum" sz="quarter" idx="12"/>
          </p:nvPr>
        </p:nvSpPr>
        <p:spPr/>
        <p:txBody>
          <a:bodyPr/>
          <a:lstStyle/>
          <a:p>
            <a:fld id="{D57F1E4F-1CFF-5643-939E-217C01CDF565}" type="slidenum">
              <a:rPr lang="en-US" smtClean="0"/>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552205" y="551848"/>
            <a:ext cx="8596668" cy="1320800"/>
          </a:xfrm>
        </p:spPr>
        <p:txBody>
          <a:bodyPr/>
          <a:lstStyle/>
          <a:p>
            <a:pPr algn="ctr"/>
            <a:r>
              <a:rPr lang="en-US" b="1" dirty="0"/>
              <a:t>Consumer Table</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452703472"/>
              </p:ext>
            </p:extLst>
          </p:nvPr>
        </p:nvGraphicFramePr>
        <p:xfrm>
          <a:off x="350309" y="1445759"/>
          <a:ext cx="9178405" cy="3966482"/>
        </p:xfrm>
        <a:graphic>
          <a:graphicData uri="http://schemas.openxmlformats.org/drawingml/2006/table">
            <a:tbl>
              <a:tblPr firstRow="1" bandRow="1">
                <a:tableStyleId>{5C22544A-7EE6-4342-B048-85BDC9FD1C3A}</a:tableStyleId>
              </a:tblPr>
              <a:tblGrid>
                <a:gridCol w="1835681">
                  <a:extLst>
                    <a:ext uri="{9D8B030D-6E8A-4147-A177-3AD203B41FA5}">
                      <a16:colId xmlns:a16="http://schemas.microsoft.com/office/drawing/2014/main" val="20000"/>
                    </a:ext>
                  </a:extLst>
                </a:gridCol>
                <a:gridCol w="1835681">
                  <a:extLst>
                    <a:ext uri="{9D8B030D-6E8A-4147-A177-3AD203B41FA5}">
                      <a16:colId xmlns:a16="http://schemas.microsoft.com/office/drawing/2014/main" val="20001"/>
                    </a:ext>
                  </a:extLst>
                </a:gridCol>
                <a:gridCol w="1835681">
                  <a:extLst>
                    <a:ext uri="{9D8B030D-6E8A-4147-A177-3AD203B41FA5}">
                      <a16:colId xmlns:a16="http://schemas.microsoft.com/office/drawing/2014/main" val="20002"/>
                    </a:ext>
                  </a:extLst>
                </a:gridCol>
                <a:gridCol w="1835681">
                  <a:extLst>
                    <a:ext uri="{9D8B030D-6E8A-4147-A177-3AD203B41FA5}">
                      <a16:colId xmlns:a16="http://schemas.microsoft.com/office/drawing/2014/main" val="20003"/>
                    </a:ext>
                  </a:extLst>
                </a:gridCol>
                <a:gridCol w="1835681">
                  <a:extLst>
                    <a:ext uri="{9D8B030D-6E8A-4147-A177-3AD203B41FA5}">
                      <a16:colId xmlns:a16="http://schemas.microsoft.com/office/drawing/2014/main" val="20004"/>
                    </a:ext>
                  </a:extLst>
                </a:gridCol>
              </a:tblGrid>
              <a:tr h="542047">
                <a:tc>
                  <a:txBody>
                    <a:bodyPr/>
                    <a:lstStyle/>
                    <a:p>
                      <a:pPr algn="ctr"/>
                      <a:r>
                        <a:rPr lang="en-US" dirty="0">
                          <a:latin typeface="Times New Roman" panose="02020603050405020304" pitchFamily="18" charset="0"/>
                          <a:cs typeface="Times New Roman" panose="02020603050405020304" pitchFamily="18" charset="0"/>
                        </a:rPr>
                        <a:t>Column Name </a:t>
                      </a:r>
                    </a:p>
                  </a:txBody>
                  <a:tcPr/>
                </a:tc>
                <a:tc>
                  <a:txBody>
                    <a:bodyPr/>
                    <a:lstStyle/>
                    <a:p>
                      <a:pPr algn="ctr"/>
                      <a:r>
                        <a:rPr lang="en-US" dirty="0">
                          <a:latin typeface="Times New Roman" panose="02020603050405020304" pitchFamily="18" charset="0"/>
                          <a:cs typeface="Times New Roman" panose="02020603050405020304" pitchFamily="18" charset="0"/>
                        </a:rPr>
                        <a:t>Data Type</a:t>
                      </a:r>
                    </a:p>
                  </a:txBody>
                  <a:tcPr/>
                </a:tc>
                <a:tc>
                  <a:txBody>
                    <a:bodyPr/>
                    <a:lstStyle/>
                    <a:p>
                      <a:pPr algn="ctr"/>
                      <a:r>
                        <a:rPr lang="en-US" dirty="0">
                          <a:latin typeface="Times New Roman" panose="02020603050405020304" pitchFamily="18" charset="0"/>
                          <a:cs typeface="Times New Roman" panose="02020603050405020304" pitchFamily="18" charset="0"/>
                        </a:rPr>
                        <a:t>Data Size</a:t>
                      </a:r>
                    </a:p>
                  </a:txBody>
                  <a:tcPr/>
                </a:tc>
                <a:tc>
                  <a:txBody>
                    <a:bodyPr/>
                    <a:lstStyle/>
                    <a:p>
                      <a:pPr algn="ctr"/>
                      <a:r>
                        <a:rPr lang="en-US" dirty="0">
                          <a:latin typeface="Times New Roman" panose="02020603050405020304" pitchFamily="18" charset="0"/>
                          <a:cs typeface="Times New Roman" panose="02020603050405020304" pitchFamily="18" charset="0"/>
                        </a:rPr>
                        <a:t>Constrains</a:t>
                      </a:r>
                    </a:p>
                  </a:txBody>
                  <a:tcPr/>
                </a:tc>
                <a:tc>
                  <a:txBody>
                    <a:bodyPr/>
                    <a:lstStyle/>
                    <a:p>
                      <a:pPr algn="ctr"/>
                      <a:r>
                        <a:rPr lang="en-US"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10000"/>
                  </a:ext>
                </a:extLst>
              </a:tr>
              <a:tr h="685030">
                <a:tc>
                  <a:txBody>
                    <a:bodyPr/>
                    <a:lstStyle/>
                    <a:p>
                      <a:pPr algn="ctr"/>
                      <a:r>
                        <a:rPr lang="en-US" dirty="0" err="1">
                          <a:latin typeface="Times New Roman" panose="02020603050405020304" pitchFamily="18" charset="0"/>
                          <a:cs typeface="Times New Roman" panose="02020603050405020304" pitchFamily="18" charset="0"/>
                        </a:rPr>
                        <a:t>Consumer_id</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err="1">
                          <a:latin typeface="Times New Roman" panose="02020603050405020304" pitchFamily="18" charset="0"/>
                          <a:cs typeface="Times New Roman" panose="02020603050405020304" pitchFamily="18" charset="0"/>
                        </a:rPr>
                        <a:t>Int</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11</a:t>
                      </a:r>
                    </a:p>
                  </a:txBody>
                  <a:tcPr/>
                </a:tc>
                <a:tc>
                  <a:txBody>
                    <a:bodyPr/>
                    <a:lstStyle/>
                    <a:p>
                      <a:pPr algn="ctr"/>
                      <a:r>
                        <a:rPr lang="en-US" dirty="0">
                          <a:latin typeface="Times New Roman" panose="02020603050405020304" pitchFamily="18" charset="0"/>
                          <a:cs typeface="Times New Roman" panose="02020603050405020304" pitchFamily="18" charset="0"/>
                        </a:rPr>
                        <a:t>Primary Key</a:t>
                      </a:r>
                    </a:p>
                  </a:txBody>
                  <a:tcPr/>
                </a:tc>
                <a:tc>
                  <a:txBody>
                    <a:bodyPr/>
                    <a:lstStyle/>
                    <a:p>
                      <a:pPr algn="ctr"/>
                      <a:r>
                        <a:rPr lang="en-US" dirty="0">
                          <a:latin typeface="Times New Roman" panose="02020603050405020304" pitchFamily="18" charset="0"/>
                          <a:cs typeface="Times New Roman" panose="02020603050405020304" pitchFamily="18" charset="0"/>
                        </a:rPr>
                        <a:t>Unique ID for each consumer</a:t>
                      </a:r>
                    </a:p>
                  </a:txBody>
                  <a:tcPr/>
                </a:tc>
                <a:extLst>
                  <a:ext uri="{0D108BD9-81ED-4DB2-BD59-A6C34878D82A}">
                    <a16:rowId xmlns:a16="http://schemas.microsoft.com/office/drawing/2014/main" val="10001"/>
                  </a:ext>
                </a:extLst>
              </a:tr>
              <a:tr h="685030">
                <a:tc>
                  <a:txBody>
                    <a:bodyPr/>
                    <a:lstStyle/>
                    <a:p>
                      <a:pPr algn="ctr"/>
                      <a:r>
                        <a:rPr lang="en-US" dirty="0">
                          <a:latin typeface="Times New Roman" panose="02020603050405020304" pitchFamily="18" charset="0"/>
                          <a:cs typeface="Times New Roman" panose="02020603050405020304" pitchFamily="18" charset="0"/>
                        </a:rPr>
                        <a:t>Name</a:t>
                      </a:r>
                      <a:r>
                        <a:rPr lang="en-US" baseline="0"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err="1">
                          <a:latin typeface="Times New Roman" panose="02020603050405020304" pitchFamily="18" charset="0"/>
                          <a:cs typeface="Times New Roman" panose="02020603050405020304" pitchFamily="18" charset="0"/>
                        </a:rPr>
                        <a:t>Varchar</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30</a:t>
                      </a:r>
                    </a:p>
                  </a:txBody>
                  <a:tcPr/>
                </a:tc>
                <a:tc>
                  <a:txBody>
                    <a:bodyPr/>
                    <a:lstStyle/>
                    <a:p>
                      <a:pPr algn="ctr"/>
                      <a:r>
                        <a:rPr lang="en-US" dirty="0">
                          <a:latin typeface="Times New Roman" panose="02020603050405020304" pitchFamily="18" charset="0"/>
                          <a:cs typeface="Times New Roman" panose="02020603050405020304" pitchFamily="18" charset="0"/>
                        </a:rPr>
                        <a:t>Not Null</a:t>
                      </a:r>
                    </a:p>
                  </a:txBody>
                  <a:tcPr/>
                </a:tc>
                <a:tc>
                  <a:txBody>
                    <a:bodyPr/>
                    <a:lstStyle/>
                    <a:p>
                      <a:pPr algn="ctr"/>
                      <a:r>
                        <a:rPr lang="en-US" dirty="0">
                          <a:latin typeface="Times New Roman" panose="02020603050405020304" pitchFamily="18" charset="0"/>
                          <a:cs typeface="Times New Roman" panose="02020603050405020304" pitchFamily="18" charset="0"/>
                        </a:rPr>
                        <a:t>Name of consumer</a:t>
                      </a:r>
                    </a:p>
                  </a:txBody>
                  <a:tcPr/>
                </a:tc>
                <a:extLst>
                  <a:ext uri="{0D108BD9-81ED-4DB2-BD59-A6C34878D82A}">
                    <a16:rowId xmlns:a16="http://schemas.microsoft.com/office/drawing/2014/main" val="10002"/>
                  </a:ext>
                </a:extLst>
              </a:tr>
              <a:tr h="685030">
                <a:tc>
                  <a:txBody>
                    <a:bodyPr/>
                    <a:lstStyle/>
                    <a:p>
                      <a:pPr algn="ctr"/>
                      <a:r>
                        <a:rPr lang="en-US" dirty="0">
                          <a:latin typeface="Times New Roman" panose="02020603050405020304" pitchFamily="18" charset="0"/>
                          <a:cs typeface="Times New Roman" panose="02020603050405020304" pitchFamily="18" charset="0"/>
                        </a:rPr>
                        <a:t>Email</a:t>
                      </a:r>
                    </a:p>
                  </a:txBody>
                  <a:tcPr/>
                </a:tc>
                <a:tc>
                  <a:txBody>
                    <a:bodyPr/>
                    <a:lstStyle/>
                    <a:p>
                      <a:pPr algn="ctr"/>
                      <a:r>
                        <a:rPr lang="en-US" dirty="0" err="1">
                          <a:latin typeface="Times New Roman" panose="02020603050405020304" pitchFamily="18" charset="0"/>
                          <a:cs typeface="Times New Roman" panose="02020603050405020304" pitchFamily="18" charset="0"/>
                        </a:rPr>
                        <a:t>Varchar</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30</a:t>
                      </a:r>
                    </a:p>
                  </a:txBody>
                  <a:tcPr/>
                </a:tc>
                <a:tc>
                  <a:txBody>
                    <a:bodyPr/>
                    <a:lstStyle/>
                    <a:p>
                      <a:pPr algn="ctr"/>
                      <a:r>
                        <a:rPr lang="en-US" dirty="0">
                          <a:latin typeface="Times New Roman" panose="02020603050405020304" pitchFamily="18" charset="0"/>
                          <a:cs typeface="Times New Roman" panose="02020603050405020304" pitchFamily="18" charset="0"/>
                        </a:rPr>
                        <a:t>Not Null</a:t>
                      </a:r>
                    </a:p>
                  </a:txBody>
                  <a:tcPr/>
                </a:tc>
                <a:tc>
                  <a:txBody>
                    <a:bodyPr/>
                    <a:lstStyle/>
                    <a:p>
                      <a:pPr algn="ctr"/>
                      <a:r>
                        <a:rPr lang="en-US" dirty="0">
                          <a:latin typeface="Times New Roman" panose="02020603050405020304" pitchFamily="18" charset="0"/>
                          <a:cs typeface="Times New Roman" panose="02020603050405020304" pitchFamily="18" charset="0"/>
                        </a:rPr>
                        <a:t>Used for login &amp; contact</a:t>
                      </a:r>
                    </a:p>
                  </a:txBody>
                  <a:tcPr/>
                </a:tc>
                <a:extLst>
                  <a:ext uri="{0D108BD9-81ED-4DB2-BD59-A6C34878D82A}">
                    <a16:rowId xmlns:a16="http://schemas.microsoft.com/office/drawing/2014/main" val="10003"/>
                  </a:ext>
                </a:extLst>
              </a:tr>
              <a:tr h="685030">
                <a:tc>
                  <a:txBody>
                    <a:bodyPr/>
                    <a:lstStyle/>
                    <a:p>
                      <a:pPr algn="ctr"/>
                      <a:r>
                        <a:rPr lang="en-US" dirty="0">
                          <a:latin typeface="Times New Roman" panose="02020603050405020304" pitchFamily="18" charset="0"/>
                          <a:cs typeface="Times New Roman" panose="02020603050405020304" pitchFamily="18" charset="0"/>
                        </a:rPr>
                        <a:t>Contact No</a:t>
                      </a:r>
                    </a:p>
                  </a:txBody>
                  <a:tcPr/>
                </a:tc>
                <a:tc>
                  <a:txBody>
                    <a:bodyPr/>
                    <a:lstStyle/>
                    <a:p>
                      <a:pPr algn="ctr"/>
                      <a:r>
                        <a:rPr lang="en-US" dirty="0" err="1">
                          <a:latin typeface="Times New Roman" panose="02020603050405020304" pitchFamily="18" charset="0"/>
                          <a:cs typeface="Times New Roman" panose="02020603050405020304" pitchFamily="18" charset="0"/>
                        </a:rPr>
                        <a:t>Int</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10</a:t>
                      </a:r>
                    </a:p>
                  </a:txBody>
                  <a:tcPr/>
                </a:tc>
                <a:tc>
                  <a:txBody>
                    <a:bodyPr/>
                    <a:lstStyle/>
                    <a:p>
                      <a:pPr algn="ctr"/>
                      <a:r>
                        <a:rPr lang="en-US" dirty="0">
                          <a:latin typeface="Times New Roman" panose="02020603050405020304" pitchFamily="18" charset="0"/>
                          <a:cs typeface="Times New Roman" panose="02020603050405020304" pitchFamily="18" charset="0"/>
                        </a:rPr>
                        <a:t>Not Null</a:t>
                      </a:r>
                    </a:p>
                  </a:txBody>
                  <a:tcPr/>
                </a:tc>
                <a:tc>
                  <a:txBody>
                    <a:bodyPr/>
                    <a:lstStyle/>
                    <a:p>
                      <a:pPr algn="ctr"/>
                      <a:r>
                        <a:rPr lang="en-US" dirty="0">
                          <a:latin typeface="Times New Roman" panose="02020603050405020304" pitchFamily="18" charset="0"/>
                          <a:cs typeface="Times New Roman" panose="02020603050405020304" pitchFamily="18" charset="0"/>
                        </a:rPr>
                        <a:t>Phone number for contact</a:t>
                      </a:r>
                    </a:p>
                  </a:txBody>
                  <a:tcPr/>
                </a:tc>
                <a:extLst>
                  <a:ext uri="{0D108BD9-81ED-4DB2-BD59-A6C34878D82A}">
                    <a16:rowId xmlns:a16="http://schemas.microsoft.com/office/drawing/2014/main" val="10004"/>
                  </a:ext>
                </a:extLst>
              </a:tr>
              <a:tr h="684315">
                <a:tc>
                  <a:txBody>
                    <a:bodyPr/>
                    <a:lstStyle/>
                    <a:p>
                      <a:pPr algn="ctr"/>
                      <a:r>
                        <a:rPr lang="en-US" dirty="0">
                          <a:latin typeface="Times New Roman" panose="02020603050405020304" pitchFamily="18" charset="0"/>
                          <a:cs typeface="Times New Roman" panose="02020603050405020304" pitchFamily="18" charset="0"/>
                        </a:rPr>
                        <a:t>Password</a:t>
                      </a:r>
                    </a:p>
                  </a:txBody>
                  <a:tcPr/>
                </a:tc>
                <a:tc>
                  <a:txBody>
                    <a:bodyPr/>
                    <a:lstStyle/>
                    <a:p>
                      <a:pPr algn="ctr"/>
                      <a:r>
                        <a:rPr lang="en-US" dirty="0" err="1">
                          <a:latin typeface="Times New Roman" panose="02020603050405020304" pitchFamily="18" charset="0"/>
                          <a:cs typeface="Times New Roman" panose="02020603050405020304" pitchFamily="18" charset="0"/>
                        </a:rPr>
                        <a:t>Varchar</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100</a:t>
                      </a:r>
                    </a:p>
                  </a:txBody>
                  <a:tcPr/>
                </a:tc>
                <a:tc>
                  <a:txBody>
                    <a:bodyPr/>
                    <a:lstStyle/>
                    <a:p>
                      <a:pPr algn="ctr"/>
                      <a:r>
                        <a:rPr lang="en-US" dirty="0">
                          <a:latin typeface="Times New Roman" panose="02020603050405020304" pitchFamily="18" charset="0"/>
                          <a:cs typeface="Times New Roman" panose="02020603050405020304" pitchFamily="18" charset="0"/>
                        </a:rPr>
                        <a:t>Not Null</a:t>
                      </a:r>
                    </a:p>
                  </a:txBody>
                  <a:tcPr/>
                </a:tc>
                <a:tc>
                  <a:txBody>
                    <a:bodyPr/>
                    <a:lstStyle/>
                    <a:p>
                      <a:pPr algn="ctr"/>
                      <a:r>
                        <a:rPr lang="en-US" dirty="0">
                          <a:latin typeface="Times New Roman" panose="02020603050405020304" pitchFamily="18" charset="0"/>
                          <a:cs typeface="Times New Roman" panose="02020603050405020304" pitchFamily="18" charset="0"/>
                        </a:rPr>
                        <a:t>For secure login</a:t>
                      </a:r>
                    </a:p>
                  </a:txBody>
                  <a:tcPr/>
                </a:tc>
                <a:extLst>
                  <a:ext uri="{0D108BD9-81ED-4DB2-BD59-A6C34878D82A}">
                    <a16:rowId xmlns:a16="http://schemas.microsoft.com/office/drawing/2014/main" val="10005"/>
                  </a:ext>
                </a:extLst>
              </a:tr>
            </a:tbl>
          </a:graphicData>
        </a:graphic>
      </p:graphicFrame>
      <p:sp>
        <p:nvSpPr>
          <p:cNvPr id="6" name="Slide Number Placeholder 5"/>
          <p:cNvSpPr>
            <a:spLocks noGrp="1"/>
          </p:cNvSpPr>
          <p:nvPr>
            <p:ph type="sldNum" sz="quarter" idx="12"/>
          </p:nvPr>
        </p:nvSpPr>
        <p:spPr/>
        <p:txBody>
          <a:bodyPr/>
          <a:lstStyle/>
          <a:p>
            <a:fld id="{D57F1E4F-1CFF-5643-939E-217C01CDF565}" type="slidenum">
              <a:rPr lang="en-US" smtClean="0"/>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0"/>
            <a:ext cx="8596668" cy="681789"/>
          </a:xfrm>
        </p:spPr>
        <p:txBody>
          <a:bodyPr/>
          <a:lstStyle/>
          <a:p>
            <a:pPr algn="ctr"/>
            <a:r>
              <a:rPr lang="en-US" b="1" dirty="0"/>
              <a:t>Farmer Table</a:t>
            </a:r>
          </a:p>
        </p:txBody>
      </p:sp>
      <p:sp>
        <p:nvSpPr>
          <p:cNvPr id="6" name="Slide Number Placeholder 5"/>
          <p:cNvSpPr>
            <a:spLocks noGrp="1"/>
          </p:cNvSpPr>
          <p:nvPr>
            <p:ph type="sldNum" sz="quarter" idx="12"/>
          </p:nvPr>
        </p:nvSpPr>
        <p:spPr/>
        <p:txBody>
          <a:bodyPr/>
          <a:lstStyle/>
          <a:p>
            <a:fld id="{D57F1E4F-1CFF-5643-939E-217C01CDF565}" type="slidenum">
              <a:rPr lang="en-US" smtClean="0"/>
              <a:t>28</a:t>
            </a:fld>
            <a:endParaRPr lang="en-US" dirty="0"/>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220143909"/>
              </p:ext>
            </p:extLst>
          </p:nvPr>
        </p:nvGraphicFramePr>
        <p:xfrm>
          <a:off x="425190" y="912376"/>
          <a:ext cx="8671104" cy="4993902"/>
        </p:xfrm>
        <a:graphic>
          <a:graphicData uri="http://schemas.openxmlformats.org/drawingml/2006/table">
            <a:tbl>
              <a:tblPr firstRow="1" bandRow="1">
                <a:tableStyleId>{5C22544A-7EE6-4342-B048-85BDC9FD1C3A}</a:tableStyleId>
              </a:tblPr>
              <a:tblGrid>
                <a:gridCol w="1750201">
                  <a:extLst>
                    <a:ext uri="{9D8B030D-6E8A-4147-A177-3AD203B41FA5}">
                      <a16:colId xmlns:a16="http://schemas.microsoft.com/office/drawing/2014/main" val="20000"/>
                    </a:ext>
                  </a:extLst>
                </a:gridCol>
                <a:gridCol w="1750201">
                  <a:extLst>
                    <a:ext uri="{9D8B030D-6E8A-4147-A177-3AD203B41FA5}">
                      <a16:colId xmlns:a16="http://schemas.microsoft.com/office/drawing/2014/main" val="20001"/>
                    </a:ext>
                  </a:extLst>
                </a:gridCol>
                <a:gridCol w="1750201">
                  <a:extLst>
                    <a:ext uri="{9D8B030D-6E8A-4147-A177-3AD203B41FA5}">
                      <a16:colId xmlns:a16="http://schemas.microsoft.com/office/drawing/2014/main" val="20002"/>
                    </a:ext>
                  </a:extLst>
                </a:gridCol>
                <a:gridCol w="1750201">
                  <a:extLst>
                    <a:ext uri="{9D8B030D-6E8A-4147-A177-3AD203B41FA5}">
                      <a16:colId xmlns:a16="http://schemas.microsoft.com/office/drawing/2014/main" val="20003"/>
                    </a:ext>
                  </a:extLst>
                </a:gridCol>
                <a:gridCol w="1670300">
                  <a:extLst>
                    <a:ext uri="{9D8B030D-6E8A-4147-A177-3AD203B41FA5}">
                      <a16:colId xmlns:a16="http://schemas.microsoft.com/office/drawing/2014/main" val="20004"/>
                    </a:ext>
                  </a:extLst>
                </a:gridCol>
              </a:tblGrid>
              <a:tr h="444973">
                <a:tc>
                  <a:txBody>
                    <a:bodyPr/>
                    <a:lstStyle/>
                    <a:p>
                      <a:pPr algn="ctr"/>
                      <a:r>
                        <a:rPr lang="en-US" dirty="0">
                          <a:latin typeface="Times New Roman" panose="02020603050405020304" pitchFamily="18" charset="0"/>
                          <a:cs typeface="Times New Roman" panose="02020603050405020304" pitchFamily="18" charset="0"/>
                        </a:rPr>
                        <a:t>Column Name</a:t>
                      </a:r>
                    </a:p>
                  </a:txBody>
                  <a:tcPr/>
                </a:tc>
                <a:tc>
                  <a:txBody>
                    <a:bodyPr/>
                    <a:lstStyle/>
                    <a:p>
                      <a:pPr algn="ctr"/>
                      <a:r>
                        <a:rPr lang="en-US" dirty="0">
                          <a:latin typeface="Times New Roman" panose="02020603050405020304" pitchFamily="18" charset="0"/>
                          <a:cs typeface="Times New Roman" panose="02020603050405020304" pitchFamily="18" charset="0"/>
                        </a:rPr>
                        <a:t>Data Type</a:t>
                      </a:r>
                    </a:p>
                  </a:txBody>
                  <a:tcPr/>
                </a:tc>
                <a:tc>
                  <a:txBody>
                    <a:bodyPr/>
                    <a:lstStyle/>
                    <a:p>
                      <a:pPr algn="ctr"/>
                      <a:r>
                        <a:rPr lang="en-US" dirty="0">
                          <a:latin typeface="Times New Roman" panose="02020603050405020304" pitchFamily="18" charset="0"/>
                          <a:cs typeface="Times New Roman" panose="02020603050405020304" pitchFamily="18" charset="0"/>
                        </a:rPr>
                        <a:t>Data Size</a:t>
                      </a:r>
                    </a:p>
                  </a:txBody>
                  <a:tcPr/>
                </a:tc>
                <a:tc>
                  <a:txBody>
                    <a:bodyPr/>
                    <a:lstStyle/>
                    <a:p>
                      <a:pPr algn="ctr"/>
                      <a:r>
                        <a:rPr lang="en-US" dirty="0">
                          <a:latin typeface="Times New Roman" panose="02020603050405020304" pitchFamily="18" charset="0"/>
                          <a:cs typeface="Times New Roman" panose="02020603050405020304" pitchFamily="18" charset="0"/>
                        </a:rPr>
                        <a:t>Constrains</a:t>
                      </a:r>
                    </a:p>
                  </a:txBody>
                  <a:tcPr/>
                </a:tc>
                <a:tc>
                  <a:txBody>
                    <a:bodyPr/>
                    <a:lstStyle/>
                    <a:p>
                      <a:pPr algn="ctr"/>
                      <a:r>
                        <a:rPr lang="en-US"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10000"/>
                  </a:ext>
                </a:extLst>
              </a:tr>
              <a:tr h="762955">
                <a:tc>
                  <a:txBody>
                    <a:bodyPr/>
                    <a:lstStyle/>
                    <a:p>
                      <a:pPr algn="ctr"/>
                      <a:r>
                        <a:rPr lang="en-US" sz="1400" dirty="0" err="1">
                          <a:latin typeface="Times New Roman" panose="02020603050405020304" pitchFamily="18" charset="0"/>
                          <a:cs typeface="Times New Roman" panose="02020603050405020304" pitchFamily="18" charset="0"/>
                        </a:rPr>
                        <a:t>Farmer_id</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err="1">
                          <a:latin typeface="Times New Roman" panose="02020603050405020304" pitchFamily="18" charset="0"/>
                          <a:cs typeface="Times New Roman" panose="02020603050405020304" pitchFamily="18" charset="0"/>
                        </a:rPr>
                        <a:t>Int</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10</a:t>
                      </a:r>
                    </a:p>
                  </a:txBody>
                  <a:tcPr/>
                </a:tc>
                <a:tc>
                  <a:txBody>
                    <a:bodyPr/>
                    <a:lstStyle/>
                    <a:p>
                      <a:pPr algn="ctr"/>
                      <a:r>
                        <a:rPr lang="en-US" sz="1400" dirty="0">
                          <a:latin typeface="Times New Roman" panose="02020603050405020304" pitchFamily="18" charset="0"/>
                          <a:cs typeface="Times New Roman" panose="02020603050405020304" pitchFamily="18" charset="0"/>
                        </a:rPr>
                        <a:t>Primary Key</a:t>
                      </a:r>
                    </a:p>
                  </a:txBody>
                  <a:tcPr/>
                </a:tc>
                <a:tc>
                  <a:txBody>
                    <a:bodyPr/>
                    <a:lstStyle/>
                    <a:p>
                      <a:pPr algn="ctr"/>
                      <a:r>
                        <a:rPr lang="en-US" sz="1400" dirty="0">
                          <a:latin typeface="Times New Roman" panose="02020603050405020304" pitchFamily="18" charset="0"/>
                          <a:cs typeface="Times New Roman" panose="02020603050405020304" pitchFamily="18" charset="0"/>
                        </a:rPr>
                        <a:t>Unique ID for each farmer</a:t>
                      </a:r>
                    </a:p>
                  </a:txBody>
                  <a:tcPr/>
                </a:tc>
                <a:extLst>
                  <a:ext uri="{0D108BD9-81ED-4DB2-BD59-A6C34878D82A}">
                    <a16:rowId xmlns:a16="http://schemas.microsoft.com/office/drawing/2014/main" val="10001"/>
                  </a:ext>
                </a:extLst>
              </a:tr>
              <a:tr h="630379">
                <a:tc>
                  <a:txBody>
                    <a:bodyPr/>
                    <a:lstStyle/>
                    <a:p>
                      <a:pPr algn="ctr"/>
                      <a:r>
                        <a:rPr lang="en-US" sz="1400" dirty="0" err="1">
                          <a:latin typeface="Times New Roman" panose="02020603050405020304" pitchFamily="18" charset="0"/>
                          <a:cs typeface="Times New Roman" panose="02020603050405020304" pitchFamily="18" charset="0"/>
                        </a:rPr>
                        <a:t>Kisan_id</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err="1">
                          <a:latin typeface="Times New Roman" panose="02020603050405020304" pitchFamily="18" charset="0"/>
                          <a:cs typeface="Times New Roman" panose="02020603050405020304" pitchFamily="18" charset="0"/>
                        </a:rPr>
                        <a:t>Int</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13   </a:t>
                      </a:r>
                    </a:p>
                  </a:txBody>
                  <a:tcPr/>
                </a:tc>
                <a:tc>
                  <a:txBody>
                    <a:bodyPr/>
                    <a:lstStyle/>
                    <a:p>
                      <a:pPr algn="ctr"/>
                      <a:r>
                        <a:rPr lang="en-US" sz="1400" dirty="0">
                          <a:latin typeface="Times New Roman" panose="02020603050405020304" pitchFamily="18" charset="0"/>
                          <a:cs typeface="Times New Roman" panose="02020603050405020304" pitchFamily="18" charset="0"/>
                        </a:rPr>
                        <a:t>Not Null</a:t>
                      </a:r>
                    </a:p>
                  </a:txBody>
                  <a:tcPr/>
                </a:tc>
                <a:tc>
                  <a:txBody>
                    <a:bodyPr/>
                    <a:lstStyle/>
                    <a:p>
                      <a:pPr algn="ctr"/>
                      <a:r>
                        <a:rPr lang="en-US" sz="1400" dirty="0" err="1">
                          <a:latin typeface="Times New Roman" panose="02020603050405020304" pitchFamily="18" charset="0"/>
                          <a:cs typeface="Times New Roman" panose="02020603050405020304" pitchFamily="18" charset="0"/>
                        </a:rPr>
                        <a:t>Govt</a:t>
                      </a:r>
                      <a:r>
                        <a:rPr lang="en-US" sz="1400" dirty="0">
                          <a:latin typeface="Times New Roman" panose="02020603050405020304" pitchFamily="18" charset="0"/>
                          <a:cs typeface="Times New Roman" panose="02020603050405020304" pitchFamily="18" charset="0"/>
                        </a:rPr>
                        <a:t> ID for farmer verification</a:t>
                      </a:r>
                    </a:p>
                  </a:txBody>
                  <a:tcPr/>
                </a:tc>
                <a:extLst>
                  <a:ext uri="{0D108BD9-81ED-4DB2-BD59-A6C34878D82A}">
                    <a16:rowId xmlns:a16="http://schemas.microsoft.com/office/drawing/2014/main" val="10002"/>
                  </a:ext>
                </a:extLst>
              </a:tr>
              <a:tr h="370811">
                <a:tc>
                  <a:txBody>
                    <a:bodyPr/>
                    <a:lstStyle/>
                    <a:p>
                      <a:pPr algn="ctr"/>
                      <a:r>
                        <a:rPr lang="en-US" sz="1400" dirty="0">
                          <a:latin typeface="Times New Roman" panose="02020603050405020304" pitchFamily="18" charset="0"/>
                          <a:cs typeface="Times New Roman" panose="02020603050405020304" pitchFamily="18" charset="0"/>
                        </a:rPr>
                        <a:t>Name</a:t>
                      </a:r>
                    </a:p>
                  </a:txBody>
                  <a:tcPr/>
                </a:tc>
                <a:tc>
                  <a:txBody>
                    <a:bodyPr/>
                    <a:lstStyle/>
                    <a:p>
                      <a:pPr algn="ctr"/>
                      <a:r>
                        <a:rPr lang="en-US" sz="1400" dirty="0" err="1">
                          <a:latin typeface="Times New Roman" panose="02020603050405020304" pitchFamily="18" charset="0"/>
                          <a:cs typeface="Times New Roman" panose="02020603050405020304" pitchFamily="18" charset="0"/>
                        </a:rPr>
                        <a:t>Varchar</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50</a:t>
                      </a:r>
                    </a:p>
                  </a:txBody>
                  <a:tcPr/>
                </a:tc>
                <a:tc>
                  <a:txBody>
                    <a:bodyPr/>
                    <a:lstStyle/>
                    <a:p>
                      <a:pPr algn="ctr"/>
                      <a:r>
                        <a:rPr lang="en-US" sz="1400" dirty="0">
                          <a:latin typeface="Times New Roman" panose="02020603050405020304" pitchFamily="18" charset="0"/>
                          <a:cs typeface="Times New Roman" panose="02020603050405020304" pitchFamily="18" charset="0"/>
                        </a:rPr>
                        <a:t>Not Null</a:t>
                      </a:r>
                    </a:p>
                  </a:txBody>
                  <a:tcPr/>
                </a:tc>
                <a:tc>
                  <a:txBody>
                    <a:bodyPr/>
                    <a:lstStyle/>
                    <a:p>
                      <a:pPr algn="ctr"/>
                      <a:r>
                        <a:rPr lang="en-US" sz="1400" dirty="0">
                          <a:latin typeface="Times New Roman" panose="02020603050405020304" pitchFamily="18" charset="0"/>
                          <a:cs typeface="Times New Roman" panose="02020603050405020304" pitchFamily="18" charset="0"/>
                        </a:rPr>
                        <a:t>Name of farmer</a:t>
                      </a:r>
                    </a:p>
                  </a:txBody>
                  <a:tcPr/>
                </a:tc>
                <a:extLst>
                  <a:ext uri="{0D108BD9-81ED-4DB2-BD59-A6C34878D82A}">
                    <a16:rowId xmlns:a16="http://schemas.microsoft.com/office/drawing/2014/main" val="10003"/>
                  </a:ext>
                </a:extLst>
              </a:tr>
              <a:tr h="630379">
                <a:tc>
                  <a:txBody>
                    <a:bodyPr/>
                    <a:lstStyle/>
                    <a:p>
                      <a:pPr algn="ctr"/>
                      <a:r>
                        <a:rPr lang="en-US" sz="1400" dirty="0">
                          <a:latin typeface="Times New Roman" panose="02020603050405020304" pitchFamily="18" charset="0"/>
                          <a:cs typeface="Times New Roman" panose="02020603050405020304" pitchFamily="18" charset="0"/>
                        </a:rPr>
                        <a:t>Email</a:t>
                      </a:r>
                    </a:p>
                  </a:txBody>
                  <a:tcPr/>
                </a:tc>
                <a:tc>
                  <a:txBody>
                    <a:bodyPr/>
                    <a:lstStyle/>
                    <a:p>
                      <a:pPr algn="ctr"/>
                      <a:r>
                        <a:rPr lang="en-US" sz="1400" dirty="0" err="1">
                          <a:latin typeface="Times New Roman" panose="02020603050405020304" pitchFamily="18" charset="0"/>
                          <a:cs typeface="Times New Roman" panose="02020603050405020304" pitchFamily="18" charset="0"/>
                        </a:rPr>
                        <a:t>Varchar</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50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Not Null</a:t>
                      </a:r>
                    </a:p>
                  </a:txBody>
                  <a:tcPr/>
                </a:tc>
                <a:tc>
                  <a:txBody>
                    <a:bodyPr/>
                    <a:lstStyle/>
                    <a:p>
                      <a:pPr algn="ctr"/>
                      <a:r>
                        <a:rPr lang="en-US" sz="1400" dirty="0">
                          <a:latin typeface="Times New Roman" panose="02020603050405020304" pitchFamily="18" charset="0"/>
                          <a:cs typeface="Times New Roman" panose="02020603050405020304" pitchFamily="18" charset="0"/>
                        </a:rPr>
                        <a:t>For login or communication</a:t>
                      </a:r>
                    </a:p>
                  </a:txBody>
                  <a:tcPr/>
                </a:tc>
                <a:extLst>
                  <a:ext uri="{0D108BD9-81ED-4DB2-BD59-A6C34878D82A}">
                    <a16:rowId xmlns:a16="http://schemas.microsoft.com/office/drawing/2014/main" val="10004"/>
                  </a:ext>
                </a:extLst>
              </a:tr>
              <a:tr h="630379">
                <a:tc>
                  <a:txBody>
                    <a:bodyPr/>
                    <a:lstStyle/>
                    <a:p>
                      <a:pPr algn="ctr"/>
                      <a:r>
                        <a:rPr lang="en-US" sz="1400" dirty="0">
                          <a:latin typeface="Times New Roman" panose="02020603050405020304" pitchFamily="18" charset="0"/>
                          <a:cs typeface="Times New Roman" panose="02020603050405020304" pitchFamily="18" charset="0"/>
                        </a:rPr>
                        <a:t>Contact</a:t>
                      </a:r>
                      <a:r>
                        <a:rPr lang="en-US" sz="1400" baseline="0" dirty="0">
                          <a:latin typeface="Times New Roman" panose="02020603050405020304" pitchFamily="18" charset="0"/>
                          <a:cs typeface="Times New Roman" panose="02020603050405020304" pitchFamily="18" charset="0"/>
                        </a:rPr>
                        <a:t> No</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err="1">
                          <a:latin typeface="Times New Roman" panose="02020603050405020304" pitchFamily="18" charset="0"/>
                          <a:cs typeface="Times New Roman" panose="02020603050405020304" pitchFamily="18" charset="0"/>
                        </a:rPr>
                        <a:t>Int</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10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Not Null</a:t>
                      </a:r>
                    </a:p>
                  </a:txBody>
                  <a:tcPr/>
                </a:tc>
                <a:tc>
                  <a:txBody>
                    <a:bodyPr/>
                    <a:lstStyle/>
                    <a:p>
                      <a:pPr algn="ctr"/>
                      <a:r>
                        <a:rPr lang="en-US" sz="1400" dirty="0">
                          <a:latin typeface="Times New Roman" panose="02020603050405020304" pitchFamily="18" charset="0"/>
                          <a:cs typeface="Times New Roman" panose="02020603050405020304" pitchFamily="18" charset="0"/>
                        </a:rPr>
                        <a:t>Farmer’s phone number</a:t>
                      </a:r>
                    </a:p>
                  </a:txBody>
                  <a:tcPr/>
                </a:tc>
                <a:extLst>
                  <a:ext uri="{0D108BD9-81ED-4DB2-BD59-A6C34878D82A}">
                    <a16:rowId xmlns:a16="http://schemas.microsoft.com/office/drawing/2014/main" val="10005"/>
                  </a:ext>
                </a:extLst>
              </a:tr>
              <a:tr h="411593">
                <a:tc>
                  <a:txBody>
                    <a:bodyPr/>
                    <a:lstStyle/>
                    <a:p>
                      <a:pPr algn="ctr"/>
                      <a:r>
                        <a:rPr lang="en-US" sz="1400" dirty="0" err="1">
                          <a:latin typeface="Times New Roman" panose="02020603050405020304" pitchFamily="18" charset="0"/>
                          <a:cs typeface="Times New Roman" panose="02020603050405020304" pitchFamily="18" charset="0"/>
                        </a:rPr>
                        <a:t>Pincode</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err="1">
                          <a:latin typeface="Times New Roman" panose="02020603050405020304" pitchFamily="18" charset="0"/>
                          <a:cs typeface="Times New Roman" panose="02020603050405020304" pitchFamily="18" charset="0"/>
                        </a:rPr>
                        <a:t>Int</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7</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Not Null</a:t>
                      </a:r>
                    </a:p>
                  </a:txBody>
                  <a:tcPr/>
                </a:tc>
                <a:tc>
                  <a:txBody>
                    <a:bodyPr/>
                    <a:lstStyle/>
                    <a:p>
                      <a:pPr algn="ctr"/>
                      <a:r>
                        <a:rPr lang="en-US" sz="1400" dirty="0">
                          <a:latin typeface="Times New Roman" panose="02020603050405020304" pitchFamily="18" charset="0"/>
                          <a:cs typeface="Times New Roman" panose="02020603050405020304" pitchFamily="18" charset="0"/>
                        </a:rPr>
                        <a:t>Farmer’s area code</a:t>
                      </a:r>
                    </a:p>
                  </a:txBody>
                  <a:tcPr/>
                </a:tc>
                <a:extLst>
                  <a:ext uri="{0D108BD9-81ED-4DB2-BD59-A6C34878D82A}">
                    <a16:rowId xmlns:a16="http://schemas.microsoft.com/office/drawing/2014/main" val="10006"/>
                  </a:ext>
                </a:extLst>
              </a:tr>
              <a:tr h="657787">
                <a:tc>
                  <a:txBody>
                    <a:bodyPr/>
                    <a:lstStyle/>
                    <a:p>
                      <a:pPr algn="ctr"/>
                      <a:r>
                        <a:rPr lang="en-US" sz="1400" dirty="0">
                          <a:latin typeface="Times New Roman" panose="02020603050405020304" pitchFamily="18" charset="0"/>
                          <a:cs typeface="Times New Roman" panose="02020603050405020304" pitchFamily="18" charset="0"/>
                        </a:rPr>
                        <a:t>Village</a:t>
                      </a:r>
                    </a:p>
                  </a:txBody>
                  <a:tcPr/>
                </a:tc>
                <a:tc>
                  <a:txBody>
                    <a:bodyPr/>
                    <a:lstStyle/>
                    <a:p>
                      <a:pPr algn="ctr"/>
                      <a:r>
                        <a:rPr lang="en-US" sz="1400" dirty="0" err="1">
                          <a:latin typeface="Times New Roman" panose="02020603050405020304" pitchFamily="18" charset="0"/>
                          <a:cs typeface="Times New Roman" panose="02020603050405020304" pitchFamily="18" charset="0"/>
                        </a:rPr>
                        <a:t>Varchar</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100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Not Null</a:t>
                      </a:r>
                    </a:p>
                  </a:txBody>
                  <a:tcPr/>
                </a:tc>
                <a:tc>
                  <a:txBody>
                    <a:bodyPr/>
                    <a:lstStyle/>
                    <a:p>
                      <a:pPr algn="ctr"/>
                      <a:r>
                        <a:rPr lang="en-US" sz="1400" dirty="0">
                          <a:latin typeface="Times New Roman" panose="02020603050405020304" pitchFamily="18" charset="0"/>
                          <a:cs typeface="Times New Roman" panose="02020603050405020304" pitchFamily="18" charset="0"/>
                        </a:rPr>
                        <a:t>Farmer’s village location</a:t>
                      </a:r>
                    </a:p>
                  </a:txBody>
                  <a:tcPr/>
                </a:tc>
                <a:extLst>
                  <a:ext uri="{0D108BD9-81ED-4DB2-BD59-A6C34878D82A}">
                    <a16:rowId xmlns:a16="http://schemas.microsoft.com/office/drawing/2014/main" val="10007"/>
                  </a:ext>
                </a:extLst>
              </a:tr>
              <a:tr h="454646">
                <a:tc>
                  <a:txBody>
                    <a:bodyPr/>
                    <a:lstStyle/>
                    <a:p>
                      <a:pPr algn="ctr"/>
                      <a:r>
                        <a:rPr lang="en-US" sz="1400" dirty="0">
                          <a:latin typeface="Times New Roman" panose="02020603050405020304" pitchFamily="18" charset="0"/>
                          <a:cs typeface="Times New Roman" panose="02020603050405020304" pitchFamily="18" charset="0"/>
                        </a:rPr>
                        <a:t>Password</a:t>
                      </a:r>
                    </a:p>
                  </a:txBody>
                  <a:tcPr/>
                </a:tc>
                <a:tc>
                  <a:txBody>
                    <a:bodyPr/>
                    <a:lstStyle/>
                    <a:p>
                      <a:pPr algn="ctr"/>
                      <a:r>
                        <a:rPr lang="en-US" sz="1400" dirty="0" err="1">
                          <a:latin typeface="Times New Roman" panose="02020603050405020304" pitchFamily="18" charset="0"/>
                          <a:cs typeface="Times New Roman" panose="02020603050405020304" pitchFamily="18" charset="0"/>
                        </a:rPr>
                        <a:t>Varchar</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100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Not Null</a:t>
                      </a:r>
                    </a:p>
                  </a:txBody>
                  <a:tcPr/>
                </a:tc>
                <a:tc>
                  <a:txBody>
                    <a:bodyPr/>
                    <a:lstStyle/>
                    <a:p>
                      <a:pPr algn="ctr"/>
                      <a:r>
                        <a:rPr lang="en-US" sz="1400" dirty="0">
                          <a:latin typeface="Times New Roman" panose="02020603050405020304" pitchFamily="18" charset="0"/>
                          <a:cs typeface="Times New Roman" panose="02020603050405020304" pitchFamily="18" charset="0"/>
                        </a:rPr>
                        <a:t>For secure login</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E024A67-BB97-9805-D059-8539F529384C}"/>
              </a:ext>
            </a:extLst>
          </p:cNvPr>
          <p:cNvSpPr>
            <a:spLocks noGrp="1"/>
          </p:cNvSpPr>
          <p:nvPr>
            <p:ph type="sldNum" sz="quarter" idx="12"/>
          </p:nvPr>
        </p:nvSpPr>
        <p:spPr/>
        <p:txBody>
          <a:bodyPr/>
          <a:lstStyle/>
          <a:p>
            <a:fld id="{D57F1E4F-1CFF-5643-939E-217C01CDF565}" type="slidenum">
              <a:rPr lang="en-US" smtClean="0"/>
              <a:t>29</a:t>
            </a:fld>
            <a:endParaRPr lang="en-US" dirty="0"/>
          </a:p>
        </p:txBody>
      </p:sp>
      <p:sp>
        <p:nvSpPr>
          <p:cNvPr id="6" name="TextBox 5">
            <a:extLst>
              <a:ext uri="{FF2B5EF4-FFF2-40B4-BE49-F238E27FC236}">
                <a16:creationId xmlns:a16="http://schemas.microsoft.com/office/drawing/2014/main" id="{A4CCDE92-8564-7E28-56EB-6AAD0FA8F488}"/>
              </a:ext>
            </a:extLst>
          </p:cNvPr>
          <p:cNvSpPr txBox="1"/>
          <p:nvPr/>
        </p:nvSpPr>
        <p:spPr>
          <a:xfrm>
            <a:off x="1953208" y="935007"/>
            <a:ext cx="6102220" cy="646331"/>
          </a:xfrm>
          <a:prstGeom prst="rect">
            <a:avLst/>
          </a:prstGeom>
          <a:solidFill>
            <a:schemeClr val="bg1"/>
          </a:solidFill>
          <a:ln>
            <a:solidFill>
              <a:schemeClr val="bg1"/>
            </a:solidFill>
          </a:ln>
        </p:spPr>
        <p:txBody>
          <a:bodyPr wrap="square">
            <a:spAutoFit/>
          </a:bodyPr>
          <a:lstStyle/>
          <a:p>
            <a:pPr algn="ctr"/>
            <a:r>
              <a:rPr lang="en-US" sz="3600" b="1" dirty="0">
                <a:solidFill>
                  <a:schemeClr val="accent1"/>
                </a:solidFill>
                <a:latin typeface="Trebuchet MS (Headings)"/>
              </a:rPr>
              <a:t>Admin</a:t>
            </a:r>
            <a:r>
              <a:rPr lang="en-US" sz="3600" b="1" dirty="0">
                <a:latin typeface="Trebuchet MS (Headings)"/>
              </a:rPr>
              <a:t> </a:t>
            </a:r>
            <a:r>
              <a:rPr lang="en-US" sz="3600" b="1" dirty="0">
                <a:solidFill>
                  <a:schemeClr val="accent1"/>
                </a:solidFill>
                <a:latin typeface="Trebuchet MS (Headings)"/>
              </a:rPr>
              <a:t>Table</a:t>
            </a:r>
            <a:endParaRPr lang="en-IN" sz="3600" b="1" dirty="0">
              <a:solidFill>
                <a:schemeClr val="accent1"/>
              </a:solidFill>
              <a:latin typeface="Trebuchet MS (Headings)"/>
            </a:endParaRPr>
          </a:p>
        </p:txBody>
      </p:sp>
      <p:graphicFrame>
        <p:nvGraphicFramePr>
          <p:cNvPr id="13" name="Table 12">
            <a:extLst>
              <a:ext uri="{FF2B5EF4-FFF2-40B4-BE49-F238E27FC236}">
                <a16:creationId xmlns:a16="http://schemas.microsoft.com/office/drawing/2014/main" id="{6B475344-2E89-FD58-3961-6FAE8E0503CC}"/>
              </a:ext>
            </a:extLst>
          </p:cNvPr>
          <p:cNvGraphicFramePr>
            <a:graphicFrameLocks noGrp="1"/>
          </p:cNvGraphicFramePr>
          <p:nvPr>
            <p:extLst>
              <p:ext uri="{D42A27DB-BD31-4B8C-83A1-F6EECF244321}">
                <p14:modId xmlns:p14="http://schemas.microsoft.com/office/powerpoint/2010/main" val="2308476987"/>
              </p:ext>
            </p:extLst>
          </p:nvPr>
        </p:nvGraphicFramePr>
        <p:xfrm>
          <a:off x="940317" y="2150393"/>
          <a:ext cx="8520924" cy="3503958"/>
        </p:xfrm>
        <a:graphic>
          <a:graphicData uri="http://schemas.openxmlformats.org/drawingml/2006/table">
            <a:tbl>
              <a:tblPr firstRow="1" bandRow="1">
                <a:tableStyleId>{5C22544A-7EE6-4342-B048-85BDC9FD1C3A}</a:tableStyleId>
              </a:tblPr>
              <a:tblGrid>
                <a:gridCol w="1762875">
                  <a:extLst>
                    <a:ext uri="{9D8B030D-6E8A-4147-A177-3AD203B41FA5}">
                      <a16:colId xmlns:a16="http://schemas.microsoft.com/office/drawing/2014/main" val="1655127353"/>
                    </a:ext>
                  </a:extLst>
                </a:gridCol>
                <a:gridCol w="1633539">
                  <a:extLst>
                    <a:ext uri="{9D8B030D-6E8A-4147-A177-3AD203B41FA5}">
                      <a16:colId xmlns:a16="http://schemas.microsoft.com/office/drawing/2014/main" val="3126200205"/>
                    </a:ext>
                  </a:extLst>
                </a:gridCol>
                <a:gridCol w="1613976">
                  <a:extLst>
                    <a:ext uri="{9D8B030D-6E8A-4147-A177-3AD203B41FA5}">
                      <a16:colId xmlns:a16="http://schemas.microsoft.com/office/drawing/2014/main" val="2682511407"/>
                    </a:ext>
                  </a:extLst>
                </a:gridCol>
                <a:gridCol w="1750920">
                  <a:extLst>
                    <a:ext uri="{9D8B030D-6E8A-4147-A177-3AD203B41FA5}">
                      <a16:colId xmlns:a16="http://schemas.microsoft.com/office/drawing/2014/main" val="3763352462"/>
                    </a:ext>
                  </a:extLst>
                </a:gridCol>
                <a:gridCol w="1759614">
                  <a:extLst>
                    <a:ext uri="{9D8B030D-6E8A-4147-A177-3AD203B41FA5}">
                      <a16:colId xmlns:a16="http://schemas.microsoft.com/office/drawing/2014/main" val="2149595370"/>
                    </a:ext>
                  </a:extLst>
                </a:gridCol>
              </a:tblGrid>
              <a:tr h="402278">
                <a:tc>
                  <a:txBody>
                    <a:bodyPr/>
                    <a:lstStyle/>
                    <a:p>
                      <a:pPr algn="ctr"/>
                      <a:r>
                        <a:rPr lang="en-US" sz="1800" dirty="0">
                          <a:latin typeface="Times New Roman" panose="02020603050405020304" pitchFamily="18" charset="0"/>
                          <a:cs typeface="Times New Roman" panose="02020603050405020304" pitchFamily="18" charset="0"/>
                        </a:rPr>
                        <a:t>Column Name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Data Type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Data Size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Constrains</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Description</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29182610"/>
                  </a:ext>
                </a:extLst>
              </a:tr>
              <a:tr h="834359">
                <a:tc>
                  <a:txBody>
                    <a:bodyPr/>
                    <a:lstStyle/>
                    <a:p>
                      <a:pPr algn="ctr"/>
                      <a:r>
                        <a:rPr lang="en-US" sz="1800" dirty="0" err="1">
                          <a:latin typeface="Times New Roman" panose="02020603050405020304" pitchFamily="18" charset="0"/>
                          <a:cs typeface="Times New Roman" panose="02020603050405020304" pitchFamily="18" charset="0"/>
                        </a:rPr>
                        <a:t>Admin_id</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4</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Primary Key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Unique identifier for each admin</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857324"/>
                  </a:ext>
                </a:extLst>
              </a:tr>
              <a:tr h="1005695">
                <a:tc>
                  <a:txBody>
                    <a:bodyPr/>
                    <a:lstStyle/>
                    <a:p>
                      <a:pPr algn="ctr"/>
                      <a:r>
                        <a:rPr lang="en-US" sz="1800" dirty="0">
                          <a:latin typeface="Times New Roman" panose="02020603050405020304" pitchFamily="18" charset="0"/>
                          <a:cs typeface="Times New Roman" panose="02020603050405020304" pitchFamily="18" charset="0"/>
                        </a:rPr>
                        <a:t>Username</a:t>
                      </a:r>
                    </a:p>
                  </a:txBody>
                  <a:tcPr/>
                </a:tc>
                <a:tc>
                  <a:txBody>
                    <a:bodyPr/>
                    <a:lstStyle/>
                    <a:p>
                      <a:pPr algn="ctr"/>
                      <a:r>
                        <a:rPr lang="en-US" sz="1800" dirty="0">
                          <a:latin typeface="Times New Roman" panose="02020603050405020304" pitchFamily="18" charset="0"/>
                          <a:cs typeface="Times New Roman" panose="02020603050405020304" pitchFamily="18" charset="0"/>
                        </a:rPr>
                        <a:t>Varchar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50</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Not Null</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Login name chosen by the admin</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21831206"/>
                  </a:ext>
                </a:extLst>
              </a:tr>
              <a:tr h="1261626">
                <a:tc>
                  <a:txBody>
                    <a:bodyPr/>
                    <a:lstStyle/>
                    <a:p>
                      <a:pPr algn="ctr"/>
                      <a:r>
                        <a:rPr lang="en-US" sz="1800" dirty="0">
                          <a:latin typeface="Times New Roman" panose="02020603050405020304" pitchFamily="18" charset="0"/>
                          <a:cs typeface="Times New Roman" panose="02020603050405020304" pitchFamily="18" charset="0"/>
                        </a:rPr>
                        <a:t>Password</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Varchar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255</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Not Null</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Stores the admin’s hashed password</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23156700"/>
                  </a:ext>
                </a:extLst>
              </a:tr>
            </a:tbl>
          </a:graphicData>
        </a:graphic>
      </p:graphicFrame>
    </p:spTree>
    <p:extLst>
      <p:ext uri="{BB962C8B-B14F-4D97-AF65-F5344CB8AC3E}">
        <p14:creationId xmlns:p14="http://schemas.microsoft.com/office/powerpoint/2010/main" val="42627607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720E36-7C5B-1220-3537-A9F40CDB6A25}"/>
              </a:ext>
            </a:extLst>
          </p:cNvPr>
          <p:cNvSpPr>
            <a:spLocks noGrp="1"/>
          </p:cNvSpPr>
          <p:nvPr>
            <p:ph type="sldNum" sz="quarter" idx="12"/>
          </p:nvPr>
        </p:nvSpPr>
        <p:spPr/>
        <p:txBody>
          <a:bodyPr/>
          <a:lstStyle/>
          <a:p>
            <a:fld id="{D57F1E4F-1CFF-5643-939E-217C01CDF565}" type="slidenum">
              <a:rPr lang="en-US" smtClean="0"/>
              <a:t>30</a:t>
            </a:fld>
            <a:endParaRPr lang="en-US" dirty="0"/>
          </a:p>
        </p:txBody>
      </p:sp>
      <p:sp>
        <p:nvSpPr>
          <p:cNvPr id="4" name="TextBox 3">
            <a:extLst>
              <a:ext uri="{FF2B5EF4-FFF2-40B4-BE49-F238E27FC236}">
                <a16:creationId xmlns:a16="http://schemas.microsoft.com/office/drawing/2014/main" id="{2F898FF4-35CB-5C72-5C1F-C69D04BA7F0F}"/>
              </a:ext>
            </a:extLst>
          </p:cNvPr>
          <p:cNvSpPr txBox="1"/>
          <p:nvPr/>
        </p:nvSpPr>
        <p:spPr>
          <a:xfrm>
            <a:off x="1960772" y="1106048"/>
            <a:ext cx="6102220" cy="646331"/>
          </a:xfrm>
          <a:prstGeom prst="rect">
            <a:avLst/>
          </a:prstGeom>
          <a:noFill/>
        </p:spPr>
        <p:txBody>
          <a:bodyPr wrap="square">
            <a:spAutoFit/>
          </a:bodyPr>
          <a:lstStyle/>
          <a:p>
            <a:pPr algn="ctr"/>
            <a:r>
              <a:rPr lang="en-US" sz="3600" b="1" dirty="0">
                <a:solidFill>
                  <a:schemeClr val="accent1"/>
                </a:solidFill>
                <a:latin typeface="+mj-lt"/>
                <a:cs typeface="Times New Roman" panose="02020603050405020304" pitchFamily="18" charset="0"/>
              </a:rPr>
              <a:t>Category Table</a:t>
            </a:r>
            <a:endParaRPr lang="en-IN" sz="3600" b="1" dirty="0">
              <a:solidFill>
                <a:schemeClr val="accent1"/>
              </a:solidFill>
              <a:latin typeface="+mj-lt"/>
              <a:cs typeface="Times New Roman" panose="02020603050405020304" pitchFamily="18" charset="0"/>
            </a:endParaRPr>
          </a:p>
        </p:txBody>
      </p:sp>
      <p:graphicFrame>
        <p:nvGraphicFramePr>
          <p:cNvPr id="7" name="Table 6">
            <a:extLst>
              <a:ext uri="{FF2B5EF4-FFF2-40B4-BE49-F238E27FC236}">
                <a16:creationId xmlns:a16="http://schemas.microsoft.com/office/drawing/2014/main" id="{1FD5639C-50F4-EFE2-94FF-CE7434891427}"/>
              </a:ext>
            </a:extLst>
          </p:cNvPr>
          <p:cNvGraphicFramePr>
            <a:graphicFrameLocks noGrp="1"/>
          </p:cNvGraphicFramePr>
          <p:nvPr>
            <p:extLst>
              <p:ext uri="{D42A27DB-BD31-4B8C-83A1-F6EECF244321}">
                <p14:modId xmlns:p14="http://schemas.microsoft.com/office/powerpoint/2010/main" val="1944252737"/>
              </p:ext>
            </p:extLst>
          </p:nvPr>
        </p:nvGraphicFramePr>
        <p:xfrm>
          <a:off x="749763" y="2304614"/>
          <a:ext cx="8524239" cy="3219107"/>
        </p:xfrm>
        <a:graphic>
          <a:graphicData uri="http://schemas.openxmlformats.org/drawingml/2006/table">
            <a:tbl>
              <a:tblPr firstRow="1" bandRow="1">
                <a:tableStyleId>{5C22544A-7EE6-4342-B048-85BDC9FD1C3A}</a:tableStyleId>
              </a:tblPr>
              <a:tblGrid>
                <a:gridCol w="1726886">
                  <a:extLst>
                    <a:ext uri="{9D8B030D-6E8A-4147-A177-3AD203B41FA5}">
                      <a16:colId xmlns:a16="http://schemas.microsoft.com/office/drawing/2014/main" val="1523823010"/>
                    </a:ext>
                  </a:extLst>
                </a:gridCol>
                <a:gridCol w="1557234">
                  <a:extLst>
                    <a:ext uri="{9D8B030D-6E8A-4147-A177-3AD203B41FA5}">
                      <a16:colId xmlns:a16="http://schemas.microsoft.com/office/drawing/2014/main" val="1297876563"/>
                    </a:ext>
                  </a:extLst>
                </a:gridCol>
                <a:gridCol w="1642060">
                  <a:extLst>
                    <a:ext uri="{9D8B030D-6E8A-4147-A177-3AD203B41FA5}">
                      <a16:colId xmlns:a16="http://schemas.microsoft.com/office/drawing/2014/main" val="2556660470"/>
                    </a:ext>
                  </a:extLst>
                </a:gridCol>
                <a:gridCol w="1642060">
                  <a:extLst>
                    <a:ext uri="{9D8B030D-6E8A-4147-A177-3AD203B41FA5}">
                      <a16:colId xmlns:a16="http://schemas.microsoft.com/office/drawing/2014/main" val="3477710049"/>
                    </a:ext>
                  </a:extLst>
                </a:gridCol>
                <a:gridCol w="1955999">
                  <a:extLst>
                    <a:ext uri="{9D8B030D-6E8A-4147-A177-3AD203B41FA5}">
                      <a16:colId xmlns:a16="http://schemas.microsoft.com/office/drawing/2014/main" val="1160506104"/>
                    </a:ext>
                  </a:extLst>
                </a:gridCol>
              </a:tblGrid>
              <a:tr h="556880">
                <a:tc>
                  <a:txBody>
                    <a:bodyPr/>
                    <a:lstStyle/>
                    <a:p>
                      <a:pPr algn="ctr"/>
                      <a:r>
                        <a:rPr lang="en-US" sz="1800" dirty="0">
                          <a:latin typeface="Times New Roman" panose="02020603050405020304" pitchFamily="18" charset="0"/>
                          <a:cs typeface="Times New Roman" panose="02020603050405020304" pitchFamily="18" charset="0"/>
                        </a:rPr>
                        <a:t>Column Name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Data Type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Data Size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Constrains</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Description</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3035249"/>
                  </a:ext>
                </a:extLst>
              </a:tr>
              <a:tr h="933794">
                <a:tc>
                  <a:txBody>
                    <a:bodyPr/>
                    <a:lstStyle/>
                    <a:p>
                      <a:pPr algn="ctr"/>
                      <a:r>
                        <a:rPr lang="en-US" sz="1800" dirty="0" err="1">
                          <a:latin typeface="Times New Roman" panose="02020603050405020304" pitchFamily="18" charset="0"/>
                          <a:cs typeface="Times New Roman" panose="02020603050405020304" pitchFamily="18" charset="0"/>
                        </a:rPr>
                        <a:t>Category_id</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4</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Primary Key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Unique ID for each category</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74010060"/>
                  </a:ext>
                </a:extLst>
              </a:tr>
              <a:tr h="856393">
                <a:tc>
                  <a:txBody>
                    <a:bodyPr/>
                    <a:lstStyle/>
                    <a:p>
                      <a:pPr algn="ctr"/>
                      <a:r>
                        <a:rPr lang="en-US" sz="1800" dirty="0" err="1">
                          <a:latin typeface="Times New Roman" panose="02020603050405020304" pitchFamily="18" charset="0"/>
                          <a:cs typeface="Times New Roman" panose="02020603050405020304" pitchFamily="18" charset="0"/>
                        </a:rPr>
                        <a:t>Product_id</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4</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Foreign Key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Links the category to a product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29129089"/>
                  </a:ext>
                </a:extLst>
              </a:tr>
              <a:tr h="872040">
                <a:tc>
                  <a:txBody>
                    <a:bodyPr/>
                    <a:lstStyle/>
                    <a:p>
                      <a:pPr algn="ctr"/>
                      <a:r>
                        <a:rPr lang="en-US" sz="1800" dirty="0" err="1">
                          <a:latin typeface="Times New Roman" panose="02020603050405020304" pitchFamily="18" charset="0"/>
                          <a:cs typeface="Times New Roman" panose="02020603050405020304" pitchFamily="18" charset="0"/>
                        </a:rPr>
                        <a:t>Category_name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Varchar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100</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Not Null</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Name of the category</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4166097"/>
                  </a:ext>
                </a:extLst>
              </a:tr>
            </a:tbl>
          </a:graphicData>
        </a:graphic>
      </p:graphicFrame>
    </p:spTree>
    <p:extLst>
      <p:ext uri="{BB962C8B-B14F-4D97-AF65-F5344CB8AC3E}">
        <p14:creationId xmlns:p14="http://schemas.microsoft.com/office/powerpoint/2010/main" val="25710445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Product Table</a:t>
            </a:r>
          </a:p>
        </p:txBody>
      </p:sp>
      <p:sp>
        <p:nvSpPr>
          <p:cNvPr id="6" name="Slide Number Placeholder 5"/>
          <p:cNvSpPr>
            <a:spLocks noGrp="1"/>
          </p:cNvSpPr>
          <p:nvPr>
            <p:ph type="sldNum" sz="quarter" idx="12"/>
          </p:nvPr>
        </p:nvSpPr>
        <p:spPr/>
        <p:txBody>
          <a:bodyPr/>
          <a:lstStyle/>
          <a:p>
            <a:fld id="{D57F1E4F-1CFF-5643-939E-217C01CDF565}" type="slidenum">
              <a:rPr lang="en-US" smtClean="0"/>
              <a:t>31</a:t>
            </a:fld>
            <a:endParaRPr lang="en-US" dirty="0"/>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785554043"/>
              </p:ext>
            </p:extLst>
          </p:nvPr>
        </p:nvGraphicFramePr>
        <p:xfrm>
          <a:off x="677863" y="2160587"/>
          <a:ext cx="8596310" cy="2767014"/>
        </p:xfrm>
        <a:graphic>
          <a:graphicData uri="http://schemas.openxmlformats.org/drawingml/2006/table">
            <a:tbl>
              <a:tblPr firstRow="1" bandRow="1">
                <a:tableStyleId>{5C22544A-7EE6-4342-B048-85BDC9FD1C3A}</a:tableStyleId>
              </a:tblPr>
              <a:tblGrid>
                <a:gridCol w="1719262">
                  <a:extLst>
                    <a:ext uri="{9D8B030D-6E8A-4147-A177-3AD203B41FA5}">
                      <a16:colId xmlns:a16="http://schemas.microsoft.com/office/drawing/2014/main" val="20000"/>
                    </a:ext>
                  </a:extLst>
                </a:gridCol>
                <a:gridCol w="1719262">
                  <a:extLst>
                    <a:ext uri="{9D8B030D-6E8A-4147-A177-3AD203B41FA5}">
                      <a16:colId xmlns:a16="http://schemas.microsoft.com/office/drawing/2014/main" val="20001"/>
                    </a:ext>
                  </a:extLst>
                </a:gridCol>
                <a:gridCol w="1719262">
                  <a:extLst>
                    <a:ext uri="{9D8B030D-6E8A-4147-A177-3AD203B41FA5}">
                      <a16:colId xmlns:a16="http://schemas.microsoft.com/office/drawing/2014/main" val="20002"/>
                    </a:ext>
                  </a:extLst>
                </a:gridCol>
                <a:gridCol w="1719262">
                  <a:extLst>
                    <a:ext uri="{9D8B030D-6E8A-4147-A177-3AD203B41FA5}">
                      <a16:colId xmlns:a16="http://schemas.microsoft.com/office/drawing/2014/main" val="20003"/>
                    </a:ext>
                  </a:extLst>
                </a:gridCol>
                <a:gridCol w="1719262">
                  <a:extLst>
                    <a:ext uri="{9D8B030D-6E8A-4147-A177-3AD203B41FA5}">
                      <a16:colId xmlns:a16="http://schemas.microsoft.com/office/drawing/2014/main" val="20004"/>
                    </a:ext>
                  </a:extLst>
                </a:gridCol>
              </a:tblGrid>
              <a:tr h="447876">
                <a:tc>
                  <a:txBody>
                    <a:bodyPr/>
                    <a:lstStyle/>
                    <a:p>
                      <a:pPr algn="ctr"/>
                      <a:r>
                        <a:rPr lang="en-US" dirty="0">
                          <a:latin typeface="Times New Roman" panose="02020603050405020304" pitchFamily="18" charset="0"/>
                          <a:cs typeface="Times New Roman" panose="02020603050405020304" pitchFamily="18" charset="0"/>
                        </a:rPr>
                        <a:t>Column Name </a:t>
                      </a:r>
                    </a:p>
                  </a:txBody>
                  <a:tcPr/>
                </a:tc>
                <a:tc>
                  <a:txBody>
                    <a:bodyPr/>
                    <a:lstStyle/>
                    <a:p>
                      <a:pPr algn="ctr"/>
                      <a:r>
                        <a:rPr lang="en-US" dirty="0">
                          <a:latin typeface="Times New Roman" panose="02020603050405020304" pitchFamily="18" charset="0"/>
                          <a:cs typeface="Times New Roman" panose="02020603050405020304" pitchFamily="18" charset="0"/>
                        </a:rPr>
                        <a:t>Data Type</a:t>
                      </a:r>
                    </a:p>
                  </a:txBody>
                  <a:tcPr/>
                </a:tc>
                <a:tc>
                  <a:txBody>
                    <a:bodyPr/>
                    <a:lstStyle/>
                    <a:p>
                      <a:pPr algn="ctr"/>
                      <a:r>
                        <a:rPr lang="en-US" dirty="0">
                          <a:latin typeface="Times New Roman" panose="02020603050405020304" pitchFamily="18" charset="0"/>
                          <a:cs typeface="Times New Roman" panose="02020603050405020304" pitchFamily="18" charset="0"/>
                        </a:rPr>
                        <a:t>Data Size</a:t>
                      </a:r>
                    </a:p>
                  </a:txBody>
                  <a:tcPr/>
                </a:tc>
                <a:tc>
                  <a:txBody>
                    <a:bodyPr/>
                    <a:lstStyle/>
                    <a:p>
                      <a:pPr algn="ctr"/>
                      <a:r>
                        <a:rPr lang="en-US" dirty="0">
                          <a:latin typeface="Times New Roman" panose="02020603050405020304" pitchFamily="18" charset="0"/>
                          <a:cs typeface="Times New Roman" panose="02020603050405020304" pitchFamily="18" charset="0"/>
                        </a:rPr>
                        <a:t>Constrains</a:t>
                      </a:r>
                    </a:p>
                  </a:txBody>
                  <a:tcPr/>
                </a:tc>
                <a:tc>
                  <a:txBody>
                    <a:bodyPr/>
                    <a:lstStyle/>
                    <a:p>
                      <a:pPr algn="ctr"/>
                      <a:r>
                        <a:rPr lang="en-US"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10000"/>
                  </a:ext>
                </a:extLst>
              </a:tr>
              <a:tr h="773046">
                <a:tc>
                  <a:txBody>
                    <a:bodyPr/>
                    <a:lstStyle/>
                    <a:p>
                      <a:pPr algn="ctr"/>
                      <a:r>
                        <a:rPr lang="en-US" dirty="0" err="1">
                          <a:latin typeface="Times New Roman" panose="02020603050405020304" pitchFamily="18" charset="0"/>
                          <a:cs typeface="Times New Roman" panose="02020603050405020304" pitchFamily="18" charset="0"/>
                        </a:rPr>
                        <a:t>Product_id</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err="1">
                          <a:latin typeface="Times New Roman" panose="02020603050405020304" pitchFamily="18" charset="0"/>
                          <a:cs typeface="Times New Roman" panose="02020603050405020304" pitchFamily="18" charset="0"/>
                        </a:rPr>
                        <a:t>Int</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10</a:t>
                      </a:r>
                    </a:p>
                  </a:txBody>
                  <a:tcPr/>
                </a:tc>
                <a:tc>
                  <a:txBody>
                    <a:bodyPr/>
                    <a:lstStyle/>
                    <a:p>
                      <a:pPr algn="ctr"/>
                      <a:r>
                        <a:rPr lang="en-US" dirty="0">
                          <a:latin typeface="Times New Roman" panose="02020603050405020304" pitchFamily="18" charset="0"/>
                          <a:cs typeface="Times New Roman" panose="02020603050405020304" pitchFamily="18" charset="0"/>
                        </a:rPr>
                        <a:t>Primary Key</a:t>
                      </a:r>
                    </a:p>
                  </a:txBody>
                  <a:tcPr/>
                </a:tc>
                <a:tc>
                  <a:txBody>
                    <a:bodyPr/>
                    <a:lstStyle/>
                    <a:p>
                      <a:pPr algn="ctr"/>
                      <a:r>
                        <a:rPr lang="en-US" dirty="0">
                          <a:latin typeface="Times New Roman" panose="02020603050405020304" pitchFamily="18" charset="0"/>
                          <a:cs typeface="Times New Roman" panose="02020603050405020304" pitchFamily="18" charset="0"/>
                        </a:rPr>
                        <a:t>Unique ID for each product</a:t>
                      </a:r>
                    </a:p>
                  </a:txBody>
                  <a:tcPr/>
                </a:tc>
                <a:extLst>
                  <a:ext uri="{0D108BD9-81ED-4DB2-BD59-A6C34878D82A}">
                    <a16:rowId xmlns:a16="http://schemas.microsoft.com/office/drawing/2014/main" val="10001"/>
                  </a:ext>
                </a:extLst>
              </a:tr>
              <a:tr h="773046">
                <a:tc>
                  <a:txBody>
                    <a:bodyPr/>
                    <a:lstStyle/>
                    <a:p>
                      <a:pPr algn="ctr"/>
                      <a:r>
                        <a:rPr lang="en-US" dirty="0" err="1">
                          <a:latin typeface="Times New Roman" panose="02020603050405020304" pitchFamily="18" charset="0"/>
                          <a:cs typeface="Times New Roman" panose="02020603050405020304" pitchFamily="18" charset="0"/>
                        </a:rPr>
                        <a:t>Farmer_id</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err="1">
                          <a:latin typeface="Times New Roman" panose="02020603050405020304" pitchFamily="18" charset="0"/>
                          <a:cs typeface="Times New Roman" panose="02020603050405020304" pitchFamily="18" charset="0"/>
                        </a:rPr>
                        <a:t>Varchar</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10</a:t>
                      </a:r>
                    </a:p>
                  </a:txBody>
                  <a:tcPr/>
                </a:tc>
                <a:tc>
                  <a:txBody>
                    <a:bodyPr/>
                    <a:lstStyle/>
                    <a:p>
                      <a:pPr algn="ctr"/>
                      <a:r>
                        <a:rPr lang="en-US" dirty="0">
                          <a:latin typeface="Times New Roman" panose="02020603050405020304" pitchFamily="18" charset="0"/>
                          <a:cs typeface="Times New Roman" panose="02020603050405020304" pitchFamily="18" charset="0"/>
                        </a:rPr>
                        <a:t>Foreign Key</a:t>
                      </a:r>
                    </a:p>
                  </a:txBody>
                  <a:tcPr/>
                </a:tc>
                <a:tc>
                  <a:txBody>
                    <a:bodyPr/>
                    <a:lstStyle/>
                    <a:p>
                      <a:pPr algn="ctr"/>
                      <a:r>
                        <a:rPr lang="en-US" dirty="0">
                          <a:latin typeface="Times New Roman" panose="02020603050405020304" pitchFamily="18" charset="0"/>
                          <a:cs typeface="Times New Roman" panose="02020603050405020304" pitchFamily="18" charset="0"/>
                        </a:rPr>
                        <a:t>Links product to farmer</a:t>
                      </a:r>
                    </a:p>
                  </a:txBody>
                  <a:tcPr/>
                </a:tc>
                <a:extLst>
                  <a:ext uri="{0D108BD9-81ED-4DB2-BD59-A6C34878D82A}">
                    <a16:rowId xmlns:a16="http://schemas.microsoft.com/office/drawing/2014/main" val="10002"/>
                  </a:ext>
                </a:extLst>
              </a:tr>
              <a:tr h="773046">
                <a:tc>
                  <a:txBody>
                    <a:bodyPr/>
                    <a:lstStyle/>
                    <a:p>
                      <a:pPr algn="ctr"/>
                      <a:r>
                        <a:rPr lang="en-US" dirty="0" err="1">
                          <a:latin typeface="Times New Roman" panose="02020603050405020304" pitchFamily="18" charset="0"/>
                          <a:cs typeface="Times New Roman" panose="02020603050405020304" pitchFamily="18" charset="0"/>
                        </a:rPr>
                        <a:t>Product_name</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err="1">
                          <a:latin typeface="Times New Roman" panose="02020603050405020304" pitchFamily="18" charset="0"/>
                          <a:cs typeface="Times New Roman" panose="02020603050405020304" pitchFamily="18" charset="0"/>
                        </a:rPr>
                        <a:t>Varchar</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100</a:t>
                      </a:r>
                    </a:p>
                  </a:txBody>
                  <a:tcPr/>
                </a:tc>
                <a:tc>
                  <a:txBody>
                    <a:bodyPr/>
                    <a:lstStyle/>
                    <a:p>
                      <a:pPr algn="ctr"/>
                      <a:r>
                        <a:rPr lang="en-US" dirty="0">
                          <a:latin typeface="Times New Roman" panose="02020603050405020304" pitchFamily="18" charset="0"/>
                          <a:cs typeface="Times New Roman" panose="02020603050405020304" pitchFamily="18" charset="0"/>
                        </a:rPr>
                        <a:t>Not Null</a:t>
                      </a:r>
                    </a:p>
                  </a:txBody>
                  <a:tcPr/>
                </a:tc>
                <a:tc>
                  <a:txBody>
                    <a:bodyPr/>
                    <a:lstStyle/>
                    <a:p>
                      <a:pPr algn="ctr"/>
                      <a:r>
                        <a:rPr lang="en-US" dirty="0">
                          <a:latin typeface="Times New Roman" panose="02020603050405020304" pitchFamily="18" charset="0"/>
                          <a:cs typeface="Times New Roman" panose="02020603050405020304" pitchFamily="18" charset="0"/>
                        </a:rPr>
                        <a:t>Product name or title</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408BDD-B51A-3900-F70C-461697CE0088}"/>
              </a:ext>
            </a:extLst>
          </p:cNvPr>
          <p:cNvSpPr>
            <a:spLocks noGrp="1"/>
          </p:cNvSpPr>
          <p:nvPr>
            <p:ph type="sldNum" sz="quarter" idx="12"/>
          </p:nvPr>
        </p:nvSpPr>
        <p:spPr/>
        <p:txBody>
          <a:bodyPr/>
          <a:lstStyle/>
          <a:p>
            <a:fld id="{D57F1E4F-1CFF-5643-939E-217C01CDF565}" type="slidenum">
              <a:rPr lang="en-US" smtClean="0"/>
              <a:t>32</a:t>
            </a:fld>
            <a:endParaRPr lang="en-US" dirty="0"/>
          </a:p>
        </p:txBody>
      </p:sp>
      <p:sp>
        <p:nvSpPr>
          <p:cNvPr id="4" name="TextBox 3">
            <a:extLst>
              <a:ext uri="{FF2B5EF4-FFF2-40B4-BE49-F238E27FC236}">
                <a16:creationId xmlns:a16="http://schemas.microsoft.com/office/drawing/2014/main" id="{24542577-8B72-A32C-29CE-17D1C4FBECD1}"/>
              </a:ext>
            </a:extLst>
          </p:cNvPr>
          <p:cNvSpPr txBox="1"/>
          <p:nvPr/>
        </p:nvSpPr>
        <p:spPr>
          <a:xfrm>
            <a:off x="1931438" y="1140281"/>
            <a:ext cx="6102220" cy="646331"/>
          </a:xfrm>
          <a:prstGeom prst="rect">
            <a:avLst/>
          </a:prstGeom>
          <a:noFill/>
        </p:spPr>
        <p:txBody>
          <a:bodyPr wrap="square">
            <a:spAutoFit/>
          </a:bodyPr>
          <a:lstStyle/>
          <a:p>
            <a:pPr algn="ctr"/>
            <a:r>
              <a:rPr lang="en-US" sz="3600" b="1" dirty="0">
                <a:solidFill>
                  <a:schemeClr val="accent1"/>
                </a:solidFill>
                <a:latin typeface="+mj-lt"/>
              </a:rPr>
              <a:t>Order Table</a:t>
            </a:r>
            <a:endParaRPr lang="en-IN" sz="3600" b="1" dirty="0">
              <a:solidFill>
                <a:schemeClr val="accent1"/>
              </a:solidFill>
              <a:latin typeface="+mj-lt"/>
            </a:endParaRPr>
          </a:p>
        </p:txBody>
      </p:sp>
      <p:graphicFrame>
        <p:nvGraphicFramePr>
          <p:cNvPr id="5" name="Table 4">
            <a:extLst>
              <a:ext uri="{FF2B5EF4-FFF2-40B4-BE49-F238E27FC236}">
                <a16:creationId xmlns:a16="http://schemas.microsoft.com/office/drawing/2014/main" id="{54D335C5-0F64-A2BE-3E68-3443F4608D3E}"/>
              </a:ext>
            </a:extLst>
          </p:cNvPr>
          <p:cNvGraphicFramePr>
            <a:graphicFrameLocks noGrp="1"/>
          </p:cNvGraphicFramePr>
          <p:nvPr>
            <p:extLst>
              <p:ext uri="{D42A27DB-BD31-4B8C-83A1-F6EECF244321}">
                <p14:modId xmlns:p14="http://schemas.microsoft.com/office/powerpoint/2010/main" val="3067457880"/>
              </p:ext>
            </p:extLst>
          </p:nvPr>
        </p:nvGraphicFramePr>
        <p:xfrm>
          <a:off x="825036" y="2406921"/>
          <a:ext cx="8448966" cy="3070148"/>
        </p:xfrm>
        <a:graphic>
          <a:graphicData uri="http://schemas.openxmlformats.org/drawingml/2006/table">
            <a:tbl>
              <a:tblPr firstRow="1" bandRow="1">
                <a:tableStyleId>{5C22544A-7EE6-4342-B048-85BDC9FD1C3A}</a:tableStyleId>
              </a:tblPr>
              <a:tblGrid>
                <a:gridCol w="1754703">
                  <a:extLst>
                    <a:ext uri="{9D8B030D-6E8A-4147-A177-3AD203B41FA5}">
                      <a16:colId xmlns:a16="http://schemas.microsoft.com/office/drawing/2014/main" val="4262173085"/>
                    </a:ext>
                  </a:extLst>
                </a:gridCol>
                <a:gridCol w="1582319">
                  <a:extLst>
                    <a:ext uri="{9D8B030D-6E8A-4147-A177-3AD203B41FA5}">
                      <a16:colId xmlns:a16="http://schemas.microsoft.com/office/drawing/2014/main" val="624099128"/>
                    </a:ext>
                  </a:extLst>
                </a:gridCol>
                <a:gridCol w="1668511">
                  <a:extLst>
                    <a:ext uri="{9D8B030D-6E8A-4147-A177-3AD203B41FA5}">
                      <a16:colId xmlns:a16="http://schemas.microsoft.com/office/drawing/2014/main" val="1391297977"/>
                    </a:ext>
                  </a:extLst>
                </a:gridCol>
                <a:gridCol w="1668511">
                  <a:extLst>
                    <a:ext uri="{9D8B030D-6E8A-4147-A177-3AD203B41FA5}">
                      <a16:colId xmlns:a16="http://schemas.microsoft.com/office/drawing/2014/main" val="2414845264"/>
                    </a:ext>
                  </a:extLst>
                </a:gridCol>
                <a:gridCol w="1774922">
                  <a:extLst>
                    <a:ext uri="{9D8B030D-6E8A-4147-A177-3AD203B41FA5}">
                      <a16:colId xmlns:a16="http://schemas.microsoft.com/office/drawing/2014/main" val="2768617596"/>
                    </a:ext>
                  </a:extLst>
                </a:gridCol>
              </a:tblGrid>
              <a:tr h="435686">
                <a:tc>
                  <a:txBody>
                    <a:bodyPr/>
                    <a:lstStyle/>
                    <a:p>
                      <a:pPr algn="ctr"/>
                      <a:r>
                        <a:rPr lang="en-US" sz="1800" dirty="0">
                          <a:latin typeface="Times New Roman" panose="02020603050405020304" pitchFamily="18" charset="0"/>
                          <a:cs typeface="Times New Roman" panose="02020603050405020304" pitchFamily="18" charset="0"/>
                        </a:rPr>
                        <a:t>Column Name</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Data Type</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Data Size</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Constrains</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Description</a:t>
                      </a:r>
                      <a:endParaRPr lang="en-IN" sz="1800" dirty="0">
                        <a:latin typeface="Times New Roman" panose="02020603050405020304" pitchFamily="18" charset="0"/>
                        <a:cs typeface="Times New Roman" panose="02020603050405020304" pitchFamily="18" charset="0"/>
                      </a:endParaRPr>
                    </a:p>
                  </a:txBody>
                  <a:tcPr marT="41564" marB="41564"/>
                </a:tc>
                <a:extLst>
                  <a:ext uri="{0D108BD9-81ED-4DB2-BD59-A6C34878D82A}">
                    <a16:rowId xmlns:a16="http://schemas.microsoft.com/office/drawing/2014/main" val="1434267643"/>
                  </a:ext>
                </a:extLst>
              </a:tr>
              <a:tr h="847618">
                <a:tc>
                  <a:txBody>
                    <a:bodyPr/>
                    <a:lstStyle/>
                    <a:p>
                      <a:pPr algn="ctr"/>
                      <a:r>
                        <a:rPr lang="en-US" sz="1800" dirty="0" err="1">
                          <a:latin typeface="Times New Roman" panose="02020603050405020304" pitchFamily="18" charset="0"/>
                          <a:cs typeface="Times New Roman" panose="02020603050405020304" pitchFamily="18" charset="0"/>
                        </a:rPr>
                        <a:t>Order_item_id</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8</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Primary Key</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Unique ID for each order item</a:t>
                      </a:r>
                      <a:endParaRPr lang="en-IN" sz="1800" dirty="0">
                        <a:latin typeface="Times New Roman" panose="02020603050405020304" pitchFamily="18" charset="0"/>
                        <a:cs typeface="Times New Roman" panose="02020603050405020304" pitchFamily="18" charset="0"/>
                      </a:endParaRPr>
                    </a:p>
                  </a:txBody>
                  <a:tcPr marT="41564" marB="41564"/>
                </a:tc>
                <a:extLst>
                  <a:ext uri="{0D108BD9-81ED-4DB2-BD59-A6C34878D82A}">
                    <a16:rowId xmlns:a16="http://schemas.microsoft.com/office/drawing/2014/main" val="4090056759"/>
                  </a:ext>
                </a:extLst>
              </a:tr>
              <a:tr h="902246">
                <a:tc>
                  <a:txBody>
                    <a:bodyPr/>
                    <a:lstStyle/>
                    <a:p>
                      <a:pPr algn="ctr"/>
                      <a:r>
                        <a:rPr lang="en-US" sz="1800" dirty="0" err="1">
                          <a:latin typeface="Times New Roman" panose="02020603050405020304" pitchFamily="18" charset="0"/>
                          <a:cs typeface="Times New Roman" panose="02020603050405020304" pitchFamily="18" charset="0"/>
                        </a:rPr>
                        <a:t>Product_id</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4</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Foreign Key</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Links the order item to a product</a:t>
                      </a:r>
                      <a:endParaRPr lang="en-IN" sz="1800" dirty="0">
                        <a:latin typeface="Times New Roman" panose="02020603050405020304" pitchFamily="18" charset="0"/>
                        <a:cs typeface="Times New Roman" panose="02020603050405020304" pitchFamily="18" charset="0"/>
                      </a:endParaRPr>
                    </a:p>
                  </a:txBody>
                  <a:tcPr marT="41564" marB="41564"/>
                </a:tc>
                <a:extLst>
                  <a:ext uri="{0D108BD9-81ED-4DB2-BD59-A6C34878D82A}">
                    <a16:rowId xmlns:a16="http://schemas.microsoft.com/office/drawing/2014/main" val="154905984"/>
                  </a:ext>
                </a:extLst>
              </a:tr>
              <a:tr h="884598">
                <a:tc>
                  <a:txBody>
                    <a:bodyPr/>
                    <a:lstStyle/>
                    <a:p>
                      <a:pPr algn="ctr"/>
                      <a:r>
                        <a:rPr lang="en-US" sz="1800" dirty="0">
                          <a:latin typeface="Times New Roman" panose="02020603050405020304" pitchFamily="18" charset="0"/>
                          <a:cs typeface="Times New Roman" panose="02020603050405020304" pitchFamily="18" charset="0"/>
                        </a:rPr>
                        <a:t>Quality</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Varchar</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20</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Not Null</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Describes the product’s quality</a:t>
                      </a:r>
                      <a:endParaRPr lang="en-IN" sz="1800" dirty="0">
                        <a:latin typeface="Times New Roman" panose="02020603050405020304" pitchFamily="18" charset="0"/>
                        <a:cs typeface="Times New Roman" panose="02020603050405020304" pitchFamily="18" charset="0"/>
                      </a:endParaRPr>
                    </a:p>
                  </a:txBody>
                  <a:tcPr marT="41564" marB="41564"/>
                </a:tc>
                <a:extLst>
                  <a:ext uri="{0D108BD9-81ED-4DB2-BD59-A6C34878D82A}">
                    <a16:rowId xmlns:a16="http://schemas.microsoft.com/office/drawing/2014/main" val="3637114985"/>
                  </a:ext>
                </a:extLst>
              </a:tr>
            </a:tbl>
          </a:graphicData>
        </a:graphic>
      </p:graphicFrame>
    </p:spTree>
    <p:extLst>
      <p:ext uri="{BB962C8B-B14F-4D97-AF65-F5344CB8AC3E}">
        <p14:creationId xmlns:p14="http://schemas.microsoft.com/office/powerpoint/2010/main" val="29596144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7F56CB-947A-558E-A6CB-F67E5A7505CE}"/>
              </a:ext>
            </a:extLst>
          </p:cNvPr>
          <p:cNvSpPr>
            <a:spLocks noGrp="1"/>
          </p:cNvSpPr>
          <p:nvPr>
            <p:ph type="sldNum" sz="quarter" idx="12"/>
          </p:nvPr>
        </p:nvSpPr>
        <p:spPr/>
        <p:txBody>
          <a:bodyPr/>
          <a:lstStyle/>
          <a:p>
            <a:fld id="{D57F1E4F-1CFF-5643-939E-217C01CDF565}" type="slidenum">
              <a:rPr lang="en-US" smtClean="0"/>
              <a:t>33</a:t>
            </a:fld>
            <a:endParaRPr lang="en-US" dirty="0"/>
          </a:p>
        </p:txBody>
      </p:sp>
      <p:sp>
        <p:nvSpPr>
          <p:cNvPr id="4" name="TextBox 3">
            <a:extLst>
              <a:ext uri="{FF2B5EF4-FFF2-40B4-BE49-F238E27FC236}">
                <a16:creationId xmlns:a16="http://schemas.microsoft.com/office/drawing/2014/main" id="{C0D8C72C-474E-938A-4E38-480EF67234CB}"/>
              </a:ext>
            </a:extLst>
          </p:cNvPr>
          <p:cNvSpPr txBox="1"/>
          <p:nvPr/>
        </p:nvSpPr>
        <p:spPr>
          <a:xfrm>
            <a:off x="2015411" y="870157"/>
            <a:ext cx="6102220" cy="646331"/>
          </a:xfrm>
          <a:prstGeom prst="rect">
            <a:avLst/>
          </a:prstGeom>
          <a:noFill/>
        </p:spPr>
        <p:txBody>
          <a:bodyPr wrap="square">
            <a:spAutoFit/>
          </a:bodyPr>
          <a:lstStyle/>
          <a:p>
            <a:pPr algn="ctr"/>
            <a:r>
              <a:rPr lang="en-US" sz="3600" b="1" dirty="0">
                <a:solidFill>
                  <a:schemeClr val="accent1"/>
                </a:solidFill>
                <a:latin typeface="+mj-lt"/>
                <a:cs typeface="Times New Roman" panose="02020603050405020304" pitchFamily="18" charset="0"/>
              </a:rPr>
              <a:t>Order Item Table</a:t>
            </a:r>
            <a:endParaRPr lang="en-IN" sz="3600" b="1" dirty="0">
              <a:solidFill>
                <a:schemeClr val="accent1"/>
              </a:solidFill>
              <a:latin typeface="+mj-lt"/>
              <a:cs typeface="Times New Roman" panose="02020603050405020304" pitchFamily="18" charset="0"/>
            </a:endParaRPr>
          </a:p>
        </p:txBody>
      </p:sp>
      <p:graphicFrame>
        <p:nvGraphicFramePr>
          <p:cNvPr id="5" name="Table 4">
            <a:extLst>
              <a:ext uri="{FF2B5EF4-FFF2-40B4-BE49-F238E27FC236}">
                <a16:creationId xmlns:a16="http://schemas.microsoft.com/office/drawing/2014/main" id="{C71DFD42-30D1-2277-6043-EC69BA616D65}"/>
              </a:ext>
            </a:extLst>
          </p:cNvPr>
          <p:cNvGraphicFramePr>
            <a:graphicFrameLocks noGrp="1"/>
          </p:cNvGraphicFramePr>
          <p:nvPr>
            <p:extLst>
              <p:ext uri="{D42A27DB-BD31-4B8C-83A1-F6EECF244321}">
                <p14:modId xmlns:p14="http://schemas.microsoft.com/office/powerpoint/2010/main" val="17842437"/>
              </p:ext>
            </p:extLst>
          </p:nvPr>
        </p:nvGraphicFramePr>
        <p:xfrm>
          <a:off x="804401" y="1874274"/>
          <a:ext cx="8524239" cy="3358968"/>
        </p:xfrm>
        <a:graphic>
          <a:graphicData uri="http://schemas.openxmlformats.org/drawingml/2006/table">
            <a:tbl>
              <a:tblPr firstRow="1" bandRow="1">
                <a:tableStyleId>{5C22544A-7EE6-4342-B048-85BDC9FD1C3A}</a:tableStyleId>
              </a:tblPr>
              <a:tblGrid>
                <a:gridCol w="1726886">
                  <a:extLst>
                    <a:ext uri="{9D8B030D-6E8A-4147-A177-3AD203B41FA5}">
                      <a16:colId xmlns:a16="http://schemas.microsoft.com/office/drawing/2014/main" val="287018413"/>
                    </a:ext>
                  </a:extLst>
                </a:gridCol>
                <a:gridCol w="1557234">
                  <a:extLst>
                    <a:ext uri="{9D8B030D-6E8A-4147-A177-3AD203B41FA5}">
                      <a16:colId xmlns:a16="http://schemas.microsoft.com/office/drawing/2014/main" val="347886091"/>
                    </a:ext>
                  </a:extLst>
                </a:gridCol>
                <a:gridCol w="1642060">
                  <a:extLst>
                    <a:ext uri="{9D8B030D-6E8A-4147-A177-3AD203B41FA5}">
                      <a16:colId xmlns:a16="http://schemas.microsoft.com/office/drawing/2014/main" val="907679033"/>
                    </a:ext>
                  </a:extLst>
                </a:gridCol>
                <a:gridCol w="1642060">
                  <a:extLst>
                    <a:ext uri="{9D8B030D-6E8A-4147-A177-3AD203B41FA5}">
                      <a16:colId xmlns:a16="http://schemas.microsoft.com/office/drawing/2014/main" val="1380169084"/>
                    </a:ext>
                  </a:extLst>
                </a:gridCol>
                <a:gridCol w="1955999">
                  <a:extLst>
                    <a:ext uri="{9D8B030D-6E8A-4147-A177-3AD203B41FA5}">
                      <a16:colId xmlns:a16="http://schemas.microsoft.com/office/drawing/2014/main" val="1218137421"/>
                    </a:ext>
                  </a:extLst>
                </a:gridCol>
              </a:tblGrid>
              <a:tr h="519320">
                <a:tc>
                  <a:txBody>
                    <a:bodyPr/>
                    <a:lstStyle/>
                    <a:p>
                      <a:pPr algn="ctr"/>
                      <a:r>
                        <a:rPr lang="en-US" sz="1800" dirty="0">
                          <a:latin typeface="Times New Roman" panose="02020603050405020304" pitchFamily="18" charset="0"/>
                          <a:cs typeface="Times New Roman" panose="02020603050405020304" pitchFamily="18" charset="0"/>
                        </a:rPr>
                        <a:t>Column Name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Data Type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Data Size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Constrains</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Description</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71270536"/>
                  </a:ext>
                </a:extLst>
              </a:tr>
              <a:tr h="870812">
                <a:tc>
                  <a:txBody>
                    <a:bodyPr/>
                    <a:lstStyle/>
                    <a:p>
                      <a:pPr algn="ctr"/>
                      <a:r>
                        <a:rPr lang="en-US" sz="1800" dirty="0" err="1">
                          <a:latin typeface="Times New Roman" panose="02020603050405020304" pitchFamily="18" charset="0"/>
                          <a:cs typeface="Times New Roman" panose="02020603050405020304" pitchFamily="18" charset="0"/>
                        </a:rPr>
                        <a:t>Order_item_id</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8</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Primary Key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Unique ID for each order item</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70730903"/>
                  </a:ext>
                </a:extLst>
              </a:tr>
              <a:tr h="872409">
                <a:tc>
                  <a:txBody>
                    <a:bodyPr/>
                    <a:lstStyle/>
                    <a:p>
                      <a:pPr algn="ctr"/>
                      <a:r>
                        <a:rPr lang="en-US" sz="1800" dirty="0" err="1">
                          <a:latin typeface="Times New Roman" panose="02020603050405020304" pitchFamily="18" charset="0"/>
                          <a:cs typeface="Times New Roman" panose="02020603050405020304" pitchFamily="18" charset="0"/>
                        </a:rPr>
                        <a:t>Order_id</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4</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Foreign Key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Links the item to a specific order</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0058409"/>
                  </a:ext>
                </a:extLst>
              </a:tr>
              <a:tr h="1096427">
                <a:tc>
                  <a:txBody>
                    <a:bodyPr/>
                    <a:lstStyle/>
                    <a:p>
                      <a:pPr algn="ctr"/>
                      <a:r>
                        <a:rPr lang="en-US" sz="1800" dirty="0">
                          <a:latin typeface="Times New Roman" panose="02020603050405020304" pitchFamily="18" charset="0"/>
                          <a:cs typeface="Times New Roman" panose="02020603050405020304" pitchFamily="18" charset="0"/>
                        </a:rPr>
                        <a:t>Quantity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3</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Not Null</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Number of units</a:t>
                      </a:r>
                    </a:p>
                    <a:p>
                      <a:pPr algn="ctr"/>
                      <a:r>
                        <a:rPr lang="en-US" sz="1800" dirty="0">
                          <a:latin typeface="Times New Roman" panose="02020603050405020304" pitchFamily="18" charset="0"/>
                          <a:cs typeface="Times New Roman" panose="02020603050405020304" pitchFamily="18" charset="0"/>
                        </a:rPr>
                        <a:t>of the product in the order</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04523294"/>
                  </a:ext>
                </a:extLst>
              </a:tr>
            </a:tbl>
          </a:graphicData>
        </a:graphic>
      </p:graphicFrame>
    </p:spTree>
    <p:extLst>
      <p:ext uri="{BB962C8B-B14F-4D97-AF65-F5344CB8AC3E}">
        <p14:creationId xmlns:p14="http://schemas.microsoft.com/office/powerpoint/2010/main" val="7146597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FBF690-4DB3-F392-52E4-24A77344BAC6}"/>
              </a:ext>
            </a:extLst>
          </p:cNvPr>
          <p:cNvSpPr>
            <a:spLocks noGrp="1"/>
          </p:cNvSpPr>
          <p:nvPr>
            <p:ph type="sldNum" sz="quarter" idx="12"/>
          </p:nvPr>
        </p:nvSpPr>
        <p:spPr/>
        <p:txBody>
          <a:bodyPr/>
          <a:lstStyle/>
          <a:p>
            <a:fld id="{D57F1E4F-1CFF-5643-939E-217C01CDF565}" type="slidenum">
              <a:rPr lang="en-US" smtClean="0"/>
              <a:t>34</a:t>
            </a:fld>
            <a:endParaRPr lang="en-US" dirty="0"/>
          </a:p>
        </p:txBody>
      </p:sp>
      <p:sp>
        <p:nvSpPr>
          <p:cNvPr id="4" name="TextBox 3">
            <a:extLst>
              <a:ext uri="{FF2B5EF4-FFF2-40B4-BE49-F238E27FC236}">
                <a16:creationId xmlns:a16="http://schemas.microsoft.com/office/drawing/2014/main" id="{BEF22821-8F62-3E7B-5D23-E1830F051124}"/>
              </a:ext>
            </a:extLst>
          </p:cNvPr>
          <p:cNvSpPr txBox="1"/>
          <p:nvPr/>
        </p:nvSpPr>
        <p:spPr>
          <a:xfrm>
            <a:off x="1888872" y="421824"/>
            <a:ext cx="6102220" cy="646331"/>
          </a:xfrm>
          <a:prstGeom prst="rect">
            <a:avLst/>
          </a:prstGeom>
          <a:noFill/>
        </p:spPr>
        <p:txBody>
          <a:bodyPr wrap="square">
            <a:spAutoFit/>
          </a:bodyPr>
          <a:lstStyle/>
          <a:p>
            <a:pPr algn="ctr"/>
            <a:r>
              <a:rPr lang="en-US" sz="3600" b="1" dirty="0">
                <a:solidFill>
                  <a:schemeClr val="accent1"/>
                </a:solidFill>
                <a:latin typeface="+mj-lt"/>
                <a:cs typeface="Times New Roman" panose="02020603050405020304" pitchFamily="18" charset="0"/>
              </a:rPr>
              <a:t>Feedback Table</a:t>
            </a:r>
            <a:endParaRPr lang="en-IN" sz="3600" b="1" dirty="0">
              <a:solidFill>
                <a:schemeClr val="accent1"/>
              </a:solidFill>
              <a:latin typeface="+mj-lt"/>
              <a:cs typeface="Times New Roman" panose="02020603050405020304" pitchFamily="18" charset="0"/>
            </a:endParaRPr>
          </a:p>
        </p:txBody>
      </p:sp>
      <p:graphicFrame>
        <p:nvGraphicFramePr>
          <p:cNvPr id="5" name="Table 4">
            <a:extLst>
              <a:ext uri="{FF2B5EF4-FFF2-40B4-BE49-F238E27FC236}">
                <a16:creationId xmlns:a16="http://schemas.microsoft.com/office/drawing/2014/main" id="{C4FB8F4D-42A0-10DC-57B7-30E203766D7F}"/>
              </a:ext>
            </a:extLst>
          </p:cNvPr>
          <p:cNvGraphicFramePr>
            <a:graphicFrameLocks noGrp="1"/>
          </p:cNvGraphicFramePr>
          <p:nvPr>
            <p:extLst>
              <p:ext uri="{D42A27DB-BD31-4B8C-83A1-F6EECF244321}">
                <p14:modId xmlns:p14="http://schemas.microsoft.com/office/powerpoint/2010/main" val="2415748115"/>
              </p:ext>
            </p:extLst>
          </p:nvPr>
        </p:nvGraphicFramePr>
        <p:xfrm>
          <a:off x="677862" y="1488784"/>
          <a:ext cx="8524239" cy="3997617"/>
        </p:xfrm>
        <a:graphic>
          <a:graphicData uri="http://schemas.openxmlformats.org/drawingml/2006/table">
            <a:tbl>
              <a:tblPr firstRow="1" bandRow="1">
                <a:tableStyleId>{5C22544A-7EE6-4342-B048-85BDC9FD1C3A}</a:tableStyleId>
              </a:tblPr>
              <a:tblGrid>
                <a:gridCol w="1726886">
                  <a:extLst>
                    <a:ext uri="{9D8B030D-6E8A-4147-A177-3AD203B41FA5}">
                      <a16:colId xmlns:a16="http://schemas.microsoft.com/office/drawing/2014/main" val="2138283308"/>
                    </a:ext>
                  </a:extLst>
                </a:gridCol>
                <a:gridCol w="1557234">
                  <a:extLst>
                    <a:ext uri="{9D8B030D-6E8A-4147-A177-3AD203B41FA5}">
                      <a16:colId xmlns:a16="http://schemas.microsoft.com/office/drawing/2014/main" val="3662672715"/>
                    </a:ext>
                  </a:extLst>
                </a:gridCol>
                <a:gridCol w="1642060">
                  <a:extLst>
                    <a:ext uri="{9D8B030D-6E8A-4147-A177-3AD203B41FA5}">
                      <a16:colId xmlns:a16="http://schemas.microsoft.com/office/drawing/2014/main" val="4210538097"/>
                    </a:ext>
                  </a:extLst>
                </a:gridCol>
                <a:gridCol w="1642060">
                  <a:extLst>
                    <a:ext uri="{9D8B030D-6E8A-4147-A177-3AD203B41FA5}">
                      <a16:colId xmlns:a16="http://schemas.microsoft.com/office/drawing/2014/main" val="1298600564"/>
                    </a:ext>
                  </a:extLst>
                </a:gridCol>
                <a:gridCol w="1955999">
                  <a:extLst>
                    <a:ext uri="{9D8B030D-6E8A-4147-A177-3AD203B41FA5}">
                      <a16:colId xmlns:a16="http://schemas.microsoft.com/office/drawing/2014/main" val="851467213"/>
                    </a:ext>
                  </a:extLst>
                </a:gridCol>
              </a:tblGrid>
              <a:tr h="541725">
                <a:tc>
                  <a:txBody>
                    <a:bodyPr/>
                    <a:lstStyle/>
                    <a:p>
                      <a:pPr algn="ctr"/>
                      <a:r>
                        <a:rPr lang="en-US" sz="1800" dirty="0">
                          <a:latin typeface="Times New Roman" panose="02020603050405020304" pitchFamily="18" charset="0"/>
                          <a:cs typeface="Times New Roman" panose="02020603050405020304" pitchFamily="18" charset="0"/>
                        </a:rPr>
                        <a:t>Column Name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Data Type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Data Size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Constrains</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Description</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65377497"/>
                  </a:ext>
                </a:extLst>
              </a:tr>
              <a:tr h="908381">
                <a:tc>
                  <a:txBody>
                    <a:bodyPr/>
                    <a:lstStyle/>
                    <a:p>
                      <a:pPr algn="ctr"/>
                      <a:r>
                        <a:rPr lang="en-US" sz="1800" dirty="0" err="1">
                          <a:latin typeface="Times New Roman" panose="02020603050405020304" pitchFamily="18" charset="0"/>
                          <a:cs typeface="Times New Roman" panose="02020603050405020304" pitchFamily="18" charset="0"/>
                        </a:rPr>
                        <a:t>Feedback_id</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8</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Primary Key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Unique ID for each feedback entry</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05638544"/>
                  </a:ext>
                </a:extLst>
              </a:tr>
              <a:tr h="1403781">
                <a:tc>
                  <a:txBody>
                    <a:bodyPr/>
                    <a:lstStyle/>
                    <a:p>
                      <a:pPr algn="ctr"/>
                      <a:r>
                        <a:rPr lang="en-US" sz="1800" dirty="0" err="1">
                          <a:latin typeface="Times New Roman" panose="02020603050405020304" pitchFamily="18" charset="0"/>
                          <a:cs typeface="Times New Roman" panose="02020603050405020304" pitchFamily="18" charset="0"/>
                        </a:rPr>
                        <a:t>Consumer_id</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4</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Foreign Key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Identifies which consumer submitted the feedback</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6614745"/>
                  </a:ext>
                </a:extLst>
              </a:tr>
              <a:tr h="1143730">
                <a:tc>
                  <a:txBody>
                    <a:bodyPr/>
                    <a:lstStyle/>
                    <a:p>
                      <a:pPr algn="ctr"/>
                      <a:r>
                        <a:rPr lang="en-US" sz="1800" dirty="0">
                          <a:latin typeface="Times New Roman" panose="02020603050405020304" pitchFamily="18" charset="0"/>
                          <a:cs typeface="Times New Roman" panose="02020603050405020304" pitchFamily="18" charset="0"/>
                        </a:rPr>
                        <a:t>Message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Varchar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500</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Not Null</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The feedback text written by the consumer</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87233915"/>
                  </a:ext>
                </a:extLst>
              </a:tr>
            </a:tbl>
          </a:graphicData>
        </a:graphic>
      </p:graphicFrame>
    </p:spTree>
    <p:extLst>
      <p:ext uri="{BB962C8B-B14F-4D97-AF65-F5344CB8AC3E}">
        <p14:creationId xmlns:p14="http://schemas.microsoft.com/office/powerpoint/2010/main" val="3103513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4690" y="2828290"/>
            <a:ext cx="8596630" cy="600710"/>
          </a:xfrm>
        </p:spPr>
        <p:txBody>
          <a:bodyPr>
            <a:normAutofit fontScale="90000"/>
          </a:bodyPr>
          <a:lstStyle/>
          <a:p>
            <a:pPr algn="ctr"/>
            <a:r>
              <a:rPr lang="en-US" altLang="en-GB" sz="4000" b="1"/>
              <a:t>Flow Chart</a:t>
            </a:r>
          </a:p>
        </p:txBody>
      </p:sp>
      <p:sp>
        <p:nvSpPr>
          <p:cNvPr id="6" name="Slide Number Placeholder 5"/>
          <p:cNvSpPr>
            <a:spLocks noGrp="1"/>
          </p:cNvSpPr>
          <p:nvPr>
            <p:ph type="sldNum" sz="quarter" idx="12"/>
          </p:nvPr>
        </p:nvSpPr>
        <p:spPr/>
        <p:txBody>
          <a:bodyPr/>
          <a:lstStyle/>
          <a:p>
            <a:fld id="{D57F1E4F-1CFF-5643-939E-217C01CDF565}" type="slidenum">
              <a:rPr lang="en-US" dirty="0"/>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57F1E4F-1CFF-5643-939E-217C01CDF565}" type="slidenum">
              <a:rPr lang="en-US" smtClean="0"/>
              <a:t>36</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5916" y="216567"/>
            <a:ext cx="4945186" cy="637673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9765" y="2847340"/>
            <a:ext cx="8596630" cy="581660"/>
          </a:xfrm>
        </p:spPr>
        <p:txBody>
          <a:bodyPr>
            <a:normAutofit fontScale="90000"/>
          </a:bodyPr>
          <a:lstStyle/>
          <a:p>
            <a:pPr algn="ctr" defTabSz="457200">
              <a:tabLst>
                <a:tab pos="1143000" algn="l"/>
              </a:tabLst>
            </a:pPr>
            <a:r>
              <a:rPr lang="en-US" sz="4000" b="1" dirty="0"/>
              <a:t>Unified Modelling Language</a:t>
            </a:r>
          </a:p>
        </p:txBody>
      </p:sp>
      <p:sp>
        <p:nvSpPr>
          <p:cNvPr id="6" name="Slide Number Placeholder 5"/>
          <p:cNvSpPr>
            <a:spLocks noGrp="1"/>
          </p:cNvSpPr>
          <p:nvPr>
            <p:ph type="sldNum" sz="quarter" idx="12"/>
          </p:nvPr>
        </p:nvSpPr>
        <p:spPr/>
        <p:txBody>
          <a:bodyPr/>
          <a:lstStyle/>
          <a:p>
            <a:fld id="{D57F1E4F-1CFF-5643-939E-217C01CDF565}" type="slidenum">
              <a:rPr lang="en-US" smtClean="0"/>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715" y="2801620"/>
            <a:ext cx="8596630" cy="627380"/>
          </a:xfrm>
        </p:spPr>
        <p:txBody>
          <a:bodyPr>
            <a:normAutofit fontScale="90000"/>
          </a:bodyPr>
          <a:lstStyle/>
          <a:p>
            <a:pPr algn="ctr"/>
            <a:r>
              <a:rPr lang="en-US" sz="4000" b="1" dirty="0"/>
              <a:t>Use Case Diagram</a:t>
            </a:r>
          </a:p>
        </p:txBody>
      </p:sp>
      <p:sp>
        <p:nvSpPr>
          <p:cNvPr id="6" name="Slide Number Placeholder 5"/>
          <p:cNvSpPr>
            <a:spLocks noGrp="1"/>
          </p:cNvSpPr>
          <p:nvPr>
            <p:ph type="sldNum" sz="quarter" idx="12"/>
          </p:nvPr>
        </p:nvSpPr>
        <p:spPr/>
        <p:txBody>
          <a:bodyPr/>
          <a:lstStyle/>
          <a:p>
            <a:fld id="{D57F1E4F-1CFF-5643-939E-217C01CDF565}" type="slidenum">
              <a:rPr lang="en-US" smtClean="0"/>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0805" y="2748915"/>
            <a:ext cx="8596630" cy="680085"/>
          </a:xfrm>
        </p:spPr>
        <p:txBody>
          <a:bodyPr/>
          <a:lstStyle/>
          <a:p>
            <a:pPr algn="ctr"/>
            <a:r>
              <a:rPr lang="en-US" b="1" dirty="0">
                <a:effectLst/>
              </a:rPr>
              <a:t>Consumer Diagram</a:t>
            </a:r>
          </a:p>
        </p:txBody>
      </p:sp>
      <p:sp>
        <p:nvSpPr>
          <p:cNvPr id="6" name="Slide Number Placeholder 5"/>
          <p:cNvSpPr>
            <a:spLocks noGrp="1"/>
          </p:cNvSpPr>
          <p:nvPr>
            <p:ph type="sldNum" sz="quarter" idx="12"/>
          </p:nvPr>
        </p:nvSpPr>
        <p:spPr/>
        <p:txBody>
          <a:bodyPr/>
          <a:lstStyle/>
          <a:p>
            <a:fld id="{D57F1E4F-1CFF-5643-939E-217C01CDF565}" type="slidenum">
              <a:rPr lang="en-US" smtClean="0"/>
              <a:t>39</a:t>
            </a:fld>
            <a:endParaRPr lang="en-US" dirty="0"/>
          </a:p>
        </p:txBody>
      </p:sp>
      <p:pic>
        <p:nvPicPr>
          <p:cNvPr id="4" name="Content Placeholder 3" descr="Consumer_Usecase Diagram"/>
          <p:cNvPicPr>
            <a:picLocks noGrp="1" noChangeAspect="1"/>
          </p:cNvPicPr>
          <p:nvPr>
            <p:ph idx="1"/>
          </p:nvPr>
        </p:nvPicPr>
        <p:blipFill>
          <a:blip r:embed="rId2"/>
          <a:stretch>
            <a:fillRect/>
          </a:stretch>
        </p:blipFill>
        <p:spPr>
          <a:xfrm>
            <a:off x="5727700" y="443865"/>
            <a:ext cx="3546475" cy="559752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8195" y="2776220"/>
            <a:ext cx="8596630" cy="652780"/>
          </a:xfrm>
        </p:spPr>
        <p:txBody>
          <a:bodyPr/>
          <a:lstStyle/>
          <a:p>
            <a:pPr algn="ctr"/>
            <a:r>
              <a:rPr lang="en-US" b="1" dirty="0"/>
              <a:t>Farmer Diagram</a:t>
            </a:r>
          </a:p>
        </p:txBody>
      </p:sp>
      <p:sp>
        <p:nvSpPr>
          <p:cNvPr id="6" name="Slide Number Placeholder 5"/>
          <p:cNvSpPr>
            <a:spLocks noGrp="1"/>
          </p:cNvSpPr>
          <p:nvPr>
            <p:ph type="sldNum" sz="quarter" idx="12"/>
          </p:nvPr>
        </p:nvSpPr>
        <p:spPr/>
        <p:txBody>
          <a:bodyPr/>
          <a:lstStyle/>
          <a:p>
            <a:fld id="{D57F1E4F-1CFF-5643-939E-217C01CDF565}" type="slidenum">
              <a:rPr lang="en-US" smtClean="0"/>
              <a:t>40</a:t>
            </a:fld>
            <a:endParaRPr lang="en-US" dirty="0"/>
          </a:p>
        </p:txBody>
      </p:sp>
      <p:pic>
        <p:nvPicPr>
          <p:cNvPr id="4" name="Content Placeholder 3" descr="Farmer_Usecase Daigram"/>
          <p:cNvPicPr>
            <a:picLocks noGrp="1" noChangeAspect="1"/>
          </p:cNvPicPr>
          <p:nvPr>
            <p:ph idx="1"/>
          </p:nvPr>
        </p:nvPicPr>
        <p:blipFill>
          <a:blip r:embed="rId2"/>
          <a:stretch>
            <a:fillRect/>
          </a:stretch>
        </p:blipFill>
        <p:spPr>
          <a:xfrm>
            <a:off x="5655945" y="340995"/>
            <a:ext cx="3809365" cy="591502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t>41</a:t>
            </a:fld>
            <a:endParaRPr lang="en-US" dirty="0"/>
          </a:p>
        </p:txBody>
      </p:sp>
      <p:sp>
        <p:nvSpPr>
          <p:cNvPr id="3" name="Content Placeholder 2"/>
          <p:cNvSpPr>
            <a:spLocks noGrp="1"/>
          </p:cNvSpPr>
          <p:nvPr>
            <p:ph idx="1"/>
          </p:nvPr>
        </p:nvSpPr>
        <p:spPr/>
        <p:txBody>
          <a:bodyPr/>
          <a:lstStyle/>
          <a:p>
            <a:endParaRPr lang="en-US" dirty="0"/>
          </a:p>
          <a:p>
            <a:endParaRPr lang="en-US" dirty="0"/>
          </a:p>
          <a:p>
            <a:endParaRPr lang="en-US" dirty="0"/>
          </a:p>
        </p:txBody>
      </p:sp>
      <p:sp>
        <p:nvSpPr>
          <p:cNvPr id="2" name="Rectangle 1"/>
          <p:cNvSpPr/>
          <p:nvPr/>
        </p:nvSpPr>
        <p:spPr>
          <a:xfrm>
            <a:off x="3792345" y="2783861"/>
            <a:ext cx="3094355" cy="645160"/>
          </a:xfrm>
          <a:prstGeom prst="rect">
            <a:avLst/>
          </a:prstGeom>
        </p:spPr>
        <p:txBody>
          <a:bodyPr wrap="none">
            <a:spAutoFit/>
          </a:bodyPr>
          <a:lstStyle/>
          <a:p>
            <a:pPr algn="ctr"/>
            <a:r>
              <a:rPr lang="en-US" sz="3600" b="1" dirty="0">
                <a:solidFill>
                  <a:schemeClr val="accent1"/>
                </a:solidFill>
                <a:latin typeface="+mj-lt"/>
                <a:cs typeface="+mj-lt"/>
              </a:rPr>
              <a:t>Class Diagram</a:t>
            </a:r>
            <a:endParaRPr lang="en-IN" sz="3600" b="1" dirty="0">
              <a:solidFill>
                <a:schemeClr val="accent1"/>
              </a:solidFill>
              <a:latin typeface="+mj-lt"/>
              <a:cs typeface="+mj-l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a:t>38</a:t>
            </a:r>
          </a:p>
        </p:txBody>
      </p:sp>
      <p:pic>
        <p:nvPicPr>
          <p:cNvPr id="5" name="Content Placeholder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395" y="298620"/>
            <a:ext cx="8455937" cy="5120895"/>
          </a:xfrm>
          <a:prstGeom prst="rect">
            <a:avLst/>
          </a:prstGeom>
        </p:spPr>
      </p:pic>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11</TotalTime>
  <Words>2250</Words>
  <Application>Microsoft Office PowerPoint</Application>
  <PresentationFormat>Widescreen</PresentationFormat>
  <Paragraphs>488</Paragraphs>
  <Slides>42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Calibri</vt:lpstr>
      <vt:lpstr>Times New Roman</vt:lpstr>
      <vt:lpstr>Trebuchet MS</vt:lpstr>
      <vt:lpstr>Trebuchet MS (Headings)</vt:lpstr>
      <vt:lpstr>Wingdings 3</vt:lpstr>
      <vt:lpstr>Facet</vt:lpstr>
      <vt:lpstr>CONNECTFARMA</vt:lpstr>
      <vt:lpstr>PowerPoint Presentation</vt:lpstr>
      <vt:lpstr>INTERNAL PROJECT REPORT </vt:lpstr>
      <vt:lpstr>Project Overview</vt:lpstr>
      <vt:lpstr>Tools and Technologies</vt:lpstr>
      <vt:lpstr>About Us:</vt:lpstr>
      <vt:lpstr>Scope  </vt:lpstr>
      <vt:lpstr>Objectives</vt:lpstr>
      <vt:lpstr>Project Proposal &amp; Planning </vt:lpstr>
      <vt:lpstr>PowerPoint Presentation</vt:lpstr>
      <vt:lpstr>PowerPoint Presentation</vt:lpstr>
      <vt:lpstr> Advantages of ConnectFrama</vt:lpstr>
      <vt:lpstr>PowerPoint Presentation</vt:lpstr>
      <vt:lpstr>Proposed System</vt:lpstr>
      <vt:lpstr>PowerPoint Presentation</vt:lpstr>
      <vt:lpstr>System Requirement</vt:lpstr>
      <vt:lpstr>System User</vt:lpstr>
      <vt:lpstr>Role of User</vt:lpstr>
      <vt:lpstr>PowerPoint Presentation</vt:lpstr>
      <vt:lpstr>System Design &amp; Database Development &amp; Data Dictionary</vt:lpstr>
      <vt:lpstr>System Design</vt:lpstr>
      <vt:lpstr>PowerPoint Presentation</vt:lpstr>
      <vt:lpstr>PowerPoint Presentation</vt:lpstr>
      <vt:lpstr>System Diagram</vt:lpstr>
      <vt:lpstr>PowerPoint Presentation</vt:lpstr>
      <vt:lpstr>Database Dictionary</vt:lpstr>
      <vt:lpstr>Consumer Table</vt:lpstr>
      <vt:lpstr>Farmer Table</vt:lpstr>
      <vt:lpstr>PowerPoint Presentation</vt:lpstr>
      <vt:lpstr>PowerPoint Presentation</vt:lpstr>
      <vt:lpstr>Product Table</vt:lpstr>
      <vt:lpstr>PowerPoint Presentation</vt:lpstr>
      <vt:lpstr>PowerPoint Presentation</vt:lpstr>
      <vt:lpstr>PowerPoint Presentation</vt:lpstr>
      <vt:lpstr>Flow Chart</vt:lpstr>
      <vt:lpstr>PowerPoint Presentation</vt:lpstr>
      <vt:lpstr>Unified Modelling Language</vt:lpstr>
      <vt:lpstr>Use Case Diagram</vt:lpstr>
      <vt:lpstr>Consumer Diagram</vt:lpstr>
      <vt:lpstr>Farmer Diagram</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CONNECTFARMA</dc:title>
  <dc:creator>ADMIN</dc:creator>
  <cp:lastModifiedBy>Bhoomi Rawal</cp:lastModifiedBy>
  <cp:revision>85</cp:revision>
  <dcterms:created xsi:type="dcterms:W3CDTF">2025-08-01T09:06:00Z</dcterms:created>
  <dcterms:modified xsi:type="dcterms:W3CDTF">2025-09-03T12:34:31Z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2B113EAF0E1E4BD397DCD0B8C154106F_12</vt:lpwstr>
  </property>
  <property fmtid="{D5CDD505-2E9C-101B-9397-08002B2CF9AE}" pid="3" name="KSOProductBuildVer">
    <vt:lpwstr>2057-12.2.0.21936</vt:lpwstr>
  </property>
</Properties>
</file>