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4"/>
  </p:notesMasterIdLst>
  <p:handoutMasterIdLst>
    <p:handoutMasterId r:id="rId45"/>
  </p:handoutMasterIdLst>
  <p:sldIdLst>
    <p:sldId id="256" r:id="rId2"/>
    <p:sldId id="257" r:id="rId3"/>
    <p:sldId id="258" r:id="rId4"/>
    <p:sldId id="259" r:id="rId5"/>
    <p:sldId id="260" r:id="rId6"/>
    <p:sldId id="266" r:id="rId7"/>
    <p:sldId id="261" r:id="rId8"/>
    <p:sldId id="262" r:id="rId9"/>
    <p:sldId id="265" r:id="rId10"/>
    <p:sldId id="292" r:id="rId11"/>
    <p:sldId id="263" r:id="rId12"/>
    <p:sldId id="264" r:id="rId13"/>
    <p:sldId id="267" r:id="rId14"/>
    <p:sldId id="309" r:id="rId15"/>
    <p:sldId id="284" r:id="rId16"/>
    <p:sldId id="310" r:id="rId17"/>
    <p:sldId id="285" r:id="rId18"/>
    <p:sldId id="286" r:id="rId19"/>
    <p:sldId id="287" r:id="rId20"/>
    <p:sldId id="288" r:id="rId21"/>
    <p:sldId id="311" r:id="rId22"/>
    <p:sldId id="315" r:id="rId23"/>
    <p:sldId id="289" r:id="rId24"/>
    <p:sldId id="313" r:id="rId25"/>
    <p:sldId id="312" r:id="rId26"/>
    <p:sldId id="314" r:id="rId27"/>
    <p:sldId id="290" r:id="rId28"/>
    <p:sldId id="291" r:id="rId29"/>
    <p:sldId id="296" r:id="rId30"/>
    <p:sldId id="297" r:id="rId31"/>
    <p:sldId id="298" r:id="rId32"/>
    <p:sldId id="299" r:id="rId33"/>
    <p:sldId id="293" r:id="rId34"/>
    <p:sldId id="294" r:id="rId35"/>
    <p:sldId id="295" r:id="rId36"/>
    <p:sldId id="300" r:id="rId37"/>
    <p:sldId id="302" r:id="rId38"/>
    <p:sldId id="303" r:id="rId39"/>
    <p:sldId id="304" r:id="rId40"/>
    <p:sldId id="305" r:id="rId41"/>
    <p:sldId id="306" r:id="rId42"/>
    <p:sldId id="307"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82" d="100"/>
          <a:sy n="82"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logo</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F3C1063-F44E-4FDE-B8DF-E96E50DE6882}" type="datetime1">
              <a:rPr lang="en-US" smtClean="0"/>
              <a:t>9/3/2025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986E5B-F288-43A4-AE76-CA39DE98C5DC}"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logo</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12CA79-5F73-4360-86EA-6CD388D25513}" type="datetime1">
              <a:rPr lang="en-US" smtClean="0"/>
              <a:t>9/3/2025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348EA5-A711-4DEC-AF9A-325D601A5989}" type="slidenum">
              <a:rPr lang="en-US" smtClean="0"/>
              <a:t>‹#›</a:t>
            </a:fld>
            <a:endParaRPr lang="en-US"/>
          </a:p>
        </p:txBody>
      </p:sp>
    </p:spTree>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6348EA5-A711-4DEC-AF9A-325D601A5989}" type="slidenum">
              <a:rPr lang="en-US" smtClean="0"/>
              <a:t>1</a:t>
            </a:fld>
            <a:endParaRPr lang="en-US"/>
          </a:p>
        </p:txBody>
      </p:sp>
      <p:sp>
        <p:nvSpPr>
          <p:cNvPr id="5" name="Date Placeholder 4"/>
          <p:cNvSpPr>
            <a:spLocks noGrp="1"/>
          </p:cNvSpPr>
          <p:nvPr>
            <p:ph type="dt" idx="11"/>
          </p:nvPr>
        </p:nvSpPr>
        <p:spPr/>
        <p:txBody>
          <a:bodyPr/>
          <a:lstStyle/>
          <a:p>
            <a:fld id="{799FE09D-94B9-44F3-8EFB-6D96618005AD}" type="datetime1">
              <a:rPr lang="en-US" smtClean="0"/>
              <a:t>9/3/2025</a:t>
            </a:fld>
            <a:endParaRPr lang="en-US"/>
          </a:p>
        </p:txBody>
      </p:sp>
      <p:sp>
        <p:nvSpPr>
          <p:cNvPr id="6" name="Footer Placeholder 5"/>
          <p:cNvSpPr>
            <a:spLocks noGrp="1"/>
          </p:cNvSpPr>
          <p:nvPr>
            <p:ph type="ftr" sz="quarter" idx="12"/>
          </p:nvPr>
        </p:nvSpPr>
        <p:spPr/>
        <p:txBody>
          <a:bodyPr/>
          <a:lstStyle/>
          <a:p>
            <a:endParaRPr lang="en-US"/>
          </a:p>
        </p:txBody>
      </p:sp>
      <p:sp>
        <p:nvSpPr>
          <p:cNvPr id="7" name="Header Placeholder 6"/>
          <p:cNvSpPr>
            <a:spLocks noGrp="1"/>
          </p:cNvSpPr>
          <p:nvPr>
            <p:ph type="hdr" sz="quarter" idx="13"/>
          </p:nvPr>
        </p:nvSpPr>
        <p:spPr/>
        <p:txBody>
          <a:bodyPr/>
          <a:lstStyle/>
          <a:p>
            <a:r>
              <a:rPr lang="en-US"/>
              <a:t>logo</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pPr algn="l"/>
            <a:r>
              <a:rPr lang="en-US" dirty="0"/>
              <a:t>Bringing farms to families</a:t>
            </a:r>
          </a:p>
        </p:txBody>
      </p:sp>
      <p:sp>
        <p:nvSpPr>
          <p:cNvPr id="6" name="Slide Number Placeholder 5"/>
          <p:cNvSpPr>
            <a:spLocks noGrp="1"/>
          </p:cNvSpPr>
          <p:nvPr>
            <p:ph type="sldNum" sz="quarter" idx="12"/>
          </p:nvPr>
        </p:nvSpPr>
        <p:spPr/>
        <p:txBody>
          <a:bodyPr/>
          <a:lstStyle/>
          <a:p>
            <a:fld id="{D57F1E4F-1CFF-5643-939E-217C01CDF565}" type="slidenum">
              <a:rPr lang="en-US" smtClean="0"/>
              <a:t>1</a:t>
            </a:fld>
            <a:endParaRPr lang="en-US" dirty="0"/>
          </a:p>
        </p:txBody>
      </p:sp>
      <p:sp>
        <p:nvSpPr>
          <p:cNvPr id="15" name="Date Placeholder 3"/>
          <p:cNvSpPr>
            <a:spLocks noGrp="1"/>
          </p:cNvSpPr>
          <p:nvPr>
            <p:ph type="ctrTitle"/>
          </p:nvPr>
        </p:nvSpPr>
        <p:spPr/>
        <p:txBody>
          <a:bodyPr/>
          <a:lstStyle/>
          <a:p>
            <a:pPr algn="l"/>
            <a:r>
              <a:rPr lang="en-US" b="1" dirty="0"/>
              <a:t>CONNECTFARMA</a:t>
            </a:r>
          </a:p>
        </p:txBody>
      </p:sp>
      <p:pic>
        <p:nvPicPr>
          <p:cNvPr id="16" name="Image 1"/>
          <p:cNvPicPr/>
          <p:nvPr/>
        </p:nvPicPr>
        <p:blipFill>
          <a:blip r:embed="rId3" cstate="print"/>
          <a:stretch>
            <a:fillRect/>
          </a:stretch>
        </p:blipFill>
        <p:spPr>
          <a:xfrm>
            <a:off x="1681504" y="1835574"/>
            <a:ext cx="1388745" cy="1137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365" y="2160589"/>
            <a:ext cx="9318543" cy="3880773"/>
          </a:xfrm>
        </p:spPr>
        <p:txBody>
          <a:bodyPr>
            <a:normAutofit lnSpcReduction="10000"/>
          </a:bodyPr>
          <a:lstStyle/>
          <a:p>
            <a:r>
              <a:rPr lang="en-US" b="1" dirty="0">
                <a:latin typeface="Times New Roman" panose="02020603050405020304" pitchFamily="18" charset="0"/>
                <a:cs typeface="Times New Roman" panose="02020603050405020304" pitchFamily="18" charset="0"/>
              </a:rPr>
              <a:t>Submitted to: </a:t>
            </a:r>
            <a:r>
              <a:rPr lang="en-US" dirty="0">
                <a:latin typeface="Times New Roman" panose="02020603050405020304" pitchFamily="18" charset="0"/>
                <a:cs typeface="Times New Roman" panose="02020603050405020304" pitchFamily="18" charset="0"/>
              </a:rPr>
              <a:t>Department of Computer Applications</a:t>
            </a:r>
          </a:p>
          <a:p>
            <a:r>
              <a:rPr lang="en-US" b="1" dirty="0">
                <a:latin typeface="Times New Roman" panose="02020603050405020304" pitchFamily="18" charset="0"/>
                <a:cs typeface="Times New Roman" panose="02020603050405020304" pitchFamily="18" charset="0"/>
              </a:rPr>
              <a:t>College Name: </a:t>
            </a:r>
            <a:r>
              <a:rPr lang="en-US" dirty="0">
                <a:latin typeface="Times New Roman" panose="02020603050405020304" pitchFamily="18" charset="0"/>
                <a:cs typeface="Times New Roman" panose="02020603050405020304" pitchFamily="18" charset="0"/>
              </a:rPr>
              <a:t>JG University</a:t>
            </a:r>
          </a:p>
          <a:p>
            <a:r>
              <a:rPr lang="en-US" b="1" dirty="0">
                <a:latin typeface="Times New Roman" panose="02020603050405020304" pitchFamily="18" charset="0"/>
                <a:cs typeface="Times New Roman" panose="02020603050405020304" pitchFamily="18" charset="0"/>
              </a:rPr>
              <a:t>Course: </a:t>
            </a:r>
            <a:r>
              <a:rPr lang="en-US" u="sng" dirty="0">
                <a:latin typeface="Times New Roman" panose="02020603050405020304" pitchFamily="18" charset="0"/>
                <a:cs typeface="Times New Roman" panose="02020603050405020304" pitchFamily="18" charset="0"/>
              </a:rPr>
              <a:t>BCA Semester 5</a:t>
            </a:r>
          </a:p>
          <a:p>
            <a:r>
              <a:rPr lang="en-US" b="1" dirty="0">
                <a:latin typeface="Times New Roman" panose="02020603050405020304" pitchFamily="18" charset="0"/>
                <a:cs typeface="Times New Roman" panose="02020603050405020304" pitchFamily="18" charset="0"/>
              </a:rPr>
              <a:t>Class Mentor: </a:t>
            </a:r>
            <a:r>
              <a:rPr lang="en-US" b="1" dirty="0" err="1">
                <a:latin typeface="Times New Roman" panose="02020603050405020304" pitchFamily="18" charset="0"/>
                <a:cs typeface="Times New Roman" panose="02020603050405020304" pitchFamily="18" charset="0"/>
              </a:rPr>
              <a:t>Javani</a:t>
            </a:r>
            <a:r>
              <a:rPr lang="en-US" b="1" dirty="0">
                <a:latin typeface="Times New Roman" panose="02020603050405020304" pitchFamily="18" charset="0"/>
                <a:cs typeface="Times New Roman" panose="02020603050405020304" pitchFamily="18" charset="0"/>
              </a:rPr>
              <a:t> Shah</a:t>
            </a:r>
          </a:p>
          <a:p>
            <a:pPr marL="0" indent="0" algn="ctr">
              <a:buNone/>
            </a:pPr>
            <a:r>
              <a:rPr lang="en-US" b="1" dirty="0">
                <a:latin typeface="Times New Roman" panose="02020603050405020304" pitchFamily="18" charset="0"/>
                <a:cs typeface="Times New Roman" panose="02020603050405020304" pitchFamily="18" charset="0"/>
              </a:rPr>
              <a:t> Designed by</a:t>
            </a:r>
            <a:r>
              <a:rPr lang="en-US" dirty="0">
                <a:latin typeface="Times New Roman" panose="02020603050405020304" pitchFamily="18" charset="0"/>
                <a:cs typeface="Times New Roman" panose="02020603050405020304" pitchFamily="18" charset="0"/>
              </a:rPr>
              <a:t>:</a:t>
            </a:r>
          </a:p>
          <a:p>
            <a:pPr marL="0" indent="0" algn="ctr">
              <a:buNone/>
            </a:pPr>
            <a:r>
              <a:rPr lang="en-US" dirty="0">
                <a:latin typeface="Times New Roman" panose="02020603050405020304" pitchFamily="18" charset="0"/>
                <a:cs typeface="Times New Roman" panose="02020603050405020304" pitchFamily="18" charset="0"/>
              </a:rPr>
              <a:t>                                                                                                    1. </a:t>
            </a:r>
            <a:r>
              <a:rPr lang="en-US" dirty="0" err="1">
                <a:latin typeface="Times New Roman" panose="02020603050405020304" pitchFamily="18" charset="0"/>
                <a:cs typeface="Times New Roman" panose="02020603050405020304" pitchFamily="18" charset="0"/>
              </a:rPr>
              <a:t>Jeet</a:t>
            </a:r>
            <a:r>
              <a:rPr lang="en-US" dirty="0">
                <a:latin typeface="Times New Roman" panose="02020603050405020304" pitchFamily="18" charset="0"/>
                <a:cs typeface="Times New Roman" panose="02020603050405020304" pitchFamily="18" charset="0"/>
              </a:rPr>
              <a:t> Gandhi (1017)</a:t>
            </a:r>
          </a:p>
          <a:p>
            <a:pPr marL="0" indent="0" algn="ctr">
              <a:buNone/>
            </a:pPr>
            <a:r>
              <a:rPr lang="en-US" dirty="0">
                <a:latin typeface="Times New Roman" panose="02020603050405020304" pitchFamily="18" charset="0"/>
                <a:cs typeface="Times New Roman" panose="02020603050405020304" pitchFamily="18" charset="0"/>
              </a:rPr>
              <a:t>                                                                                                  2. </a:t>
            </a:r>
            <a:r>
              <a:rPr lang="en-US" dirty="0" err="1">
                <a:latin typeface="Times New Roman" panose="02020603050405020304" pitchFamily="18" charset="0"/>
                <a:cs typeface="Times New Roman" panose="02020603050405020304" pitchFamily="18" charset="0"/>
              </a:rPr>
              <a:t>Divy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Rawal</a:t>
            </a:r>
            <a:r>
              <a:rPr lang="en-US" dirty="0">
                <a:latin typeface="Times New Roman" panose="02020603050405020304" pitchFamily="18" charset="0"/>
                <a:cs typeface="Times New Roman" panose="02020603050405020304" pitchFamily="18" charset="0"/>
              </a:rPr>
              <a:t> (1052)</a:t>
            </a:r>
          </a:p>
          <a:p>
            <a:pPr marL="0" indent="0" algn="ctr">
              <a:buNone/>
            </a:pPr>
            <a:r>
              <a:rPr lang="en-US" dirty="0">
                <a:latin typeface="Times New Roman" panose="02020603050405020304" pitchFamily="18" charset="0"/>
                <a:cs typeface="Times New Roman" panose="02020603050405020304" pitchFamily="18" charset="0"/>
              </a:rPr>
              <a:t>                                                                                                       3.Prince </a:t>
            </a:r>
            <a:r>
              <a:rPr lang="en-US" dirty="0" err="1">
                <a:latin typeface="Times New Roman" panose="02020603050405020304" pitchFamily="18" charset="0"/>
                <a:cs typeface="Times New Roman" panose="02020603050405020304" pitchFamily="18" charset="0"/>
              </a:rPr>
              <a:t>Savaliya</a:t>
            </a:r>
            <a:r>
              <a:rPr lang="en-US" dirty="0">
                <a:latin typeface="Times New Roman" panose="02020603050405020304" pitchFamily="18" charset="0"/>
                <a:cs typeface="Times New Roman" panose="02020603050405020304" pitchFamily="18" charset="0"/>
              </a:rPr>
              <a:t> (1061)</a:t>
            </a:r>
          </a:p>
          <a:p>
            <a:pPr marL="0" indent="0" algn="ctr">
              <a:buNone/>
            </a:pPr>
            <a:r>
              <a:rPr lang="en-US" dirty="0">
                <a:latin typeface="Times New Roman" panose="02020603050405020304" pitchFamily="18" charset="0"/>
                <a:cs typeface="Times New Roman" panose="02020603050405020304" pitchFamily="18" charset="0"/>
              </a:rPr>
              <a:t>                                                                                                    4. </a:t>
            </a:r>
            <a:r>
              <a:rPr lang="en-US" dirty="0" err="1">
                <a:latin typeface="Times New Roman" panose="02020603050405020304" pitchFamily="18" charset="0"/>
                <a:cs typeface="Times New Roman" panose="02020603050405020304" pitchFamily="18" charset="0"/>
              </a:rPr>
              <a:t>Kavya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Sevak</a:t>
            </a:r>
            <a:r>
              <a:rPr lang="en-US" dirty="0">
                <a:latin typeface="Times New Roman" panose="02020603050405020304" pitchFamily="18" charset="0"/>
                <a:cs typeface="Times New Roman" panose="02020603050405020304" pitchFamily="18" charset="0"/>
              </a:rPr>
              <a:t> (1062)</a:t>
            </a:r>
          </a:p>
          <a:p>
            <a:pPr marL="0" indent="0" algn="ctr">
              <a:buNone/>
            </a:pPr>
            <a:r>
              <a:rPr lang="en-US" dirty="0">
                <a:latin typeface="Times New Roman" panose="02020603050405020304" pitchFamily="18" charset="0"/>
                <a:cs typeface="Times New Roman" panose="02020603050405020304" pitchFamily="18" charset="0"/>
              </a:rPr>
              <a:t>                                                                                                     5. </a:t>
            </a:r>
            <a:r>
              <a:rPr lang="en-US" dirty="0" err="1">
                <a:latin typeface="Times New Roman" panose="02020603050405020304" pitchFamily="18" charset="0"/>
                <a:cs typeface="Times New Roman" panose="02020603050405020304" pitchFamily="18" charset="0"/>
              </a:rPr>
              <a:t>Saiyam</a:t>
            </a:r>
            <a:r>
              <a:rPr lang="en-US" dirty="0">
                <a:latin typeface="Times New Roman" panose="02020603050405020304" pitchFamily="18" charset="0"/>
                <a:cs typeface="Times New Roman" panose="02020603050405020304" pitchFamily="18" charset="0"/>
              </a:rPr>
              <a:t> Shah (1064)</a:t>
            </a:r>
          </a:p>
        </p:txBody>
      </p:sp>
      <p:sp>
        <p:nvSpPr>
          <p:cNvPr id="6" name="Slide Number Placeholder 5"/>
          <p:cNvSpPr>
            <a:spLocks noGrp="1"/>
          </p:cNvSpPr>
          <p:nvPr>
            <p:ph type="sldNum" sz="quarter" idx="12"/>
          </p:nvPr>
        </p:nvSpPr>
        <p:spPr/>
        <p:txBody>
          <a:bodyPr/>
          <a:lstStyle/>
          <a:p>
            <a:fld id="{D57F1E4F-1CFF-5643-939E-217C01CDF565}" type="slidenum">
              <a:rPr lang="en-US" smtClean="0"/>
              <a:t>2</a:t>
            </a:fld>
            <a:endParaRPr lang="en-US" dirty="0"/>
          </a:p>
        </p:txBody>
      </p:sp>
      <p:sp>
        <p:nvSpPr>
          <p:cNvPr id="7" name="Date Placeholder 3"/>
          <p:cNvSpPr txBox="1"/>
          <p:nvPr/>
        </p:nvSpPr>
        <p:spPr>
          <a:xfrm>
            <a:off x="2313353" y="4591244"/>
            <a:ext cx="786241" cy="317498"/>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endParaRPr lang="en-US" dirty="0"/>
          </a:p>
        </p:txBody>
      </p:sp>
      <p:sp>
        <p:nvSpPr>
          <p:cNvPr id="10" name="Date Placeholder 3"/>
          <p:cNvSpPr>
            <a:spLocks noGrp="1"/>
          </p:cNvSpPr>
          <p:nvPr>
            <p:ph type="title"/>
          </p:nvPr>
        </p:nvSpPr>
        <p:spPr/>
        <p:txBody>
          <a:bodyPr/>
          <a:lstStyle/>
          <a:p>
            <a:pPr algn="ctr"/>
            <a:r>
              <a:rPr lang="en-US" b="1" dirty="0"/>
              <a:t>INTERNAL PROJECT REPORT</a:t>
            </a:r>
            <a:br>
              <a:rPr lang="en-US" dirty="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Project Overview</a:t>
            </a:r>
          </a:p>
        </p:txBody>
      </p:sp>
      <p:sp>
        <p:nvSpPr>
          <p:cNvPr id="3" name="Content Placeholder 2"/>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Title: </a:t>
            </a:r>
            <a:r>
              <a:rPr lang="en-US" dirty="0" err="1">
                <a:latin typeface="Times New Roman" panose="02020603050405020304" pitchFamily="18" charset="0"/>
                <a:cs typeface="Times New Roman" panose="02020603050405020304" pitchFamily="18" charset="0"/>
              </a:rPr>
              <a:t>ConnectFarma</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Tagline: </a:t>
            </a:r>
            <a:r>
              <a:rPr lang="en-US">
                <a:latin typeface="Times New Roman" panose="02020603050405020304" pitchFamily="18" charset="0"/>
                <a:cs typeface="Times New Roman" panose="02020603050405020304" pitchFamily="18" charset="0"/>
              </a:rPr>
              <a:t>Bringing Farms </a:t>
            </a:r>
            <a:r>
              <a:rPr lang="en-US" dirty="0">
                <a:latin typeface="Times New Roman" panose="02020603050405020304" pitchFamily="18" charset="0"/>
                <a:cs typeface="Times New Roman" panose="02020603050405020304" pitchFamily="18" charset="0"/>
              </a:rPr>
              <a:t>to Families.</a:t>
            </a:r>
          </a:p>
          <a:p>
            <a:r>
              <a:rPr lang="en-US" b="1" dirty="0">
                <a:latin typeface="Times New Roman" panose="02020603050405020304" pitchFamily="18" charset="0"/>
                <a:cs typeface="Times New Roman" panose="02020603050405020304" pitchFamily="18" charset="0"/>
              </a:rPr>
              <a:t>Project Type: </a:t>
            </a:r>
            <a:r>
              <a:rPr lang="en-US" dirty="0">
                <a:latin typeface="Times New Roman" panose="02020603050405020304" pitchFamily="18" charset="0"/>
                <a:cs typeface="Times New Roman" panose="02020603050405020304" pitchFamily="18" charset="0"/>
              </a:rPr>
              <a:t>In-House</a:t>
            </a:r>
          </a:p>
          <a:p>
            <a:r>
              <a:rPr lang="en-US" b="1" dirty="0">
                <a:latin typeface="Times New Roman" panose="02020603050405020304" pitchFamily="18" charset="0"/>
                <a:cs typeface="Times New Roman" panose="02020603050405020304" pitchFamily="18" charset="0"/>
              </a:rPr>
              <a:t>Technology Stack: Frontend: </a:t>
            </a:r>
            <a:r>
              <a:rPr lang="en-US" dirty="0">
                <a:latin typeface="Times New Roman" panose="02020603050405020304" pitchFamily="18" charset="0"/>
                <a:cs typeface="Times New Roman" panose="02020603050405020304" pitchFamily="18" charset="0"/>
              </a:rPr>
              <a:t>HTML, CSS, JAVASCRIPT</a:t>
            </a:r>
          </a:p>
          <a:p>
            <a:pPr marL="0" indent="0">
              <a:buNone/>
            </a:pPr>
            <a:r>
              <a:rPr lang="en-US" b="1" dirty="0">
                <a:latin typeface="Times New Roman" panose="02020603050405020304" pitchFamily="18" charset="0"/>
                <a:cs typeface="Times New Roman" panose="02020603050405020304" pitchFamily="18" charset="0"/>
              </a:rPr>
              <a:t>      	                               Backend</a:t>
            </a:r>
            <a:r>
              <a:rPr lang="en-US" dirty="0">
                <a:latin typeface="Times New Roman" panose="02020603050405020304" pitchFamily="18" charset="0"/>
                <a:cs typeface="Times New Roman" panose="02020603050405020304" pitchFamily="18" charset="0"/>
              </a:rPr>
              <a:t>: PHP/Python </a:t>
            </a:r>
          </a:p>
          <a:p>
            <a:pPr marL="0" indent="0">
              <a:buNone/>
            </a:pP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Database</a:t>
            </a:r>
            <a:r>
              <a:rPr lang="en-US" dirty="0">
                <a:latin typeface="Times New Roman" panose="02020603050405020304" pitchFamily="18" charset="0"/>
                <a:cs typeface="Times New Roman" panose="02020603050405020304" pitchFamily="18" charset="0"/>
              </a:rPr>
              <a:t>: MySQL</a:t>
            </a:r>
          </a:p>
          <a:p>
            <a:pPr marL="0" indent="0">
              <a:buNone/>
            </a:pPr>
            <a:endParaRPr lang="en-US"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57F1E4F-1CFF-5643-939E-217C01CDF565}" type="slidenum">
              <a:rPr lang="en-US" smtClean="0"/>
              <a:t>4</a:t>
            </a:fld>
            <a:endParaRPr lang="en-US" dirty="0"/>
          </a:p>
        </p:txBody>
      </p:sp>
      <p:graphicFrame>
        <p:nvGraphicFramePr>
          <p:cNvPr id="12" name="Content Placeholder 11"/>
          <p:cNvGraphicFramePr>
            <a:graphicFrameLocks noGrp="1"/>
          </p:cNvGraphicFramePr>
          <p:nvPr>
            <p:ph idx="1"/>
          </p:nvPr>
        </p:nvGraphicFramePr>
        <p:xfrm>
          <a:off x="1819175" y="144377"/>
          <a:ext cx="6337997" cy="6605482"/>
        </p:xfrm>
        <a:graphic>
          <a:graphicData uri="http://schemas.openxmlformats.org/drawingml/2006/table">
            <a:tbl>
              <a:tblPr firstRow="1" firstCol="1" bandRow="1">
                <a:tableStyleId>{5C22544A-7EE6-4342-B048-85BDC9FD1C3A}</a:tableStyleId>
              </a:tblPr>
              <a:tblGrid>
                <a:gridCol w="650589">
                  <a:extLst>
                    <a:ext uri="{9D8B030D-6E8A-4147-A177-3AD203B41FA5}">
                      <a16:colId xmlns:a16="http://schemas.microsoft.com/office/drawing/2014/main" val="20000"/>
                    </a:ext>
                  </a:extLst>
                </a:gridCol>
                <a:gridCol w="5013296">
                  <a:extLst>
                    <a:ext uri="{9D8B030D-6E8A-4147-A177-3AD203B41FA5}">
                      <a16:colId xmlns:a16="http://schemas.microsoft.com/office/drawing/2014/main" val="20001"/>
                    </a:ext>
                  </a:extLst>
                </a:gridCol>
                <a:gridCol w="674112">
                  <a:extLst>
                    <a:ext uri="{9D8B030D-6E8A-4147-A177-3AD203B41FA5}">
                      <a16:colId xmlns:a16="http://schemas.microsoft.com/office/drawing/2014/main" val="20002"/>
                    </a:ext>
                  </a:extLst>
                </a:gridCol>
              </a:tblGrid>
              <a:tr h="294668">
                <a:tc>
                  <a:txBody>
                    <a:bodyPr/>
                    <a:lstStyle/>
                    <a:p>
                      <a:endParaRPr lang="en-US" sz="900" dirty="0"/>
                    </a:p>
                    <a:p>
                      <a:endParaRPr lang="en-US" sz="900" dirty="0"/>
                    </a:p>
                  </a:txBody>
                  <a:tcPr marL="4820" marR="4820" marT="4820" marB="4820" anchor="ctr"/>
                </a:tc>
                <a:tc>
                  <a:txBody>
                    <a:bodyPr/>
                    <a:lstStyle/>
                    <a:p>
                      <a:pPr algn="ctr"/>
                      <a:r>
                        <a:rPr lang="en-US" sz="1600" dirty="0"/>
                        <a:t>Index</a:t>
                      </a:r>
                    </a:p>
                  </a:txBody>
                  <a:tcPr marL="46269" marR="46269" marT="23134" marB="23134"/>
                </a:tc>
                <a:tc>
                  <a:txBody>
                    <a:bodyPr/>
                    <a:lstStyle/>
                    <a:p>
                      <a:endParaRPr lang="en-US" sz="900"/>
                    </a:p>
                  </a:txBody>
                  <a:tcPr marL="46269" marR="46269" marT="23134" marB="23134"/>
                </a:tc>
                <a:extLst>
                  <a:ext uri="{0D108BD9-81ED-4DB2-BD59-A6C34878D82A}">
                    <a16:rowId xmlns:a16="http://schemas.microsoft.com/office/drawing/2014/main" val="10000"/>
                  </a:ext>
                </a:extLst>
              </a:tr>
              <a:tr h="515061">
                <a:tc>
                  <a:txBody>
                    <a:bodyPr/>
                    <a:lstStyle/>
                    <a:p>
                      <a:pPr marL="0" marR="0" algn="ctr">
                        <a:lnSpc>
                          <a:spcPct val="107000"/>
                        </a:lnSpc>
                        <a:spcBef>
                          <a:spcPts val="0"/>
                        </a:spcBef>
                        <a:spcAft>
                          <a:spcPts val="800"/>
                        </a:spcAft>
                      </a:pPr>
                      <a:r>
                        <a:rPr lang="en-US" sz="1400" b="0" dirty="0" err="1">
                          <a:effectLst/>
                          <a:latin typeface="Times New Roman" panose="02020603050405020304" pitchFamily="18" charset="0"/>
                          <a:cs typeface="Times New Roman" panose="02020603050405020304" pitchFamily="18" charset="0"/>
                        </a:rPr>
                        <a:t>Sr</a:t>
                      </a:r>
                      <a:r>
                        <a:rPr lang="en-US" sz="1400" b="0" baseline="0" dirty="0">
                          <a:effectLst/>
                          <a:latin typeface="Times New Roman" panose="02020603050405020304" pitchFamily="18" charset="0"/>
                          <a:cs typeface="Times New Roman" panose="02020603050405020304" pitchFamily="18" charset="0"/>
                        </a:rPr>
                        <a:t> </a:t>
                      </a:r>
                      <a:r>
                        <a:rPr lang="en-US" sz="1400" b="0" dirty="0">
                          <a:effectLst/>
                          <a:latin typeface="Times New Roman" panose="02020603050405020304" pitchFamily="18" charset="0"/>
                          <a:cs typeface="Times New Roman" panose="02020603050405020304" pitchFamily="18" charset="0"/>
                        </a:rPr>
                        <a:t>No</a:t>
                      </a:r>
                      <a:endParaRPr lang="en-US" sz="6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Section Title</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Page No</a:t>
                      </a:r>
                      <a:r>
                        <a:rPr lang="en-US" sz="700" b="0" dirty="0">
                          <a:effectLst/>
                          <a:latin typeface="Times New Roman" panose="02020603050405020304" pitchFamily="18" charset="0"/>
                          <a:cs typeface="Times New Roman" panose="02020603050405020304" pitchFamily="18" charset="0"/>
                        </a:rPr>
                        <a:t>.</a:t>
                      </a:r>
                      <a:endParaRPr lang="en-US" sz="6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1"/>
                  </a:ext>
                </a:extLst>
              </a:tr>
              <a:tr h="343373">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0.1</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Cover Page &amp; Submission Details</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1</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2"/>
                  </a:ext>
                </a:extLst>
              </a:tr>
              <a:tr h="231871">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0.2</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Project Overview</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3"/>
                  </a:ext>
                </a:extLst>
              </a:tr>
              <a:tr h="327221">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0.3</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Index (Basic Table of Contents)</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3</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4"/>
                  </a:ext>
                </a:extLst>
              </a:tr>
              <a:tr h="248884">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1.1</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Project Proposal &amp; Planning</a:t>
                      </a: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4</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5"/>
                  </a:ext>
                </a:extLst>
              </a:tr>
              <a:tr h="231871">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1.2</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Advantages of </a:t>
                      </a:r>
                      <a:r>
                        <a:rPr lang="en-US" sz="1400" b="0" dirty="0" err="1">
                          <a:effectLst/>
                          <a:latin typeface="Times New Roman" panose="02020603050405020304" pitchFamily="18" charset="0"/>
                          <a:cs typeface="Times New Roman" panose="02020603050405020304" pitchFamily="18" charset="0"/>
                        </a:rPr>
                        <a:t>ConnectFrama</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5</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6"/>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1.3</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Proposed System &amp; Modules Overview</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6</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7"/>
                  </a:ext>
                </a:extLst>
              </a:tr>
              <a:tr h="231871">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2.1</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System Design &amp; Database</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7</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8"/>
                  </a:ext>
                </a:extLst>
              </a:tr>
              <a:tr h="231871">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2.2</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System Diagram</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8</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09"/>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2.3</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System Design Layout: Home Page</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9</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0"/>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2.4</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UI Screens: </a:t>
                      </a:r>
                      <a:r>
                        <a:rPr lang="en-US" sz="1400" b="0" dirty="0" err="1">
                          <a:effectLst/>
                          <a:latin typeface="Times New Roman" panose="02020603050405020304" pitchFamily="18" charset="0"/>
                          <a:cs typeface="Times New Roman" panose="02020603050405020304" pitchFamily="18" charset="0"/>
                        </a:rPr>
                        <a:t>SignUp</a:t>
                      </a:r>
                      <a:r>
                        <a:rPr lang="en-US" sz="1400" b="0" dirty="0">
                          <a:effectLst/>
                          <a:latin typeface="Times New Roman" panose="02020603050405020304" pitchFamily="18" charset="0"/>
                          <a:cs typeface="Times New Roman" panose="02020603050405020304" pitchFamily="18" charset="0"/>
                        </a:rPr>
                        <a:t>/Login (Consumer &amp; Farmer)</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10</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1"/>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2.5</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Database Development – Consumer Table</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23</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2"/>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2.6</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Database Development – Farmer Table</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24</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3"/>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2.7</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Database Development – Product Table</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25</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4"/>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2.8</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Modules Summary (Farmer, Customer, Admin, Order)</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26</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5"/>
                  </a:ext>
                </a:extLst>
              </a:tr>
              <a:tr h="515061">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2.9</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Functional Details (User Registration, Login, Listing, Orders)</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27</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6"/>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2.10</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Dashboard Features (Admin, Farmer, Consumer)</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28</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7"/>
                  </a:ext>
                </a:extLst>
              </a:tr>
              <a:tr h="343373">
                <a:tc>
                  <a:txBody>
                    <a:bodyPr/>
                    <a:lstStyle/>
                    <a:p>
                      <a:pPr marL="0" marR="0" algn="ctr">
                        <a:lnSpc>
                          <a:spcPct val="107000"/>
                        </a:lnSpc>
                        <a:spcBef>
                          <a:spcPts val="0"/>
                        </a:spcBef>
                        <a:spcAft>
                          <a:spcPts val="800"/>
                        </a:spcAft>
                      </a:pPr>
                      <a:r>
                        <a:rPr lang="en-US" sz="1400" b="0">
                          <a:effectLst/>
                          <a:latin typeface="Times New Roman" panose="02020603050405020304" pitchFamily="18" charset="0"/>
                          <a:cs typeface="Times New Roman" panose="02020603050405020304" pitchFamily="18" charset="0"/>
                        </a:rPr>
                        <a:t>2.11</a:t>
                      </a:r>
                      <a:endParaRPr lang="en-US" sz="1400" b="0">
                        <a:effectLst/>
                        <a:latin typeface="Times New Roman" panose="02020603050405020304" pitchFamily="18" charset="0"/>
                        <a:ea typeface="MS Mincho"/>
                        <a:cs typeface="Times New Roman" panose="02020603050405020304" pitchFamily="18" charset="0"/>
                      </a:endParaRP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Contact &amp; Support + Final Flow Diagram</a:t>
                      </a:r>
                    </a:p>
                  </a:txBody>
                  <a:tcPr marL="34702" marR="34702" marT="0" marB="0" anchor="ctr"/>
                </a:tc>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29</a:t>
                      </a: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8"/>
                  </a:ext>
                </a:extLst>
              </a:tr>
              <a:tr h="343373">
                <a:tc>
                  <a:txBody>
                    <a:bodyPr/>
                    <a:lstStyle/>
                    <a:p>
                      <a:pPr marL="0" marR="0" algn="ctr">
                        <a:lnSpc>
                          <a:spcPct val="107000"/>
                        </a:lnSpc>
                        <a:spcBef>
                          <a:spcPts val="0"/>
                        </a:spcBef>
                        <a:spcAft>
                          <a:spcPts val="800"/>
                        </a:spcAft>
                      </a:pPr>
                      <a:r>
                        <a:rPr lang="en-US" sz="1400" b="0" dirty="0">
                          <a:effectLst/>
                          <a:latin typeface="Times New Roman" panose="02020603050405020304" pitchFamily="18" charset="0"/>
                          <a:ea typeface="MS Mincho"/>
                          <a:cs typeface="Times New Roman" panose="02020603050405020304" pitchFamily="18" charset="0"/>
                        </a:rPr>
                        <a:t>3.1</a:t>
                      </a:r>
                    </a:p>
                  </a:txBody>
                  <a:tcPr marL="34702" marR="34702" marT="0" marB="0" anchor="ctr"/>
                </a:tc>
                <a:tc>
                  <a:txBody>
                    <a:bodyPr/>
                    <a:lstStyle/>
                    <a:p>
                      <a:pPr marL="0" marR="0">
                        <a:lnSpc>
                          <a:spcPct val="107000"/>
                        </a:lnSpc>
                        <a:spcBef>
                          <a:spcPts val="0"/>
                        </a:spcBef>
                        <a:spcAft>
                          <a:spcPts val="800"/>
                        </a:spcAft>
                      </a:pPr>
                      <a:r>
                        <a:rPr lang="en-US" sz="1400" b="0" dirty="0">
                          <a:effectLst/>
                          <a:latin typeface="Times New Roman" panose="02020603050405020304" pitchFamily="18" charset="0"/>
                          <a:cs typeface="Times New Roman" panose="02020603050405020304" pitchFamily="18" charset="0"/>
                        </a:rPr>
                        <a:t>Use Case</a:t>
                      </a:r>
                      <a:r>
                        <a:rPr lang="en-US" sz="1400" b="0" baseline="0" dirty="0">
                          <a:effectLst/>
                          <a:latin typeface="Times New Roman" panose="02020603050405020304" pitchFamily="18" charset="0"/>
                          <a:cs typeface="Times New Roman" panose="02020603050405020304" pitchFamily="18" charset="0"/>
                        </a:rPr>
                        <a:t> Diagram – Consumer Table</a:t>
                      </a:r>
                      <a:endParaRPr lang="en-US" sz="1400" b="0" dirty="0">
                        <a:effectLst/>
                        <a:latin typeface="Times New Roman" panose="02020603050405020304" pitchFamily="18" charset="0"/>
                        <a:cs typeface="Times New Roman" panose="02020603050405020304" pitchFamily="18" charset="0"/>
                      </a:endParaRPr>
                    </a:p>
                  </a:txBody>
                  <a:tcPr marL="34702" marR="34702" marT="0" marB="0" anchor="ctr"/>
                </a:tc>
                <a:tc>
                  <a:txBody>
                    <a:bodyPr/>
                    <a:lstStyle/>
                    <a:p>
                      <a:pPr marL="0" marR="0" algn="ctr">
                        <a:lnSpc>
                          <a:spcPct val="107000"/>
                        </a:lnSpc>
                        <a:spcBef>
                          <a:spcPts val="0"/>
                        </a:spcBef>
                        <a:spcAft>
                          <a:spcPts val="800"/>
                        </a:spcAft>
                      </a:pPr>
                      <a:endParaRPr lang="en-US" sz="1400" b="0" dirty="0">
                        <a:effectLst/>
                        <a:latin typeface="Times New Roman" panose="02020603050405020304" pitchFamily="18" charset="0"/>
                        <a:ea typeface="MS Mincho"/>
                        <a:cs typeface="Times New Roman" panose="02020603050405020304" pitchFamily="18" charset="0"/>
                      </a:endParaRPr>
                    </a:p>
                  </a:txBody>
                  <a:tcPr marL="34702" marR="34702" marT="0" marB="0" anchor="ctr"/>
                </a:tc>
                <a:extLst>
                  <a:ext uri="{0D108BD9-81ED-4DB2-BD59-A6C34878D82A}">
                    <a16:rowId xmlns:a16="http://schemas.microsoft.com/office/drawing/2014/main" val="1001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57F1E4F-1CFF-5643-939E-217C01CDF565}" type="slidenum">
              <a:rPr lang="en-US" smtClean="0"/>
              <a:t>5</a:t>
            </a:fld>
            <a:endParaRPr lang="en-US" dirty="0"/>
          </a:p>
        </p:txBody>
      </p:sp>
      <p:sp>
        <p:nvSpPr>
          <p:cNvPr id="7" name="Date Placeholder 3"/>
          <p:cNvSpPr>
            <a:spLocks noGrp="1"/>
          </p:cNvSpPr>
          <p:nvPr>
            <p:ph type="title"/>
          </p:nvPr>
        </p:nvSpPr>
        <p:spPr>
          <a:xfrm>
            <a:off x="1049868" y="2802467"/>
            <a:ext cx="8596668" cy="1320800"/>
          </a:xfrm>
        </p:spPr>
        <p:txBody>
          <a:bodyPr>
            <a:normAutofit/>
          </a:bodyPr>
          <a:lstStyle/>
          <a:p>
            <a:pPr algn="ctr"/>
            <a:r>
              <a:rPr lang="en-US" b="1" dirty="0"/>
              <a:t>Project Proposal &amp; Planning</a:t>
            </a:r>
            <a:br>
              <a:rPr lang="en-US" b="1" dirty="0"/>
            </a:br>
            <a:endParaRPr lang="en-US"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287867"/>
            <a:ext cx="9357620" cy="5850466"/>
          </a:xfrm>
        </p:spPr>
        <p:txBody>
          <a:bodyPr>
            <a:normAutofit/>
          </a:bodyPr>
          <a:lstStyle/>
          <a:p>
            <a:pPr marL="0" lvl="0" indent="0">
              <a:buNone/>
            </a:pPr>
            <a:r>
              <a:rPr lang="en-US" sz="1600" b="1" dirty="0">
                <a:latin typeface="Times New Roman" panose="02020603050405020304" pitchFamily="18" charset="0"/>
                <a:cs typeface="Times New Roman" panose="02020603050405020304" pitchFamily="18" charset="0"/>
              </a:rPr>
              <a:t>1.Project Title</a:t>
            </a:r>
            <a:r>
              <a:rPr lang="en-US" sz="1600" dirty="0">
                <a:latin typeface="Times New Roman" panose="02020603050405020304" pitchFamily="18" charset="0"/>
                <a:cs typeface="Times New Roman" panose="02020603050405020304" pitchFamily="18" charset="0"/>
              </a:rPr>
              <a:t>:</a:t>
            </a:r>
          </a:p>
          <a:p>
            <a:pPr marL="0" indent="0">
              <a:buNone/>
            </a:pP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ConnectFarma</a:t>
            </a:r>
            <a:r>
              <a:rPr lang="en-US" sz="1400" dirty="0">
                <a:latin typeface="Times New Roman" panose="02020603050405020304" pitchFamily="18" charset="0"/>
                <a:cs typeface="Times New Roman" panose="02020603050405020304" pitchFamily="18" charset="0"/>
              </a:rPr>
              <a:t> – A Local Farmers Market Website</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2. Problem Statement:</a:t>
            </a:r>
          </a:p>
          <a:p>
            <a:pPr marL="457200" lvl="1" indent="0">
              <a:buNone/>
            </a:pPr>
            <a:r>
              <a:rPr lang="en-US" sz="1400" dirty="0">
                <a:latin typeface="Times New Roman" panose="02020603050405020304" pitchFamily="18" charset="0"/>
                <a:cs typeface="Times New Roman" panose="02020603050405020304" pitchFamily="18" charset="0"/>
              </a:rPr>
              <a:t>a) Farmers face challenges in connecting directly with urban consumers due to the lack of digital platforms. This allows middlemen to take advantage, increasing their profits and selling products to consumers at a higher price. There is a need for a transparent, user-friendly platform to bridge this gap and facilitate direct transactions.</a:t>
            </a:r>
          </a:p>
          <a:p>
            <a:pPr marL="457200" lvl="1"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3. Existing System and Limitations:</a:t>
            </a:r>
          </a:p>
          <a:p>
            <a:pPr marL="457200" lvl="1" indent="0">
              <a:buNone/>
            </a:pPr>
            <a:r>
              <a:rPr lang="en-US" sz="1400" dirty="0">
                <a:latin typeface="Times New Roman" panose="02020603050405020304" pitchFamily="18" charset="0"/>
                <a:cs typeface="Times New Roman" panose="02020603050405020304" pitchFamily="18" charset="0"/>
              </a:rPr>
              <a:t>a) Offline Markets: Time-bound, location-specific, and lack reach.</a:t>
            </a:r>
          </a:p>
          <a:p>
            <a:pPr marL="457200" lvl="1" indent="0">
              <a:buNone/>
            </a:pPr>
            <a:r>
              <a:rPr lang="en-US" sz="1400" dirty="0">
                <a:latin typeface="Times New Roman" panose="02020603050405020304" pitchFamily="18" charset="0"/>
                <a:cs typeface="Times New Roman" panose="02020603050405020304" pitchFamily="18" charset="0"/>
              </a:rPr>
              <a:t>b) Existing Apps: Target large-scale agriculture or wholesalers, not local farmers.</a:t>
            </a:r>
          </a:p>
          <a:p>
            <a:pPr marL="457200" lvl="1"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Limitations include:</a:t>
            </a:r>
          </a:p>
          <a:p>
            <a:pPr marL="0" lvl="0" indent="0">
              <a:buNone/>
            </a:pPr>
            <a:r>
              <a:rPr lang="en-US" sz="15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a) No direct communication channels between farmers and buyers.</a:t>
            </a:r>
          </a:p>
          <a:p>
            <a:pPr marL="0" lvl="0" indent="0">
              <a:buNone/>
            </a:pPr>
            <a:r>
              <a:rPr lang="en-US" sz="1400" dirty="0">
                <a:latin typeface="Times New Roman" panose="02020603050405020304" pitchFamily="18" charset="0"/>
                <a:cs typeface="Times New Roman" panose="02020603050405020304" pitchFamily="18" charset="0"/>
              </a:rPr>
              <a:t>          b) Lack of trust and verification.</a:t>
            </a:r>
          </a:p>
          <a:p>
            <a:pPr marL="0" lvl="0" indent="0">
              <a:buNone/>
            </a:pPr>
            <a:r>
              <a:rPr lang="en-US" sz="1400" dirty="0">
                <a:latin typeface="Times New Roman" panose="02020603050405020304" pitchFamily="18" charset="0"/>
                <a:cs typeface="Times New Roman" panose="02020603050405020304" pitchFamily="18" charset="0"/>
              </a:rPr>
              <a:t>          c) Poor UI for illiterate farmers.</a:t>
            </a:r>
          </a:p>
          <a:p>
            <a:pPr marL="0" indent="0">
              <a:buNone/>
            </a:pPr>
            <a:endParaRPr lang="en-US" sz="1400" b="1" dirty="0">
              <a:latin typeface="Times New Roman" panose="02020603050405020304" pitchFamily="18" charset="0"/>
              <a:cs typeface="Times New Roman" panose="02020603050405020304" pitchFamily="18" charset="0"/>
            </a:endParaRPr>
          </a:p>
          <a:p>
            <a:pPr marL="0" indent="0">
              <a:buNone/>
            </a:pPr>
            <a:endParaRPr lang="en-US" sz="1600" b="1" dirty="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57F1E4F-1CFF-5643-939E-217C01CDF565}" type="slidenum">
              <a:rPr lang="en-US" smtClean="0"/>
              <a:t>7</a:t>
            </a:fld>
            <a:endParaRPr lang="en-US" dirty="0"/>
          </a:p>
        </p:txBody>
      </p:sp>
      <p:sp>
        <p:nvSpPr>
          <p:cNvPr id="7" name="Footer Placeholder 4"/>
          <p:cNvSpPr>
            <a:spLocks noGrp="1"/>
          </p:cNvSpPr>
          <p:nvPr>
            <p:ph idx="1"/>
          </p:nvPr>
        </p:nvSpPr>
        <p:spPr>
          <a:xfrm>
            <a:off x="568325" y="155819"/>
            <a:ext cx="8596313" cy="6510338"/>
          </a:xfrm>
        </p:spPr>
        <p:txBody>
          <a:bodyPr/>
          <a:lstStyle/>
          <a:p>
            <a:pPr marL="0" indent="0">
              <a:buNone/>
            </a:pPr>
            <a:r>
              <a:rPr lang="en-US" sz="1400" dirty="0">
                <a:latin typeface="Times New Roman" panose="02020603050405020304" pitchFamily="18" charset="0"/>
                <a:cs typeface="Times New Roman" panose="02020603050405020304" pitchFamily="18" charset="0"/>
              </a:rPr>
              <a:t>Additionally, Platforms like </a:t>
            </a:r>
            <a:r>
              <a:rPr lang="en-US" sz="1400" dirty="0" err="1">
                <a:latin typeface="Times New Roman" panose="02020603050405020304" pitchFamily="18" charset="0"/>
                <a:cs typeface="Times New Roman" panose="02020603050405020304" pitchFamily="18" charset="0"/>
              </a:rPr>
              <a:t>Blinkit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Swiggy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Instamart</a:t>
            </a:r>
            <a:r>
              <a:rPr lang="en-US" sz="1400" dirty="0">
                <a:latin typeface="Times New Roman" panose="02020603050405020304" pitchFamily="18" charset="0"/>
                <a:cs typeface="Times New Roman" panose="02020603050405020304" pitchFamily="18" charset="0"/>
              </a:rPr>
              <a:t>, and </a:t>
            </a:r>
            <a:r>
              <a:rPr lang="en-US" sz="1400" dirty="0" err="1">
                <a:latin typeface="Times New Roman" panose="02020603050405020304" pitchFamily="18" charset="0"/>
                <a:cs typeface="Times New Roman" panose="02020603050405020304" pitchFamily="18" charset="0"/>
              </a:rPr>
              <a:t>Zepto</a:t>
            </a:r>
            <a:r>
              <a:rPr lang="en-US" sz="1400" dirty="0">
                <a:latin typeface="Times New Roman" panose="02020603050405020304" pitchFamily="18" charset="0"/>
                <a:cs typeface="Times New Roman" panose="02020603050405020304" pitchFamily="18" charset="0"/>
              </a:rPr>
              <a:t> also offer vegetable and fruit delivery services. However, these services often encounter quality issues because their core business models are not centered around fresh produce.</a:t>
            </a:r>
          </a:p>
          <a:p>
            <a:pPr marL="0" indent="0">
              <a:buNone/>
            </a:pPr>
            <a:r>
              <a:rPr lang="en-US" sz="1400" dirty="0">
                <a:latin typeface="Times New Roman" panose="02020603050405020304" pitchFamily="18" charset="0"/>
                <a:cs typeface="Times New Roman" panose="02020603050405020304" pitchFamily="18" charset="0"/>
              </a:rPr>
              <a:t> Since selling vegetables does not generate high profits for these companies, they do not focus significantly on improving quality or supply chain efficiency in this area.</a:t>
            </a:r>
          </a:p>
          <a:p>
            <a:pPr marL="0" indent="0">
              <a:buNone/>
            </a:pPr>
            <a:r>
              <a:rPr lang="en-US" sz="1400" dirty="0" err="1">
                <a:latin typeface="Times New Roman" panose="02020603050405020304" pitchFamily="18" charset="0"/>
                <a:cs typeface="Times New Roman" panose="02020603050405020304" pitchFamily="18" charset="0"/>
              </a:rPr>
              <a:t>ConnectFarma</a:t>
            </a:r>
            <a:r>
              <a:rPr lang="en-US" sz="1400" dirty="0">
                <a:latin typeface="Times New Roman" panose="02020603050405020304" pitchFamily="18" charset="0"/>
                <a:cs typeface="Times New Roman" panose="02020603050405020304" pitchFamily="18" charset="0"/>
              </a:rPr>
              <a:t> is specifically designed for selling vegetables and fruits. Our platform directly involves local farmers in managing their inventory, ensuring freshness, accountability, and transparency. This farmer-centric model eliminates intermediaries, placing quality control in the hands of those who grow the product.</a:t>
            </a:r>
          </a:p>
          <a:p>
            <a:pPr marL="0" indent="0">
              <a:buNone/>
            </a:pPr>
            <a:r>
              <a:rPr lang="en-US" sz="1400" dirty="0" err="1">
                <a:latin typeface="Times New Roman" panose="02020603050405020304" pitchFamily="18" charset="0"/>
                <a:cs typeface="Times New Roman" panose="02020603050405020304" pitchFamily="18" charset="0"/>
              </a:rPr>
              <a:t>ConnectFrama</a:t>
            </a:r>
            <a:r>
              <a:rPr lang="en-US" sz="1400" dirty="0">
                <a:latin typeface="Times New Roman" panose="02020603050405020304" pitchFamily="18" charset="0"/>
                <a:cs typeface="Times New Roman" panose="02020603050405020304" pitchFamily="18" charset="0"/>
              </a:rPr>
              <a:t> aims to be a niche platform dedicated to vegetables and fruits—an area currently underserved by mainstream delivery apps.</a:t>
            </a:r>
          </a:p>
          <a:p>
            <a:pPr marL="0" indent="0">
              <a:buNone/>
            </a:pPr>
            <a:r>
              <a:rPr lang="en-US" sz="1600" b="1" dirty="0">
                <a:latin typeface="Times New Roman" panose="02020603050405020304" pitchFamily="18" charset="0"/>
                <a:cs typeface="Times New Roman" panose="02020603050405020304" pitchFamily="18" charset="0"/>
              </a:rPr>
              <a:t>   Advantages of </a:t>
            </a:r>
            <a:r>
              <a:rPr lang="en-US" sz="1600" b="1" dirty="0" err="1">
                <a:latin typeface="Times New Roman" panose="02020603050405020304" pitchFamily="18" charset="0"/>
                <a:cs typeface="Times New Roman" panose="02020603050405020304" pitchFamily="18" charset="0"/>
              </a:rPr>
              <a:t>ConnectFrama</a:t>
            </a:r>
            <a:r>
              <a:rPr lang="en-US" sz="1600" b="1" dirty="0">
                <a:latin typeface="Times New Roman" panose="02020603050405020304" pitchFamily="18" charset="0"/>
                <a:cs typeface="Times New Roman" panose="02020603050405020304" pitchFamily="18" charset="0"/>
              </a:rPr>
              <a:t>:</a:t>
            </a:r>
          </a:p>
          <a:p>
            <a:pPr marL="0" indent="0">
              <a:buNone/>
            </a:pPr>
            <a:r>
              <a:rPr lang="en-US" sz="1600" b="1" dirty="0">
                <a:latin typeface="Times New Roman" panose="02020603050405020304" pitchFamily="18" charset="0"/>
                <a:cs typeface="Times New Roman" panose="02020603050405020304" pitchFamily="18" charset="0"/>
              </a:rPr>
              <a:t>1. Direct Farmer-to-Consumer Link</a:t>
            </a:r>
          </a:p>
          <a:p>
            <a:pPr marL="0" indent="0">
              <a:buNone/>
            </a:pPr>
            <a:r>
              <a:rPr lang="en-US" dirty="0"/>
              <a:t> </a:t>
            </a:r>
            <a:r>
              <a:rPr lang="en-US" sz="1400" dirty="0">
                <a:latin typeface="Times New Roman" panose="02020603050405020304" pitchFamily="18" charset="0"/>
                <a:cs typeface="Times New Roman" panose="02020603050405020304" pitchFamily="18" charset="0"/>
              </a:rPr>
              <a:t>Farmers can sell their produce directly to customers without middlemen, ensuring better profits.</a:t>
            </a:r>
          </a:p>
          <a:p>
            <a:pPr marL="0" lvl="0" indent="0">
              <a:buNone/>
            </a:pPr>
            <a:r>
              <a:rPr lang="en-US" sz="1600" b="1" dirty="0">
                <a:latin typeface="Times New Roman" panose="02020603050405020304" pitchFamily="18" charset="0"/>
                <a:cs typeface="Times New Roman" panose="02020603050405020304" pitchFamily="18" charset="0"/>
              </a:rPr>
              <a:t>2. Fresh and Quality Produce</a:t>
            </a:r>
          </a:p>
          <a:p>
            <a:pPr marL="0" indent="0">
              <a:buNone/>
            </a:pPr>
            <a:r>
              <a:rPr lang="en-US" sz="1400" dirty="0">
                <a:latin typeface="Times New Roman" panose="02020603050405020304" pitchFamily="18" charset="0"/>
                <a:cs typeface="Times New Roman" panose="02020603050405020304" pitchFamily="18" charset="0"/>
              </a:rPr>
              <a:t> Since farmers manage their own stock, customers receive fresh fruits and vegetables with assured quality.</a:t>
            </a:r>
          </a:p>
          <a:p>
            <a:pPr marL="0" lvl="0" indent="0">
              <a:buNone/>
            </a:pPr>
            <a:r>
              <a:rPr lang="en-US" sz="1600" b="1" dirty="0">
                <a:latin typeface="Times New Roman" panose="02020603050405020304" pitchFamily="18" charset="0"/>
                <a:cs typeface="Times New Roman" panose="02020603050405020304" pitchFamily="18" charset="0"/>
              </a:rPr>
              <a:t>3. Fair Pricing</a:t>
            </a:r>
          </a:p>
          <a:p>
            <a:pPr marL="0" indent="0">
              <a:buNone/>
            </a:pPr>
            <a:r>
              <a:rPr lang="en-US" sz="1400" dirty="0">
                <a:latin typeface="Times New Roman" panose="02020603050405020304" pitchFamily="18" charset="0"/>
                <a:cs typeface="Times New Roman" panose="02020603050405020304" pitchFamily="18" charset="0"/>
              </a:rPr>
              <a:t>Eliminating intermediaries results in transparent and reasonable pricing for both farmers and buyers.</a:t>
            </a:r>
          </a:p>
          <a:p>
            <a:pPr marL="0" lvl="0" indent="0">
              <a:buNone/>
            </a:pPr>
            <a:r>
              <a:rPr lang="en-US" sz="1600" b="1" dirty="0">
                <a:latin typeface="Times New Roman" panose="02020603050405020304" pitchFamily="18" charset="0"/>
                <a:cs typeface="Times New Roman" panose="02020603050405020304" pitchFamily="18" charset="0"/>
              </a:rPr>
              <a:t>4. Focus on Fruits &amp; Vegetables Only</a:t>
            </a:r>
          </a:p>
          <a:p>
            <a:pPr marL="0" indent="0">
              <a:buNone/>
            </a:pPr>
            <a:r>
              <a:rPr lang="en-US" sz="1400" dirty="0">
                <a:latin typeface="Times New Roman" panose="02020603050405020304" pitchFamily="18" charset="0"/>
                <a:cs typeface="Times New Roman" panose="02020603050405020304" pitchFamily="18" charset="0"/>
              </a:rPr>
              <a:t>Unlike other platforms, </a:t>
            </a:r>
            <a:r>
              <a:rPr lang="en-US" sz="1400" dirty="0" err="1">
                <a:latin typeface="Times New Roman" panose="02020603050405020304" pitchFamily="18" charset="0"/>
                <a:cs typeface="Times New Roman" panose="02020603050405020304" pitchFamily="18" charset="0"/>
              </a:rPr>
              <a:t>ConnectFrama</a:t>
            </a:r>
            <a:r>
              <a:rPr lang="en-US" sz="1400" dirty="0">
                <a:latin typeface="Times New Roman" panose="02020603050405020304" pitchFamily="18" charset="0"/>
                <a:cs typeface="Times New Roman" panose="02020603050405020304" pitchFamily="18" charset="0"/>
              </a:rPr>
              <a:t> is fully dedicated to the fruits and vegetable segment, ensuring specialized service.</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3" y="109415"/>
            <a:ext cx="9803097" cy="6619631"/>
          </a:xfrm>
        </p:spPr>
        <p:txBody>
          <a:bodyPr/>
          <a:lstStyle/>
          <a:p>
            <a:pPr marL="0" lvl="0" indent="0">
              <a:buNone/>
            </a:pPr>
            <a:r>
              <a:rPr lang="en-US" b="1" dirty="0">
                <a:latin typeface="Times New Roman" panose="02020603050405020304" pitchFamily="18" charset="0"/>
                <a:cs typeface="Times New Roman" panose="02020603050405020304" pitchFamily="18" charset="0"/>
              </a:rPr>
              <a:t>5. </a:t>
            </a:r>
            <a:r>
              <a:rPr lang="en-US" sz="1600" b="1" dirty="0">
                <a:latin typeface="Times New Roman" panose="02020603050405020304" pitchFamily="18" charset="0"/>
                <a:cs typeface="Times New Roman" panose="02020603050405020304" pitchFamily="18" charset="0"/>
              </a:rPr>
              <a:t>User-Friendly Platform</a:t>
            </a:r>
          </a:p>
          <a:p>
            <a:pPr marL="0" indent="0">
              <a:buNone/>
            </a:pPr>
            <a:r>
              <a:rPr lang="en-US" sz="1400" dirty="0">
                <a:latin typeface="Times New Roman" panose="02020603050405020304" pitchFamily="18" charset="0"/>
                <a:cs typeface="Times New Roman" panose="02020603050405020304" pitchFamily="18" charset="0"/>
              </a:rPr>
              <a:t> Designed with simplicity in mind for both farmers and consumers, including easy registration and order management.</a:t>
            </a:r>
          </a:p>
          <a:p>
            <a:pPr marL="0" lvl="0" indent="0">
              <a:buNone/>
            </a:pPr>
            <a:r>
              <a:rPr lang="en-US" sz="1600" b="1" dirty="0">
                <a:latin typeface="Times New Roman" panose="02020603050405020304" pitchFamily="18" charset="0"/>
                <a:cs typeface="Times New Roman" panose="02020603050405020304" pitchFamily="18" charset="0"/>
              </a:rPr>
              <a:t>6. Community Empowerment</a:t>
            </a:r>
          </a:p>
          <a:p>
            <a:pPr marL="0" indent="0">
              <a:buNone/>
            </a:pPr>
            <a:r>
              <a:rPr lang="en-US" sz="1400" dirty="0">
                <a:latin typeface="Times New Roman" panose="02020603050405020304" pitchFamily="18" charset="0"/>
                <a:cs typeface="Times New Roman" panose="02020603050405020304" pitchFamily="18" charset="0"/>
              </a:rPr>
              <a:t>   It supports local agriculture, boosts farmer income, and promotes healthy eating in urban areas.</a:t>
            </a:r>
          </a:p>
          <a:p>
            <a:pPr marL="0" indent="0">
              <a:buNone/>
            </a:pPr>
            <a:r>
              <a:rPr lang="en-US" sz="1600" b="1" dirty="0">
                <a:latin typeface="Times New Roman" panose="02020603050405020304" pitchFamily="18" charset="0"/>
                <a:cs typeface="Times New Roman" panose="02020603050405020304" pitchFamily="18" charset="0"/>
              </a:rPr>
              <a:t>Key Features &amp; Functionalities:</a:t>
            </a:r>
          </a:p>
          <a:p>
            <a:pPr marL="0" lvl="0" indent="0">
              <a:buNone/>
            </a:pPr>
            <a:r>
              <a:rPr lang="en-US" sz="1400" dirty="0">
                <a:latin typeface="Times New Roman" panose="02020603050405020304" pitchFamily="18" charset="0"/>
                <a:cs typeface="Times New Roman" panose="02020603050405020304" pitchFamily="18" charset="0"/>
              </a:rPr>
              <a:t>  Farmer Portal: Register, upload products, update stock/pricing.</a:t>
            </a:r>
          </a:p>
          <a:p>
            <a:pPr marL="0" lvl="0" indent="0">
              <a:buNone/>
            </a:pPr>
            <a:r>
              <a:rPr lang="en-US" sz="1400" dirty="0">
                <a:latin typeface="Times New Roman" panose="02020603050405020304" pitchFamily="18" charset="0"/>
                <a:cs typeface="Times New Roman" panose="02020603050405020304" pitchFamily="18" charset="0"/>
              </a:rPr>
              <a:t>  Customer Portal: Browse, filter, search, and place orders.</a:t>
            </a:r>
          </a:p>
          <a:p>
            <a:pPr marL="0" lvl="0" indent="0">
              <a:buNone/>
            </a:pPr>
            <a:r>
              <a:rPr lang="en-US" sz="1400" dirty="0">
                <a:latin typeface="Times New Roman" panose="02020603050405020304" pitchFamily="18" charset="0"/>
                <a:cs typeface="Times New Roman" panose="02020603050405020304" pitchFamily="18" charset="0"/>
              </a:rPr>
              <a:t>   Admin Panel: Manage users, products, and handle disputes.</a:t>
            </a:r>
          </a:p>
          <a:p>
            <a:pPr marL="0" lvl="0" indent="0">
              <a:buNone/>
            </a:pPr>
            <a:r>
              <a:rPr lang="en-US" sz="1400" dirty="0">
                <a:latin typeface="Times New Roman" panose="02020603050405020304" pitchFamily="18" charset="0"/>
                <a:cs typeface="Times New Roman" panose="02020603050405020304" pitchFamily="18" charset="0"/>
              </a:rPr>
              <a:t>   Order System: Cart, payment, and delivery tracking.</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9001" y="2319867"/>
            <a:ext cx="8596668" cy="2023532"/>
          </a:xfrm>
        </p:spPr>
        <p:txBody>
          <a:bodyPr/>
          <a:lstStyle/>
          <a:p>
            <a:pPr algn="ctr"/>
            <a:r>
              <a:rPr lang="en-US" b="1" dirty="0"/>
              <a:t>System Design &amp; Database Development &amp; Data Dictionary</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System Design</a:t>
            </a:r>
          </a:p>
        </p:txBody>
      </p:sp>
      <p:sp>
        <p:nvSpPr>
          <p:cNvPr id="3" name="Content Placeholder 2"/>
          <p:cNvSpPr>
            <a:spLocks noGrp="1"/>
          </p:cNvSpPr>
          <p:nvPr>
            <p:ph idx="1"/>
          </p:nvPr>
        </p:nvSpPr>
        <p:spPr/>
        <p:txBody>
          <a:bodyPr>
            <a:normAutofit/>
          </a:bodyPr>
          <a:lstStyle/>
          <a:p>
            <a:r>
              <a:rPr lang="en-US" sz="1600" b="1" dirty="0">
                <a:latin typeface="Times New Roman" panose="02020603050405020304" pitchFamily="18" charset="0"/>
                <a:cs typeface="Times New Roman" panose="02020603050405020304" pitchFamily="18" charset="0"/>
              </a:rPr>
              <a:t>Module And Sub-Module</a:t>
            </a:r>
          </a:p>
          <a:p>
            <a:endParaRPr lang="en-US" sz="1600" b="1" dirty="0">
              <a:latin typeface="Times New Roman" panose="02020603050405020304" pitchFamily="18" charset="0"/>
              <a:cs typeface="Times New Roman" panose="02020603050405020304" pitchFamily="18" charset="0"/>
            </a:endParaRPr>
          </a:p>
          <a:p>
            <a:pPr marL="0" indent="0">
              <a:buNone/>
            </a:pPr>
            <a:endParaRPr lang="en-US" sz="1600" b="1"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t>10</a:t>
            </a:fld>
            <a:endParaRPr lang="en-US" dirty="0"/>
          </a:p>
        </p:txBody>
      </p:sp>
      <p:graphicFrame>
        <p:nvGraphicFramePr>
          <p:cNvPr id="7" name="Table 6"/>
          <p:cNvGraphicFramePr>
            <a:graphicFrameLocks noGrp="1"/>
          </p:cNvGraphicFramePr>
          <p:nvPr/>
        </p:nvGraphicFramePr>
        <p:xfrm>
          <a:off x="677334" y="2833734"/>
          <a:ext cx="8810698" cy="2514818"/>
        </p:xfrm>
        <a:graphic>
          <a:graphicData uri="http://schemas.openxmlformats.org/drawingml/2006/table">
            <a:tbl>
              <a:tblPr firstRow="1" bandRow="1">
                <a:tableStyleId>{5C22544A-7EE6-4342-B048-85BDC9FD1C3A}</a:tableStyleId>
              </a:tblPr>
              <a:tblGrid>
                <a:gridCol w="4114738">
                  <a:extLst>
                    <a:ext uri="{9D8B030D-6E8A-4147-A177-3AD203B41FA5}">
                      <a16:colId xmlns:a16="http://schemas.microsoft.com/office/drawing/2014/main" val="20000"/>
                    </a:ext>
                  </a:extLst>
                </a:gridCol>
                <a:gridCol w="4695960">
                  <a:extLst>
                    <a:ext uri="{9D8B030D-6E8A-4147-A177-3AD203B41FA5}">
                      <a16:colId xmlns:a16="http://schemas.microsoft.com/office/drawing/2014/main" val="20001"/>
                    </a:ext>
                  </a:extLst>
                </a:gridCol>
              </a:tblGrid>
              <a:tr h="389770">
                <a:tc>
                  <a:txBody>
                    <a:bodyPr/>
                    <a:lstStyle/>
                    <a:p>
                      <a:r>
                        <a:rPr lang="en-US" dirty="0">
                          <a:latin typeface="Times New Roman" panose="02020603050405020304" pitchFamily="18" charset="0"/>
                          <a:cs typeface="Times New Roman" panose="02020603050405020304" pitchFamily="18" charset="0"/>
                        </a:rPr>
                        <a:t>Module</a:t>
                      </a:r>
                    </a:p>
                  </a:txBody>
                  <a:tcPr/>
                </a:tc>
                <a:tc>
                  <a:txBody>
                    <a:bodyPr/>
                    <a:lstStyle/>
                    <a:p>
                      <a:r>
                        <a:rPr lang="en-US" dirty="0">
                          <a:latin typeface="Times New Roman" panose="02020603050405020304" pitchFamily="18" charset="0"/>
                          <a:cs typeface="Times New Roman" panose="02020603050405020304" pitchFamily="18" charset="0"/>
                        </a:rPr>
                        <a:t>Sub-Module</a:t>
                      </a:r>
                    </a:p>
                  </a:txBody>
                  <a:tcPr/>
                </a:tc>
                <a:extLst>
                  <a:ext uri="{0D108BD9-81ED-4DB2-BD59-A6C34878D82A}">
                    <a16:rowId xmlns:a16="http://schemas.microsoft.com/office/drawing/2014/main" val="10000"/>
                  </a:ext>
                </a:extLst>
              </a:tr>
              <a:tr h="389770">
                <a:tc>
                  <a:txBody>
                    <a:bodyPr/>
                    <a:lstStyle/>
                    <a:p>
                      <a:r>
                        <a:rPr lang="en-US" dirty="0">
                          <a:latin typeface="Times New Roman" panose="02020603050405020304" pitchFamily="18" charset="0"/>
                          <a:cs typeface="Times New Roman" panose="02020603050405020304" pitchFamily="18" charset="0"/>
                        </a:rPr>
                        <a:t>Farmer</a:t>
                      </a:r>
                      <a:r>
                        <a:rPr lang="en-US" baseline="0" dirty="0">
                          <a:latin typeface="Times New Roman" panose="02020603050405020304" pitchFamily="18" charset="0"/>
                          <a:cs typeface="Times New Roman" panose="02020603050405020304" pitchFamily="18" charset="0"/>
                        </a:rPr>
                        <a:t> Module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Registration , Login</a:t>
                      </a:r>
                      <a:r>
                        <a:rPr lang="en-US" baseline="0" dirty="0">
                          <a:latin typeface="Times New Roman" panose="02020603050405020304" pitchFamily="18" charset="0"/>
                          <a:cs typeface="Times New Roman" panose="02020603050405020304" pitchFamily="18" charset="0"/>
                        </a:rPr>
                        <a:t> , Product Upload</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672754">
                <a:tc>
                  <a:txBody>
                    <a:bodyPr/>
                    <a:lstStyle/>
                    <a:p>
                      <a:r>
                        <a:rPr lang="en-US" dirty="0">
                          <a:latin typeface="Times New Roman" panose="02020603050405020304" pitchFamily="18" charset="0"/>
                          <a:cs typeface="Times New Roman" panose="02020603050405020304" pitchFamily="18" charset="0"/>
                        </a:rPr>
                        <a:t>Consumer Module</a:t>
                      </a:r>
                    </a:p>
                  </a:txBody>
                  <a:tcPr/>
                </a:tc>
                <a:tc>
                  <a:txBody>
                    <a:bodyPr/>
                    <a:lstStyle/>
                    <a:p>
                      <a:r>
                        <a:rPr lang="en-US" dirty="0">
                          <a:latin typeface="Times New Roman" panose="02020603050405020304" pitchFamily="18" charset="0"/>
                          <a:cs typeface="Times New Roman" panose="02020603050405020304" pitchFamily="18" charset="0"/>
                        </a:rPr>
                        <a:t>Registration</a:t>
                      </a:r>
                      <a:r>
                        <a:rPr lang="en-US" baseline="0" dirty="0">
                          <a:latin typeface="Times New Roman" panose="02020603050405020304" pitchFamily="18" charset="0"/>
                          <a:cs typeface="Times New Roman" panose="02020603050405020304" pitchFamily="18" charset="0"/>
                        </a:rPr>
                        <a:t> , Product Browsing , Add to Cart , Place Order</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672754">
                <a:tc>
                  <a:txBody>
                    <a:bodyPr/>
                    <a:lstStyle/>
                    <a:p>
                      <a:r>
                        <a:rPr lang="en-US" dirty="0">
                          <a:latin typeface="Times New Roman" panose="02020603050405020304" pitchFamily="18" charset="0"/>
                          <a:cs typeface="Times New Roman" panose="02020603050405020304" pitchFamily="18" charset="0"/>
                        </a:rPr>
                        <a:t>Admin Module</a:t>
                      </a:r>
                    </a:p>
                  </a:txBody>
                  <a:tcPr/>
                </a:tc>
                <a:tc>
                  <a:txBody>
                    <a:bodyPr/>
                    <a:lstStyle/>
                    <a:p>
                      <a:r>
                        <a:rPr lang="en-US" dirty="0">
                          <a:latin typeface="Times New Roman" panose="02020603050405020304" pitchFamily="18" charset="0"/>
                          <a:cs typeface="Times New Roman" panose="02020603050405020304" pitchFamily="18" charset="0"/>
                        </a:rPr>
                        <a:t>Approved Users ,</a:t>
                      </a:r>
                      <a:r>
                        <a:rPr lang="en-US" baseline="0" dirty="0">
                          <a:latin typeface="Times New Roman" panose="02020603050405020304" pitchFamily="18" charset="0"/>
                          <a:cs typeface="Times New Roman" panose="02020603050405020304" pitchFamily="18" charset="0"/>
                        </a:rPr>
                        <a:t> View Reports , Manage Listings</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89770">
                <a:tc>
                  <a:txBody>
                    <a:bodyPr/>
                    <a:lstStyle/>
                    <a:p>
                      <a:r>
                        <a:rPr lang="en-US" dirty="0">
                          <a:latin typeface="Times New Roman" panose="02020603050405020304" pitchFamily="18" charset="0"/>
                          <a:cs typeface="Times New Roman" panose="02020603050405020304" pitchFamily="18" charset="0"/>
                        </a:rPr>
                        <a:t>Order Module</a:t>
                      </a:r>
                    </a:p>
                  </a:txBody>
                  <a:tcPr/>
                </a:tc>
                <a:tc>
                  <a:txBody>
                    <a:bodyPr/>
                    <a:lstStyle/>
                    <a:p>
                      <a:r>
                        <a:rPr lang="en-US" dirty="0">
                          <a:latin typeface="Times New Roman" panose="02020603050405020304" pitchFamily="18" charset="0"/>
                          <a:cs typeface="Times New Roman" panose="02020603050405020304" pitchFamily="18" charset="0"/>
                        </a:rPr>
                        <a:t>Invoice Generation , Status Updates</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400" y="222251"/>
            <a:ext cx="9567333" cy="5819112"/>
          </a:xfrm>
        </p:spPr>
        <p:txBody>
          <a:bodyPr>
            <a:normAutofit fontScale="92500" lnSpcReduction="20000"/>
          </a:bodyPr>
          <a:lstStyle/>
          <a:p>
            <a:pPr marL="0" lvl="0" indent="0">
              <a:buNone/>
            </a:pPr>
            <a:r>
              <a:rPr lang="en-US" sz="1900" b="1" dirty="0">
                <a:latin typeface="Times New Roman" panose="02020603050405020304" pitchFamily="18" charset="0"/>
                <a:cs typeface="Times New Roman" panose="02020603050405020304" pitchFamily="18" charset="0"/>
              </a:rPr>
              <a:t>1. User Registration (Consumers &amp; Farmers</a:t>
            </a:r>
            <a:r>
              <a:rPr lang="en-US" sz="1900" b="1" dirty="0"/>
              <a:t>)</a:t>
            </a:r>
          </a:p>
          <a:p>
            <a:pPr marL="0" indent="0">
              <a:buNone/>
            </a:pPr>
            <a:r>
              <a:rPr lang="en-US" sz="1600" dirty="0">
                <a:latin typeface="Times New Roman" panose="02020603050405020304" pitchFamily="18" charset="0"/>
                <a:cs typeface="Times New Roman" panose="02020603050405020304" pitchFamily="18" charset="0"/>
              </a:rPr>
              <a:t>Allows both consumers and farmers to sign up by providing basic details like name, email, contact number, and password.      Validates input and securely stores user data in the database</a:t>
            </a:r>
            <a:r>
              <a:rPr lang="en-US" sz="1600" dirty="0"/>
              <a:t>.</a:t>
            </a:r>
          </a:p>
          <a:p>
            <a:pPr marL="0" indent="0">
              <a:buNone/>
            </a:pPr>
            <a:endParaRPr lang="en-US" sz="1600" dirty="0"/>
          </a:p>
          <a:p>
            <a:pPr marL="0" indent="0">
              <a:buNone/>
            </a:pPr>
            <a:r>
              <a:rPr lang="en-US" sz="1900" b="1" dirty="0">
                <a:latin typeface="Times New Roman" panose="02020603050405020304" pitchFamily="18" charset="0"/>
                <a:cs typeface="Times New Roman" panose="02020603050405020304" pitchFamily="18" charset="0"/>
              </a:rPr>
              <a:t>2. Login &amp; Authentication</a:t>
            </a:r>
          </a:p>
          <a:p>
            <a:pPr marL="0" indent="0">
              <a:buNone/>
            </a:pPr>
            <a:r>
              <a:rPr lang="en-US" sz="1600" dirty="0">
                <a:latin typeface="Times New Roman" panose="02020603050405020304" pitchFamily="18" charset="0"/>
                <a:cs typeface="Times New Roman" panose="02020603050405020304" pitchFamily="18" charset="0"/>
              </a:rPr>
              <a:t>Enables registered users to log in securely. Authenticates credentials and manages user sessions to personalize access to          features.</a:t>
            </a:r>
          </a:p>
          <a:p>
            <a:pPr marL="0" indent="0">
              <a:buNone/>
            </a:pPr>
            <a:endParaRPr lang="en-US" sz="2500" b="1" dirty="0"/>
          </a:p>
          <a:p>
            <a:pPr marL="0" indent="0">
              <a:buNone/>
            </a:pPr>
            <a:r>
              <a:rPr lang="en-US" sz="2100" b="1" dirty="0">
                <a:latin typeface="Times New Roman" panose="02020603050405020304" pitchFamily="18" charset="0"/>
                <a:cs typeface="Times New Roman" panose="02020603050405020304" pitchFamily="18" charset="0"/>
              </a:rPr>
              <a:t>3</a:t>
            </a:r>
            <a:r>
              <a:rPr lang="en-US" sz="1900" b="1" dirty="0">
                <a:latin typeface="Times New Roman" panose="02020603050405020304" pitchFamily="18" charset="0"/>
                <a:cs typeface="Times New Roman" panose="02020603050405020304" pitchFamily="18" charset="0"/>
              </a:rPr>
              <a:t>. Product Categories</a:t>
            </a:r>
          </a:p>
          <a:p>
            <a:pPr marL="0" indent="0">
              <a:buNone/>
            </a:pPr>
            <a:r>
              <a:rPr lang="en-US" sz="1600" dirty="0">
                <a:latin typeface="Times New Roman" panose="02020603050405020304" pitchFamily="18" charset="0"/>
                <a:cs typeface="Times New Roman" panose="02020603050405020304" pitchFamily="18" charset="0"/>
              </a:rPr>
              <a:t>Displays farm product categories like fruits, vegetables, dairy, etc., with images and descriptions. Helps users easily browse what’s available.</a:t>
            </a:r>
          </a:p>
          <a:p>
            <a:endParaRPr lang="en-US" dirty="0"/>
          </a:p>
          <a:p>
            <a:pPr marL="0" indent="0">
              <a:buNone/>
            </a:pPr>
            <a:r>
              <a:rPr lang="en-US" sz="1700" b="1" dirty="0">
                <a:latin typeface="Times New Roman" panose="02020603050405020304" pitchFamily="18" charset="0"/>
                <a:cs typeface="Times New Roman" panose="02020603050405020304" pitchFamily="18" charset="0"/>
              </a:rPr>
              <a:t>4. Product Listing &amp; Details</a:t>
            </a:r>
          </a:p>
          <a:p>
            <a:pPr marL="0" indent="0">
              <a:buNone/>
            </a:pPr>
            <a:r>
              <a:rPr lang="en-US" sz="1500" dirty="0">
                <a:latin typeface="Times New Roman" panose="02020603050405020304" pitchFamily="18" charset="0"/>
                <a:cs typeface="Times New Roman" panose="02020603050405020304" pitchFamily="18" charset="0"/>
              </a:rPr>
              <a:t>Farmers can upload products with names, prices, and images. Consumers can view product details, availability, and prices before ordering.</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1700" b="1" dirty="0">
                <a:latin typeface="Times New Roman" panose="02020603050405020304" pitchFamily="18" charset="0"/>
                <a:cs typeface="Times New Roman" panose="02020603050405020304" pitchFamily="18" charset="0"/>
              </a:rPr>
              <a:t>5. Order Placement &amp; Cart</a:t>
            </a:r>
          </a:p>
          <a:p>
            <a:pPr marL="0" indent="0">
              <a:buNone/>
            </a:pPr>
            <a:r>
              <a:rPr lang="en-US" sz="1500" dirty="0">
                <a:latin typeface="Times New Roman" panose="02020603050405020304" pitchFamily="18" charset="0"/>
                <a:cs typeface="Times New Roman" panose="02020603050405020304" pitchFamily="18" charset="0"/>
              </a:rPr>
              <a:t>Consumers can add items to their cart, review the list, and place an order. The cart system helps manage multiple items and total cost calculations.</a:t>
            </a:r>
          </a:p>
          <a:p>
            <a:endParaRPr lang="en-US" sz="15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2467" y="101599"/>
            <a:ext cx="9770533" cy="5922829"/>
          </a:xfrm>
        </p:spPr>
        <p:txBody>
          <a:bodyPr>
            <a:normAutofit/>
          </a:bodyPr>
          <a:lstStyle/>
          <a:p>
            <a:pPr marL="0" lvl="0" indent="0">
              <a:buNone/>
            </a:pPr>
            <a:r>
              <a:rPr lang="en-US" sz="1600" b="1" dirty="0">
                <a:latin typeface="Times New Roman" panose="02020603050405020304" pitchFamily="18" charset="0"/>
                <a:cs typeface="Times New Roman" panose="02020603050405020304" pitchFamily="18" charset="0"/>
              </a:rPr>
              <a:t>6. Admin Dashboard</a:t>
            </a:r>
          </a:p>
          <a:p>
            <a:pPr marL="0" indent="0">
              <a:buNone/>
            </a:pPr>
            <a:r>
              <a:rPr lang="en-US" sz="1400" dirty="0">
                <a:latin typeface="Times New Roman" panose="02020603050405020304" pitchFamily="18" charset="0"/>
                <a:cs typeface="Times New Roman" panose="02020603050405020304" pitchFamily="18" charset="0"/>
              </a:rPr>
              <a:t>Provides control to monitor users, products, and orders. Admin can approve farmer accounts, manage data, and ensure smooth operations.</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7. Farmer Dashboard</a:t>
            </a:r>
          </a:p>
          <a:p>
            <a:pPr marL="0" indent="0">
              <a:buNone/>
            </a:pPr>
            <a:r>
              <a:rPr lang="en-US" sz="1400" dirty="0">
                <a:latin typeface="Times New Roman" panose="02020603050405020304" pitchFamily="18" charset="0"/>
                <a:cs typeface="Times New Roman" panose="02020603050405020304" pitchFamily="18" charset="0"/>
              </a:rPr>
              <a:t> Farmers can manage their profile, add or edit product listings, and track orders received. It simplifies their selling process.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8. Consumer </a:t>
            </a:r>
            <a:r>
              <a:rPr lang="en-US" sz="1600" b="1" dirty="0" err="1">
                <a:latin typeface="Times New Roman" panose="02020603050405020304" pitchFamily="18" charset="0"/>
                <a:cs typeface="Times New Roman" panose="02020603050405020304" pitchFamily="18" charset="0"/>
              </a:rPr>
              <a:t>DashBoard</a:t>
            </a:r>
            <a:endParaRPr lang="en-US" sz="1600" b="1"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Consumers can view past orders, track current ones, and manage their profile. Gives a clear overview of their buying activity.</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600" b="1" dirty="0">
                <a:latin typeface="Times New Roman" panose="02020603050405020304" pitchFamily="18" charset="0"/>
                <a:cs typeface="Times New Roman" panose="02020603050405020304" pitchFamily="18" charset="0"/>
              </a:rPr>
              <a:t>9.Contact &amp; Support</a:t>
            </a:r>
          </a:p>
          <a:p>
            <a:pPr marL="0" indent="0">
              <a:buNone/>
            </a:pPr>
            <a:r>
              <a:rPr lang="en-US" sz="1400" dirty="0">
                <a:latin typeface="Times New Roman" panose="02020603050405020304" pitchFamily="18" charset="0"/>
                <a:cs typeface="Times New Roman" panose="02020603050405020304" pitchFamily="18" charset="0"/>
              </a:rPr>
              <a:t>A contact page for consumers or farmers to raise questions or concerns. Ensures good communication and trust in the platform.</a:t>
            </a:r>
          </a:p>
        </p:txBody>
      </p:sp>
      <p:sp>
        <p:nvSpPr>
          <p:cNvPr id="6" name="Slide Number Placeholder 5"/>
          <p:cNvSpPr>
            <a:spLocks noGrp="1"/>
          </p:cNvSpPr>
          <p:nvPr>
            <p:ph type="sldNum" sz="quarter" idx="12"/>
          </p:nvPr>
        </p:nvSpPr>
        <p:spPr/>
        <p:txBody>
          <a:bodyPr/>
          <a:lstStyle/>
          <a:p>
            <a:fld id="{D57F1E4F-1CFF-5643-939E-217C01CDF565}" type="slidenum">
              <a:rPr lang="en-US" smtClean="0"/>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7219" y="3027680"/>
            <a:ext cx="8596668" cy="1320800"/>
          </a:xfrm>
        </p:spPr>
        <p:txBody>
          <a:bodyPr/>
          <a:lstStyle/>
          <a:p>
            <a:pPr algn="ctr"/>
            <a:r>
              <a:rPr lang="en-US" dirty="0"/>
              <a:t>System Design</a:t>
            </a:r>
          </a:p>
        </p:txBody>
      </p:sp>
      <p:sp>
        <p:nvSpPr>
          <p:cNvPr id="6" name="Slide Number Placeholder 5"/>
          <p:cNvSpPr>
            <a:spLocks noGrp="1"/>
          </p:cNvSpPr>
          <p:nvPr>
            <p:ph type="sldNum" sz="quarter" idx="12"/>
          </p:nvPr>
        </p:nvSpPr>
        <p:spPr/>
        <p:txBody>
          <a:bodyPr/>
          <a:lstStyle/>
          <a:p>
            <a:fld id="{D57F1E4F-1CFF-5643-939E-217C01CDF565}" type="slidenum">
              <a:rPr lang="en-US" smtClean="0"/>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57F1E4F-1CFF-5643-939E-217C01CDF565}" type="slidenum">
              <a:rPr lang="en-US" dirty="0"/>
              <a:t>14</a:t>
            </a:fld>
            <a:endParaRPr lang="en-US" dirty="0"/>
          </a:p>
        </p:txBody>
      </p:sp>
      <p:pic>
        <p:nvPicPr>
          <p:cNvPr id="12" name="Content Placeholder 11" descr="System Design"/>
          <p:cNvPicPr>
            <a:picLocks noGrp="1" noChangeAspect="1"/>
          </p:cNvPicPr>
          <p:nvPr>
            <p:ph idx="1"/>
          </p:nvPr>
        </p:nvPicPr>
        <p:blipFill>
          <a:blip r:embed="rId2"/>
          <a:stretch>
            <a:fillRect/>
          </a:stretch>
        </p:blipFill>
        <p:spPr>
          <a:xfrm>
            <a:off x="579755" y="201295"/>
            <a:ext cx="8695055" cy="584073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1" y="2277534"/>
            <a:ext cx="8596668" cy="1320800"/>
          </a:xfrm>
        </p:spPr>
        <p:txBody>
          <a:bodyPr/>
          <a:lstStyle/>
          <a:p>
            <a:pPr algn="ctr"/>
            <a:r>
              <a:rPr lang="en-US" dirty="0"/>
              <a:t>Database Development</a:t>
            </a:r>
          </a:p>
        </p:txBody>
      </p:sp>
      <p:sp>
        <p:nvSpPr>
          <p:cNvPr id="6" name="Slide Number Placeholder 5"/>
          <p:cNvSpPr>
            <a:spLocks noGrp="1"/>
          </p:cNvSpPr>
          <p:nvPr>
            <p:ph type="sldNum" sz="quarter" idx="12"/>
          </p:nvPr>
        </p:nvSpPr>
        <p:spPr/>
        <p:txBody>
          <a:bodyPr/>
          <a:lstStyle/>
          <a:p>
            <a:fld id="{D57F1E4F-1CFF-5643-939E-217C01CDF565}" type="slidenum">
              <a:rPr lang="en-US" smtClean="0"/>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7245" y="2476500"/>
            <a:ext cx="8596630" cy="1295400"/>
          </a:xfrm>
        </p:spPr>
        <p:txBody>
          <a:bodyPr/>
          <a:lstStyle/>
          <a:p>
            <a:pPr algn="ctr"/>
            <a:r>
              <a:rPr lang="en-US" altLang="en-GB"/>
              <a:t>Entity Relationship Diagram</a:t>
            </a:r>
          </a:p>
        </p:txBody>
      </p:sp>
      <p:sp>
        <p:nvSpPr>
          <p:cNvPr id="6" name="Slide Number Placeholder 5"/>
          <p:cNvSpPr>
            <a:spLocks noGrp="1"/>
          </p:cNvSpPr>
          <p:nvPr>
            <p:ph type="sldNum" sz="quarter" idx="12"/>
          </p:nvPr>
        </p:nvSpPr>
        <p:spPr/>
        <p:txBody>
          <a:bodyPr/>
          <a:lstStyle/>
          <a:p>
            <a:fld id="{D57F1E4F-1CFF-5643-939E-217C01CDF565}" type="slidenum">
              <a:rPr lang="en-US" dirty="0"/>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57F1E4F-1CFF-5643-939E-217C01CDF565}" type="slidenum">
              <a:rPr lang="en-US" smtClean="0"/>
              <a:t>17</a:t>
            </a:fld>
            <a:endParaRPr lang="en-US" dirty="0"/>
          </a:p>
        </p:txBody>
      </p:sp>
      <p:pic>
        <p:nvPicPr>
          <p:cNvPr id="4" name="Content Placeholder 3" descr="ER DIAGRAM1"/>
          <p:cNvPicPr>
            <a:picLocks noGrp="1" noChangeAspect="1"/>
          </p:cNvPicPr>
          <p:nvPr>
            <p:ph idx="1"/>
          </p:nvPr>
        </p:nvPicPr>
        <p:blipFill>
          <a:blip r:embed="rId2"/>
          <a:stretch>
            <a:fillRect/>
          </a:stretch>
        </p:blipFill>
        <p:spPr>
          <a:xfrm>
            <a:off x="727075" y="1218565"/>
            <a:ext cx="8851900" cy="32626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954867"/>
            <a:ext cx="8596668" cy="1320800"/>
          </a:xfrm>
        </p:spPr>
        <p:txBody>
          <a:bodyPr/>
          <a:lstStyle/>
          <a:p>
            <a:pPr algn="ctr"/>
            <a:r>
              <a:rPr lang="en-US" dirty="0"/>
              <a:t>Database Dictionary</a:t>
            </a:r>
          </a:p>
        </p:txBody>
      </p:sp>
      <p:sp>
        <p:nvSpPr>
          <p:cNvPr id="6" name="Slide Number Placeholder 5"/>
          <p:cNvSpPr>
            <a:spLocks noGrp="1"/>
          </p:cNvSpPr>
          <p:nvPr>
            <p:ph type="sldNum" sz="quarter" idx="12"/>
          </p:nvPr>
        </p:nvSpPr>
        <p:spPr/>
        <p:txBody>
          <a:bodyPr/>
          <a:lstStyle/>
          <a:p>
            <a:fld id="{D57F1E4F-1CFF-5643-939E-217C01CDF565}" type="slidenum">
              <a:rPr lang="en-US" smtClean="0"/>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552205" y="551848"/>
            <a:ext cx="8596668" cy="1320800"/>
          </a:xfrm>
        </p:spPr>
        <p:txBody>
          <a:bodyPr/>
          <a:lstStyle/>
          <a:p>
            <a:pPr algn="ctr"/>
            <a:r>
              <a:rPr lang="en-US" dirty="0"/>
              <a:t>Consumer Table</a:t>
            </a:r>
          </a:p>
        </p:txBody>
      </p:sp>
      <p:graphicFrame>
        <p:nvGraphicFramePr>
          <p:cNvPr id="7" name="Content Placeholder 6"/>
          <p:cNvGraphicFramePr>
            <a:graphicFrameLocks noGrp="1"/>
          </p:cNvGraphicFramePr>
          <p:nvPr>
            <p:ph idx="1"/>
          </p:nvPr>
        </p:nvGraphicFramePr>
        <p:xfrm>
          <a:off x="340979" y="1958458"/>
          <a:ext cx="9178405" cy="3706211"/>
        </p:xfrm>
        <a:graphic>
          <a:graphicData uri="http://schemas.openxmlformats.org/drawingml/2006/table">
            <a:tbl>
              <a:tblPr firstRow="1" bandRow="1">
                <a:tableStyleId>{5C22544A-7EE6-4342-B048-85BDC9FD1C3A}</a:tableStyleId>
              </a:tblPr>
              <a:tblGrid>
                <a:gridCol w="1835681">
                  <a:extLst>
                    <a:ext uri="{9D8B030D-6E8A-4147-A177-3AD203B41FA5}">
                      <a16:colId xmlns:a16="http://schemas.microsoft.com/office/drawing/2014/main" val="20000"/>
                    </a:ext>
                  </a:extLst>
                </a:gridCol>
                <a:gridCol w="1835681">
                  <a:extLst>
                    <a:ext uri="{9D8B030D-6E8A-4147-A177-3AD203B41FA5}">
                      <a16:colId xmlns:a16="http://schemas.microsoft.com/office/drawing/2014/main" val="20001"/>
                    </a:ext>
                  </a:extLst>
                </a:gridCol>
                <a:gridCol w="1835681">
                  <a:extLst>
                    <a:ext uri="{9D8B030D-6E8A-4147-A177-3AD203B41FA5}">
                      <a16:colId xmlns:a16="http://schemas.microsoft.com/office/drawing/2014/main" val="20002"/>
                    </a:ext>
                  </a:extLst>
                </a:gridCol>
                <a:gridCol w="1835681">
                  <a:extLst>
                    <a:ext uri="{9D8B030D-6E8A-4147-A177-3AD203B41FA5}">
                      <a16:colId xmlns:a16="http://schemas.microsoft.com/office/drawing/2014/main" val="20003"/>
                    </a:ext>
                  </a:extLst>
                </a:gridCol>
                <a:gridCol w="1835681">
                  <a:extLst>
                    <a:ext uri="{9D8B030D-6E8A-4147-A177-3AD203B41FA5}">
                      <a16:colId xmlns:a16="http://schemas.microsoft.com/office/drawing/2014/main" val="20004"/>
                    </a:ext>
                  </a:extLst>
                </a:gridCol>
              </a:tblGrid>
              <a:tr h="506479">
                <a:tc>
                  <a:txBody>
                    <a:bodyPr/>
                    <a:lstStyle/>
                    <a:p>
                      <a:pPr algn="ctr"/>
                      <a:r>
                        <a:rPr lang="en-US" dirty="0">
                          <a:latin typeface="Times New Roman" panose="02020603050405020304" pitchFamily="18" charset="0"/>
                          <a:cs typeface="Times New Roman" panose="02020603050405020304" pitchFamily="18" charset="0"/>
                        </a:rPr>
                        <a:t>Column Name </a:t>
                      </a:r>
                    </a:p>
                  </a:txBody>
                  <a:tcPr/>
                </a:tc>
                <a:tc>
                  <a:txBody>
                    <a:bodyPr/>
                    <a:lstStyle/>
                    <a:p>
                      <a:pPr algn="ctr"/>
                      <a:r>
                        <a:rPr lang="en-US" dirty="0">
                          <a:latin typeface="Times New Roman" panose="02020603050405020304" pitchFamily="18" charset="0"/>
                          <a:cs typeface="Times New Roman" panose="02020603050405020304" pitchFamily="18" charset="0"/>
                        </a:rPr>
                        <a:t>Data Type</a:t>
                      </a:r>
                    </a:p>
                  </a:txBody>
                  <a:tcPr/>
                </a:tc>
                <a:tc>
                  <a:txBody>
                    <a:bodyPr/>
                    <a:lstStyle/>
                    <a:p>
                      <a:pPr algn="ctr"/>
                      <a:r>
                        <a:rPr lang="en-US" dirty="0">
                          <a:latin typeface="Times New Roman" panose="02020603050405020304" pitchFamily="18" charset="0"/>
                          <a:cs typeface="Times New Roman" panose="02020603050405020304" pitchFamily="18" charset="0"/>
                        </a:rPr>
                        <a:t>Data Size</a:t>
                      </a:r>
                    </a:p>
                  </a:txBody>
                  <a:tcPr/>
                </a:tc>
                <a:tc>
                  <a:txBody>
                    <a:bodyPr/>
                    <a:lstStyle/>
                    <a:p>
                      <a:pPr algn="ctr"/>
                      <a:r>
                        <a:rPr lang="en-US" dirty="0">
                          <a:latin typeface="Times New Roman" panose="02020603050405020304" pitchFamily="18" charset="0"/>
                          <a:cs typeface="Times New Roman" panose="02020603050405020304" pitchFamily="18" charset="0"/>
                        </a:rPr>
                        <a:t>Constrains</a:t>
                      </a:r>
                    </a:p>
                  </a:txBody>
                  <a:tcPr/>
                </a:tc>
                <a:tc>
                  <a:txBody>
                    <a:bodyPr/>
                    <a:lstStyle/>
                    <a:p>
                      <a:pPr algn="ctr"/>
                      <a:r>
                        <a:rPr lang="en-US"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10000"/>
                  </a:ext>
                </a:extLst>
              </a:tr>
              <a:tr h="506479">
                <a:tc>
                  <a:txBody>
                    <a:bodyPr/>
                    <a:lstStyle/>
                    <a:p>
                      <a:pPr algn="ctr"/>
                      <a:r>
                        <a:rPr lang="en-US" dirty="0" err="1">
                          <a:latin typeface="Times New Roman" panose="02020603050405020304" pitchFamily="18" charset="0"/>
                          <a:cs typeface="Times New Roman" panose="02020603050405020304" pitchFamily="18" charset="0"/>
                        </a:rPr>
                        <a:t>Consumer_id</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err="1">
                          <a:latin typeface="Times New Roman" panose="02020603050405020304" pitchFamily="18" charset="0"/>
                          <a:cs typeface="Times New Roman" panose="02020603050405020304" pitchFamily="18" charset="0"/>
                        </a:rPr>
                        <a:t>Int</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11</a:t>
                      </a:r>
                    </a:p>
                  </a:txBody>
                  <a:tcPr/>
                </a:tc>
                <a:tc>
                  <a:txBody>
                    <a:bodyPr/>
                    <a:lstStyle/>
                    <a:p>
                      <a:pPr algn="ctr"/>
                      <a:r>
                        <a:rPr lang="en-US" dirty="0">
                          <a:latin typeface="Times New Roman" panose="02020603050405020304" pitchFamily="18" charset="0"/>
                          <a:cs typeface="Times New Roman" panose="02020603050405020304" pitchFamily="18" charset="0"/>
                        </a:rPr>
                        <a:t>Primary Key</a:t>
                      </a:r>
                    </a:p>
                  </a:txBody>
                  <a:tcPr/>
                </a:tc>
                <a:tc>
                  <a:txBody>
                    <a:bodyPr/>
                    <a:lstStyle/>
                    <a:p>
                      <a:pPr algn="ctr"/>
                      <a:r>
                        <a:rPr lang="en-US" dirty="0">
                          <a:latin typeface="Times New Roman" panose="02020603050405020304" pitchFamily="18" charset="0"/>
                          <a:cs typeface="Times New Roman" panose="02020603050405020304" pitchFamily="18" charset="0"/>
                        </a:rPr>
                        <a:t>Unique ID for each consumer</a:t>
                      </a:r>
                    </a:p>
                  </a:txBody>
                  <a:tcPr/>
                </a:tc>
                <a:extLst>
                  <a:ext uri="{0D108BD9-81ED-4DB2-BD59-A6C34878D82A}">
                    <a16:rowId xmlns:a16="http://schemas.microsoft.com/office/drawing/2014/main" val="10001"/>
                  </a:ext>
                </a:extLst>
              </a:tr>
              <a:tr h="506479">
                <a:tc>
                  <a:txBody>
                    <a:bodyPr/>
                    <a:lstStyle/>
                    <a:p>
                      <a:pPr algn="ctr"/>
                      <a:r>
                        <a:rPr lang="en-US" dirty="0">
                          <a:latin typeface="Times New Roman" panose="02020603050405020304" pitchFamily="18" charset="0"/>
                          <a:cs typeface="Times New Roman" panose="02020603050405020304" pitchFamily="18" charset="0"/>
                        </a:rPr>
                        <a:t>Name</a:t>
                      </a:r>
                      <a:r>
                        <a:rPr lang="en-US" baseline="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err="1">
                          <a:latin typeface="Times New Roman" panose="02020603050405020304" pitchFamily="18" charset="0"/>
                          <a:cs typeface="Times New Roman" panose="02020603050405020304" pitchFamily="18" charset="0"/>
                        </a:rPr>
                        <a:t>Varchar</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30</a:t>
                      </a:r>
                    </a:p>
                  </a:txBody>
                  <a:tcPr/>
                </a:tc>
                <a:tc>
                  <a:txBody>
                    <a:bodyPr/>
                    <a:lstStyle/>
                    <a:p>
                      <a:pPr algn="ctr"/>
                      <a:r>
                        <a:rPr lang="en-US" dirty="0">
                          <a:latin typeface="Times New Roman" panose="02020603050405020304" pitchFamily="18" charset="0"/>
                          <a:cs typeface="Times New Roman" panose="02020603050405020304" pitchFamily="18" charset="0"/>
                        </a:rPr>
                        <a:t>Not Null</a:t>
                      </a:r>
                    </a:p>
                  </a:txBody>
                  <a:tcPr/>
                </a:tc>
                <a:tc>
                  <a:txBody>
                    <a:bodyPr/>
                    <a:lstStyle/>
                    <a:p>
                      <a:pPr algn="ctr"/>
                      <a:r>
                        <a:rPr lang="en-US" dirty="0">
                          <a:latin typeface="Times New Roman" panose="02020603050405020304" pitchFamily="18" charset="0"/>
                          <a:cs typeface="Times New Roman" panose="02020603050405020304" pitchFamily="18" charset="0"/>
                        </a:rPr>
                        <a:t>Name of consumer</a:t>
                      </a:r>
                    </a:p>
                  </a:txBody>
                  <a:tcPr/>
                </a:tc>
                <a:extLst>
                  <a:ext uri="{0D108BD9-81ED-4DB2-BD59-A6C34878D82A}">
                    <a16:rowId xmlns:a16="http://schemas.microsoft.com/office/drawing/2014/main" val="10002"/>
                  </a:ext>
                </a:extLst>
              </a:tr>
              <a:tr h="506479">
                <a:tc>
                  <a:txBody>
                    <a:bodyPr/>
                    <a:lstStyle/>
                    <a:p>
                      <a:pPr algn="ctr"/>
                      <a:r>
                        <a:rPr lang="en-US" dirty="0">
                          <a:latin typeface="Times New Roman" panose="02020603050405020304" pitchFamily="18" charset="0"/>
                          <a:cs typeface="Times New Roman" panose="02020603050405020304" pitchFamily="18" charset="0"/>
                        </a:rPr>
                        <a:t>Email</a:t>
                      </a:r>
                    </a:p>
                  </a:txBody>
                  <a:tcPr/>
                </a:tc>
                <a:tc>
                  <a:txBody>
                    <a:bodyPr/>
                    <a:lstStyle/>
                    <a:p>
                      <a:pPr algn="ctr"/>
                      <a:r>
                        <a:rPr lang="en-US" dirty="0" err="1">
                          <a:latin typeface="Times New Roman" panose="02020603050405020304" pitchFamily="18" charset="0"/>
                          <a:cs typeface="Times New Roman" panose="02020603050405020304" pitchFamily="18" charset="0"/>
                        </a:rPr>
                        <a:t>Varchar</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30</a:t>
                      </a:r>
                    </a:p>
                  </a:txBody>
                  <a:tcPr/>
                </a:tc>
                <a:tc>
                  <a:txBody>
                    <a:bodyPr/>
                    <a:lstStyle/>
                    <a:p>
                      <a:pPr algn="ctr"/>
                      <a:r>
                        <a:rPr lang="en-US" dirty="0">
                          <a:latin typeface="Times New Roman" panose="02020603050405020304" pitchFamily="18" charset="0"/>
                          <a:cs typeface="Times New Roman" panose="02020603050405020304" pitchFamily="18" charset="0"/>
                        </a:rPr>
                        <a:t>Not Null</a:t>
                      </a:r>
                    </a:p>
                  </a:txBody>
                  <a:tcPr/>
                </a:tc>
                <a:tc>
                  <a:txBody>
                    <a:bodyPr/>
                    <a:lstStyle/>
                    <a:p>
                      <a:pPr algn="ctr"/>
                      <a:r>
                        <a:rPr lang="en-US" dirty="0">
                          <a:latin typeface="Times New Roman" panose="02020603050405020304" pitchFamily="18" charset="0"/>
                          <a:cs typeface="Times New Roman" panose="02020603050405020304" pitchFamily="18" charset="0"/>
                        </a:rPr>
                        <a:t>Used for login &amp; contact</a:t>
                      </a:r>
                    </a:p>
                  </a:txBody>
                  <a:tcPr/>
                </a:tc>
                <a:extLst>
                  <a:ext uri="{0D108BD9-81ED-4DB2-BD59-A6C34878D82A}">
                    <a16:rowId xmlns:a16="http://schemas.microsoft.com/office/drawing/2014/main" val="10003"/>
                  </a:ext>
                </a:extLst>
              </a:tr>
              <a:tr h="506479">
                <a:tc>
                  <a:txBody>
                    <a:bodyPr/>
                    <a:lstStyle/>
                    <a:p>
                      <a:pPr algn="ctr"/>
                      <a:r>
                        <a:rPr lang="en-US" dirty="0">
                          <a:latin typeface="Times New Roman" panose="02020603050405020304" pitchFamily="18" charset="0"/>
                          <a:cs typeface="Times New Roman" panose="02020603050405020304" pitchFamily="18" charset="0"/>
                        </a:rPr>
                        <a:t>Contact No</a:t>
                      </a:r>
                    </a:p>
                  </a:txBody>
                  <a:tcPr/>
                </a:tc>
                <a:tc>
                  <a:txBody>
                    <a:bodyPr/>
                    <a:lstStyle/>
                    <a:p>
                      <a:pPr algn="ctr"/>
                      <a:r>
                        <a:rPr lang="en-US" dirty="0" err="1">
                          <a:latin typeface="Times New Roman" panose="02020603050405020304" pitchFamily="18" charset="0"/>
                          <a:cs typeface="Times New Roman" panose="02020603050405020304" pitchFamily="18" charset="0"/>
                        </a:rPr>
                        <a:t>Int</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10</a:t>
                      </a:r>
                    </a:p>
                  </a:txBody>
                  <a:tcPr/>
                </a:tc>
                <a:tc>
                  <a:txBody>
                    <a:bodyPr/>
                    <a:lstStyle/>
                    <a:p>
                      <a:pPr algn="ctr"/>
                      <a:r>
                        <a:rPr lang="en-US" dirty="0">
                          <a:latin typeface="Times New Roman" panose="02020603050405020304" pitchFamily="18" charset="0"/>
                          <a:cs typeface="Times New Roman" panose="02020603050405020304" pitchFamily="18" charset="0"/>
                        </a:rPr>
                        <a:t>Not Null</a:t>
                      </a:r>
                    </a:p>
                  </a:txBody>
                  <a:tcPr/>
                </a:tc>
                <a:tc>
                  <a:txBody>
                    <a:bodyPr/>
                    <a:lstStyle/>
                    <a:p>
                      <a:pPr algn="ctr"/>
                      <a:r>
                        <a:rPr lang="en-US" dirty="0">
                          <a:latin typeface="Times New Roman" panose="02020603050405020304" pitchFamily="18" charset="0"/>
                          <a:cs typeface="Times New Roman" panose="02020603050405020304" pitchFamily="18" charset="0"/>
                        </a:rPr>
                        <a:t>Phone number for contact</a:t>
                      </a:r>
                    </a:p>
                  </a:txBody>
                  <a:tcPr/>
                </a:tc>
                <a:extLst>
                  <a:ext uri="{0D108BD9-81ED-4DB2-BD59-A6C34878D82A}">
                    <a16:rowId xmlns:a16="http://schemas.microsoft.com/office/drawing/2014/main" val="10004"/>
                  </a:ext>
                </a:extLst>
              </a:tr>
              <a:tr h="639412">
                <a:tc>
                  <a:txBody>
                    <a:bodyPr/>
                    <a:lstStyle/>
                    <a:p>
                      <a:pPr algn="ctr"/>
                      <a:r>
                        <a:rPr lang="en-US" dirty="0">
                          <a:latin typeface="Times New Roman" panose="02020603050405020304" pitchFamily="18" charset="0"/>
                          <a:cs typeface="Times New Roman" panose="02020603050405020304" pitchFamily="18" charset="0"/>
                        </a:rPr>
                        <a:t>Password</a:t>
                      </a:r>
                    </a:p>
                  </a:txBody>
                  <a:tcPr/>
                </a:tc>
                <a:tc>
                  <a:txBody>
                    <a:bodyPr/>
                    <a:lstStyle/>
                    <a:p>
                      <a:pPr algn="ctr"/>
                      <a:r>
                        <a:rPr lang="en-US" dirty="0" err="1">
                          <a:latin typeface="Times New Roman" panose="02020603050405020304" pitchFamily="18" charset="0"/>
                          <a:cs typeface="Times New Roman" panose="02020603050405020304" pitchFamily="18" charset="0"/>
                        </a:rPr>
                        <a:t>Varchar</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100</a:t>
                      </a:r>
                    </a:p>
                  </a:txBody>
                  <a:tcPr/>
                </a:tc>
                <a:tc>
                  <a:txBody>
                    <a:bodyPr/>
                    <a:lstStyle/>
                    <a:p>
                      <a:pPr algn="ctr"/>
                      <a:r>
                        <a:rPr lang="en-US" dirty="0">
                          <a:latin typeface="Times New Roman" panose="02020603050405020304" pitchFamily="18" charset="0"/>
                          <a:cs typeface="Times New Roman" panose="02020603050405020304" pitchFamily="18" charset="0"/>
                        </a:rPr>
                        <a:t>Not Null</a:t>
                      </a:r>
                    </a:p>
                  </a:txBody>
                  <a:tcPr/>
                </a:tc>
                <a:tc>
                  <a:txBody>
                    <a:bodyPr/>
                    <a:lstStyle/>
                    <a:p>
                      <a:pPr algn="ctr"/>
                      <a:r>
                        <a:rPr lang="en-US" dirty="0">
                          <a:latin typeface="Times New Roman" panose="02020603050405020304" pitchFamily="18" charset="0"/>
                          <a:cs typeface="Times New Roman" panose="02020603050405020304" pitchFamily="18" charset="0"/>
                        </a:rPr>
                        <a:t>For secure login</a:t>
                      </a:r>
                    </a:p>
                  </a:txBody>
                  <a:tcPr/>
                </a:tc>
                <a:extLst>
                  <a:ext uri="{0D108BD9-81ED-4DB2-BD59-A6C34878D82A}">
                    <a16:rowId xmlns:a16="http://schemas.microsoft.com/office/drawing/2014/main" val="10005"/>
                  </a:ext>
                </a:extLst>
              </a:tr>
            </a:tbl>
          </a:graphicData>
        </a:graphic>
      </p:graphicFrame>
      <p:sp>
        <p:nvSpPr>
          <p:cNvPr id="6" name="Slide Number Placeholder 5"/>
          <p:cNvSpPr>
            <a:spLocks noGrp="1"/>
          </p:cNvSpPr>
          <p:nvPr>
            <p:ph type="sldNum" sz="quarter" idx="12"/>
          </p:nvPr>
        </p:nvSpPr>
        <p:spPr/>
        <p:txBody>
          <a:bodyPr/>
          <a:lstStyle/>
          <a:p>
            <a:fld id="{D57F1E4F-1CFF-5643-939E-217C01CDF565}" type="slidenum">
              <a:rPr lang="en-US" smtClean="0"/>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0"/>
            <a:ext cx="8596668" cy="681789"/>
          </a:xfrm>
        </p:spPr>
        <p:txBody>
          <a:bodyPr/>
          <a:lstStyle/>
          <a:p>
            <a:pPr algn="ctr"/>
            <a:r>
              <a:rPr lang="en-US" dirty="0"/>
              <a:t>Farmer Table</a:t>
            </a:r>
          </a:p>
        </p:txBody>
      </p:sp>
      <p:sp>
        <p:nvSpPr>
          <p:cNvPr id="6" name="Slide Number Placeholder 5"/>
          <p:cNvSpPr>
            <a:spLocks noGrp="1"/>
          </p:cNvSpPr>
          <p:nvPr>
            <p:ph type="sldNum" sz="quarter" idx="12"/>
          </p:nvPr>
        </p:nvSpPr>
        <p:spPr/>
        <p:txBody>
          <a:bodyPr/>
          <a:lstStyle/>
          <a:p>
            <a:fld id="{D57F1E4F-1CFF-5643-939E-217C01CDF565}" type="slidenum">
              <a:rPr lang="en-US" smtClean="0"/>
              <a:t>20</a:t>
            </a:fld>
            <a:endParaRPr lang="en-US" dirty="0"/>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3764112036"/>
              </p:ext>
            </p:extLst>
          </p:nvPr>
        </p:nvGraphicFramePr>
        <p:xfrm>
          <a:off x="425190" y="912376"/>
          <a:ext cx="8671104" cy="4661486"/>
        </p:xfrm>
        <a:graphic>
          <a:graphicData uri="http://schemas.openxmlformats.org/drawingml/2006/table">
            <a:tbl>
              <a:tblPr firstRow="1" bandRow="1">
                <a:tableStyleId>{5C22544A-7EE6-4342-B048-85BDC9FD1C3A}</a:tableStyleId>
              </a:tblPr>
              <a:tblGrid>
                <a:gridCol w="1750201">
                  <a:extLst>
                    <a:ext uri="{9D8B030D-6E8A-4147-A177-3AD203B41FA5}">
                      <a16:colId xmlns:a16="http://schemas.microsoft.com/office/drawing/2014/main" val="20000"/>
                    </a:ext>
                  </a:extLst>
                </a:gridCol>
                <a:gridCol w="1750201">
                  <a:extLst>
                    <a:ext uri="{9D8B030D-6E8A-4147-A177-3AD203B41FA5}">
                      <a16:colId xmlns:a16="http://schemas.microsoft.com/office/drawing/2014/main" val="20001"/>
                    </a:ext>
                  </a:extLst>
                </a:gridCol>
                <a:gridCol w="1750201">
                  <a:extLst>
                    <a:ext uri="{9D8B030D-6E8A-4147-A177-3AD203B41FA5}">
                      <a16:colId xmlns:a16="http://schemas.microsoft.com/office/drawing/2014/main" val="20002"/>
                    </a:ext>
                  </a:extLst>
                </a:gridCol>
                <a:gridCol w="1750201">
                  <a:extLst>
                    <a:ext uri="{9D8B030D-6E8A-4147-A177-3AD203B41FA5}">
                      <a16:colId xmlns:a16="http://schemas.microsoft.com/office/drawing/2014/main" val="20003"/>
                    </a:ext>
                  </a:extLst>
                </a:gridCol>
                <a:gridCol w="1670300">
                  <a:extLst>
                    <a:ext uri="{9D8B030D-6E8A-4147-A177-3AD203B41FA5}">
                      <a16:colId xmlns:a16="http://schemas.microsoft.com/office/drawing/2014/main" val="20004"/>
                    </a:ext>
                  </a:extLst>
                </a:gridCol>
              </a:tblGrid>
              <a:tr h="415354">
                <a:tc>
                  <a:txBody>
                    <a:bodyPr/>
                    <a:lstStyle/>
                    <a:p>
                      <a:pPr algn="ctr"/>
                      <a:r>
                        <a:rPr lang="en-US" dirty="0">
                          <a:latin typeface="Times New Roman" panose="02020603050405020304" pitchFamily="18" charset="0"/>
                          <a:cs typeface="Times New Roman" panose="02020603050405020304" pitchFamily="18" charset="0"/>
                        </a:rPr>
                        <a:t>Column Name</a:t>
                      </a:r>
                    </a:p>
                  </a:txBody>
                  <a:tcPr/>
                </a:tc>
                <a:tc>
                  <a:txBody>
                    <a:bodyPr/>
                    <a:lstStyle/>
                    <a:p>
                      <a:pPr algn="ctr"/>
                      <a:r>
                        <a:rPr lang="en-US" dirty="0">
                          <a:latin typeface="Times New Roman" panose="02020603050405020304" pitchFamily="18" charset="0"/>
                          <a:cs typeface="Times New Roman" panose="02020603050405020304" pitchFamily="18" charset="0"/>
                        </a:rPr>
                        <a:t>Data Type</a:t>
                      </a:r>
                    </a:p>
                  </a:txBody>
                  <a:tcPr/>
                </a:tc>
                <a:tc>
                  <a:txBody>
                    <a:bodyPr/>
                    <a:lstStyle/>
                    <a:p>
                      <a:pPr algn="ctr"/>
                      <a:r>
                        <a:rPr lang="en-US" dirty="0">
                          <a:latin typeface="Times New Roman" panose="02020603050405020304" pitchFamily="18" charset="0"/>
                          <a:cs typeface="Times New Roman" panose="02020603050405020304" pitchFamily="18" charset="0"/>
                        </a:rPr>
                        <a:t>Data Size</a:t>
                      </a:r>
                    </a:p>
                  </a:txBody>
                  <a:tcPr/>
                </a:tc>
                <a:tc>
                  <a:txBody>
                    <a:bodyPr/>
                    <a:lstStyle/>
                    <a:p>
                      <a:pPr algn="ctr"/>
                      <a:r>
                        <a:rPr lang="en-US" dirty="0">
                          <a:latin typeface="Times New Roman" panose="02020603050405020304" pitchFamily="18" charset="0"/>
                          <a:cs typeface="Times New Roman" panose="02020603050405020304" pitchFamily="18" charset="0"/>
                        </a:rPr>
                        <a:t>Constrains</a:t>
                      </a:r>
                    </a:p>
                  </a:txBody>
                  <a:tcPr/>
                </a:tc>
                <a:tc>
                  <a:txBody>
                    <a:bodyPr/>
                    <a:lstStyle/>
                    <a:p>
                      <a:pPr algn="ctr"/>
                      <a:r>
                        <a:rPr lang="en-US"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10000"/>
                  </a:ext>
                </a:extLst>
              </a:tr>
              <a:tr h="712169">
                <a:tc>
                  <a:txBody>
                    <a:bodyPr/>
                    <a:lstStyle/>
                    <a:p>
                      <a:pPr algn="ctr"/>
                      <a:r>
                        <a:rPr lang="en-US" sz="1400" dirty="0" err="1">
                          <a:latin typeface="Times New Roman" panose="02020603050405020304" pitchFamily="18" charset="0"/>
                          <a:cs typeface="Times New Roman" panose="02020603050405020304" pitchFamily="18" charset="0"/>
                        </a:rPr>
                        <a:t>Farmer_id</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err="1">
                          <a:latin typeface="Times New Roman" panose="02020603050405020304" pitchFamily="18" charset="0"/>
                          <a:cs typeface="Times New Roman" panose="02020603050405020304" pitchFamily="18" charset="0"/>
                        </a:rPr>
                        <a:t>Int</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10</a:t>
                      </a:r>
                    </a:p>
                  </a:txBody>
                  <a:tcPr/>
                </a:tc>
                <a:tc>
                  <a:txBody>
                    <a:bodyPr/>
                    <a:lstStyle/>
                    <a:p>
                      <a:pPr algn="ctr"/>
                      <a:r>
                        <a:rPr lang="en-US" sz="1400" dirty="0">
                          <a:latin typeface="Times New Roman" panose="02020603050405020304" pitchFamily="18" charset="0"/>
                          <a:cs typeface="Times New Roman" panose="02020603050405020304" pitchFamily="18" charset="0"/>
                        </a:rPr>
                        <a:t>Primary Key</a:t>
                      </a:r>
                    </a:p>
                  </a:txBody>
                  <a:tcPr/>
                </a:tc>
                <a:tc>
                  <a:txBody>
                    <a:bodyPr/>
                    <a:lstStyle/>
                    <a:p>
                      <a:pPr algn="ctr"/>
                      <a:r>
                        <a:rPr lang="en-US" sz="1400" dirty="0">
                          <a:latin typeface="Times New Roman" panose="02020603050405020304" pitchFamily="18" charset="0"/>
                          <a:cs typeface="Times New Roman" panose="02020603050405020304" pitchFamily="18" charset="0"/>
                        </a:rPr>
                        <a:t>Unique ID for each farmer</a:t>
                      </a:r>
                    </a:p>
                  </a:txBody>
                  <a:tcPr/>
                </a:tc>
                <a:extLst>
                  <a:ext uri="{0D108BD9-81ED-4DB2-BD59-A6C34878D82A}">
                    <a16:rowId xmlns:a16="http://schemas.microsoft.com/office/drawing/2014/main" val="10001"/>
                  </a:ext>
                </a:extLst>
              </a:tr>
              <a:tr h="588418">
                <a:tc>
                  <a:txBody>
                    <a:bodyPr/>
                    <a:lstStyle/>
                    <a:p>
                      <a:pPr algn="ctr"/>
                      <a:r>
                        <a:rPr lang="en-US" sz="1400" dirty="0" err="1">
                          <a:latin typeface="Times New Roman" panose="02020603050405020304" pitchFamily="18" charset="0"/>
                          <a:cs typeface="Times New Roman" panose="02020603050405020304" pitchFamily="18" charset="0"/>
                        </a:rPr>
                        <a:t>Kisan_id</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err="1">
                          <a:latin typeface="Times New Roman" panose="02020603050405020304" pitchFamily="18" charset="0"/>
                          <a:cs typeface="Times New Roman" panose="02020603050405020304" pitchFamily="18" charset="0"/>
                        </a:rPr>
                        <a:t>Int</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13   </a:t>
                      </a:r>
                    </a:p>
                  </a:txBody>
                  <a:tcPr/>
                </a:tc>
                <a:tc>
                  <a:txBody>
                    <a:bodyPr/>
                    <a:lstStyle/>
                    <a:p>
                      <a:pPr algn="ct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err="1">
                          <a:latin typeface="Times New Roman" panose="02020603050405020304" pitchFamily="18" charset="0"/>
                          <a:cs typeface="Times New Roman" panose="02020603050405020304" pitchFamily="18" charset="0"/>
                        </a:rPr>
                        <a:t>Govt</a:t>
                      </a:r>
                      <a:r>
                        <a:rPr lang="en-US" sz="1400" dirty="0">
                          <a:latin typeface="Times New Roman" panose="02020603050405020304" pitchFamily="18" charset="0"/>
                          <a:cs typeface="Times New Roman" panose="02020603050405020304" pitchFamily="18" charset="0"/>
                        </a:rPr>
                        <a:t> ID for farmer verification</a:t>
                      </a:r>
                    </a:p>
                  </a:txBody>
                  <a:tcPr/>
                </a:tc>
                <a:extLst>
                  <a:ext uri="{0D108BD9-81ED-4DB2-BD59-A6C34878D82A}">
                    <a16:rowId xmlns:a16="http://schemas.microsoft.com/office/drawing/2014/main" val="10002"/>
                  </a:ext>
                </a:extLst>
              </a:tr>
              <a:tr h="346128">
                <a:tc>
                  <a:txBody>
                    <a:bodyPr/>
                    <a:lstStyle/>
                    <a:p>
                      <a:pPr algn="ctr"/>
                      <a:r>
                        <a:rPr lang="en-US" sz="1400" dirty="0">
                          <a:latin typeface="Times New Roman" panose="02020603050405020304" pitchFamily="18" charset="0"/>
                          <a:cs typeface="Times New Roman" panose="02020603050405020304" pitchFamily="18" charset="0"/>
                        </a:rPr>
                        <a:t>Name</a:t>
                      </a:r>
                    </a:p>
                  </a:txBody>
                  <a:tcPr/>
                </a:tc>
                <a:tc>
                  <a:txBody>
                    <a:bodyPr/>
                    <a:lstStyle/>
                    <a:p>
                      <a:pPr algn="ctr"/>
                      <a:r>
                        <a:rPr lang="en-US" sz="1400" dirty="0" err="1">
                          <a:latin typeface="Times New Roman" panose="02020603050405020304" pitchFamily="18" charset="0"/>
                          <a:cs typeface="Times New Roman" panose="02020603050405020304" pitchFamily="18" charset="0"/>
                        </a:rPr>
                        <a:t>Varchar</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50</a:t>
                      </a:r>
                    </a:p>
                  </a:txBody>
                  <a:tcPr/>
                </a:tc>
                <a:tc>
                  <a:txBody>
                    <a:bodyPr/>
                    <a:lstStyle/>
                    <a:p>
                      <a:pPr algn="ct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a:latin typeface="Times New Roman" panose="02020603050405020304" pitchFamily="18" charset="0"/>
                          <a:cs typeface="Times New Roman" panose="02020603050405020304" pitchFamily="18" charset="0"/>
                        </a:rPr>
                        <a:t>Name of farmer</a:t>
                      </a:r>
                    </a:p>
                  </a:txBody>
                  <a:tcPr/>
                </a:tc>
                <a:extLst>
                  <a:ext uri="{0D108BD9-81ED-4DB2-BD59-A6C34878D82A}">
                    <a16:rowId xmlns:a16="http://schemas.microsoft.com/office/drawing/2014/main" val="10003"/>
                  </a:ext>
                </a:extLst>
              </a:tr>
              <a:tr h="588418">
                <a:tc>
                  <a:txBody>
                    <a:bodyPr/>
                    <a:lstStyle/>
                    <a:p>
                      <a:pPr algn="ctr"/>
                      <a:r>
                        <a:rPr lang="en-US" sz="1400" dirty="0">
                          <a:latin typeface="Times New Roman" panose="02020603050405020304" pitchFamily="18" charset="0"/>
                          <a:cs typeface="Times New Roman" panose="02020603050405020304" pitchFamily="18" charset="0"/>
                        </a:rPr>
                        <a:t>Email</a:t>
                      </a:r>
                    </a:p>
                  </a:txBody>
                  <a:tcPr/>
                </a:tc>
                <a:tc>
                  <a:txBody>
                    <a:bodyPr/>
                    <a:lstStyle/>
                    <a:p>
                      <a:pPr algn="ctr"/>
                      <a:r>
                        <a:rPr lang="en-US" sz="1400" dirty="0" err="1">
                          <a:latin typeface="Times New Roman" panose="02020603050405020304" pitchFamily="18" charset="0"/>
                          <a:cs typeface="Times New Roman" panose="02020603050405020304" pitchFamily="18" charset="0"/>
                        </a:rPr>
                        <a:t>Varchar</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50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a:latin typeface="Times New Roman" panose="02020603050405020304" pitchFamily="18" charset="0"/>
                          <a:cs typeface="Times New Roman" panose="02020603050405020304" pitchFamily="18" charset="0"/>
                        </a:rPr>
                        <a:t>For login or communication</a:t>
                      </a:r>
                    </a:p>
                  </a:txBody>
                  <a:tcPr/>
                </a:tc>
                <a:extLst>
                  <a:ext uri="{0D108BD9-81ED-4DB2-BD59-A6C34878D82A}">
                    <a16:rowId xmlns:a16="http://schemas.microsoft.com/office/drawing/2014/main" val="10004"/>
                  </a:ext>
                </a:extLst>
              </a:tr>
              <a:tr h="588418">
                <a:tc>
                  <a:txBody>
                    <a:bodyPr/>
                    <a:lstStyle/>
                    <a:p>
                      <a:pPr algn="ctr"/>
                      <a:r>
                        <a:rPr lang="en-US" sz="1400" dirty="0">
                          <a:latin typeface="Times New Roman" panose="02020603050405020304" pitchFamily="18" charset="0"/>
                          <a:cs typeface="Times New Roman" panose="02020603050405020304" pitchFamily="18" charset="0"/>
                        </a:rPr>
                        <a:t>Contact</a:t>
                      </a:r>
                      <a:r>
                        <a:rPr lang="en-US" sz="1400" baseline="0" dirty="0">
                          <a:latin typeface="Times New Roman" panose="02020603050405020304" pitchFamily="18" charset="0"/>
                          <a:cs typeface="Times New Roman" panose="02020603050405020304" pitchFamily="18" charset="0"/>
                        </a:rPr>
                        <a:t> No</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err="1">
                          <a:latin typeface="Times New Roman" panose="02020603050405020304" pitchFamily="18" charset="0"/>
                          <a:cs typeface="Times New Roman" panose="02020603050405020304" pitchFamily="18" charset="0"/>
                        </a:rPr>
                        <a:t>Int</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10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a:latin typeface="Times New Roman" panose="02020603050405020304" pitchFamily="18" charset="0"/>
                          <a:cs typeface="Times New Roman" panose="02020603050405020304" pitchFamily="18" charset="0"/>
                        </a:rPr>
                        <a:t>Farmer’s phone number</a:t>
                      </a:r>
                    </a:p>
                  </a:txBody>
                  <a:tcPr/>
                </a:tc>
                <a:extLst>
                  <a:ext uri="{0D108BD9-81ED-4DB2-BD59-A6C34878D82A}">
                    <a16:rowId xmlns:a16="http://schemas.microsoft.com/office/drawing/2014/main" val="10005"/>
                  </a:ext>
                </a:extLst>
              </a:tr>
              <a:tr h="384196">
                <a:tc>
                  <a:txBody>
                    <a:bodyPr/>
                    <a:lstStyle/>
                    <a:p>
                      <a:pPr algn="ctr"/>
                      <a:r>
                        <a:rPr lang="en-US" sz="1400" dirty="0" err="1">
                          <a:latin typeface="Times New Roman" panose="02020603050405020304" pitchFamily="18" charset="0"/>
                          <a:cs typeface="Times New Roman" panose="02020603050405020304" pitchFamily="18" charset="0"/>
                        </a:rPr>
                        <a:t>Pincode</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err="1">
                          <a:latin typeface="Times New Roman" panose="02020603050405020304" pitchFamily="18" charset="0"/>
                          <a:cs typeface="Times New Roman" panose="02020603050405020304" pitchFamily="18" charset="0"/>
                        </a:rPr>
                        <a:t>Int</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7</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a:latin typeface="Times New Roman" panose="02020603050405020304" pitchFamily="18" charset="0"/>
                          <a:cs typeface="Times New Roman" panose="02020603050405020304" pitchFamily="18" charset="0"/>
                        </a:rPr>
                        <a:t>Farmer’s area code</a:t>
                      </a:r>
                    </a:p>
                  </a:txBody>
                  <a:tcPr/>
                </a:tc>
                <a:extLst>
                  <a:ext uri="{0D108BD9-81ED-4DB2-BD59-A6C34878D82A}">
                    <a16:rowId xmlns:a16="http://schemas.microsoft.com/office/drawing/2014/main" val="10006"/>
                  </a:ext>
                </a:extLst>
              </a:tr>
              <a:tr h="614002">
                <a:tc>
                  <a:txBody>
                    <a:bodyPr/>
                    <a:lstStyle/>
                    <a:p>
                      <a:pPr algn="ctr"/>
                      <a:r>
                        <a:rPr lang="en-US" sz="1400" dirty="0">
                          <a:latin typeface="Times New Roman" panose="02020603050405020304" pitchFamily="18" charset="0"/>
                          <a:cs typeface="Times New Roman" panose="02020603050405020304" pitchFamily="18" charset="0"/>
                        </a:rPr>
                        <a:t>Village</a:t>
                      </a:r>
                    </a:p>
                  </a:txBody>
                  <a:tcPr/>
                </a:tc>
                <a:tc>
                  <a:txBody>
                    <a:bodyPr/>
                    <a:lstStyle/>
                    <a:p>
                      <a:pPr algn="ctr"/>
                      <a:r>
                        <a:rPr lang="en-US" sz="1400" dirty="0" err="1">
                          <a:latin typeface="Times New Roman" panose="02020603050405020304" pitchFamily="18" charset="0"/>
                          <a:cs typeface="Times New Roman" panose="02020603050405020304" pitchFamily="18" charset="0"/>
                        </a:rPr>
                        <a:t>Varchar</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100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a:latin typeface="Times New Roman" panose="02020603050405020304" pitchFamily="18" charset="0"/>
                          <a:cs typeface="Times New Roman" panose="02020603050405020304" pitchFamily="18" charset="0"/>
                        </a:rPr>
                        <a:t>Farmer’s village location</a:t>
                      </a:r>
                    </a:p>
                  </a:txBody>
                  <a:tcPr/>
                </a:tc>
                <a:extLst>
                  <a:ext uri="{0D108BD9-81ED-4DB2-BD59-A6C34878D82A}">
                    <a16:rowId xmlns:a16="http://schemas.microsoft.com/office/drawing/2014/main" val="10007"/>
                  </a:ext>
                </a:extLst>
              </a:tr>
              <a:tr h="424383">
                <a:tc>
                  <a:txBody>
                    <a:bodyPr/>
                    <a:lstStyle/>
                    <a:p>
                      <a:pPr algn="ctr"/>
                      <a:r>
                        <a:rPr lang="en-US" sz="1400" dirty="0">
                          <a:latin typeface="Times New Roman" panose="02020603050405020304" pitchFamily="18" charset="0"/>
                          <a:cs typeface="Times New Roman" panose="02020603050405020304" pitchFamily="18" charset="0"/>
                        </a:rPr>
                        <a:t>Password</a:t>
                      </a:r>
                    </a:p>
                  </a:txBody>
                  <a:tcPr/>
                </a:tc>
                <a:tc>
                  <a:txBody>
                    <a:bodyPr/>
                    <a:lstStyle/>
                    <a:p>
                      <a:pPr algn="ctr"/>
                      <a:r>
                        <a:rPr lang="en-US" sz="1400" dirty="0" err="1">
                          <a:latin typeface="Times New Roman" panose="02020603050405020304" pitchFamily="18" charset="0"/>
                          <a:cs typeface="Times New Roman" panose="02020603050405020304" pitchFamily="18" charset="0"/>
                        </a:rPr>
                        <a:t>Varchar</a:t>
                      </a:r>
                      <a:endParaRPr lang="en-US"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100</a:t>
                      </a:r>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defRPr/>
                      </a:pPr>
                      <a:r>
                        <a:rPr lang="en-US" sz="1400" dirty="0">
                          <a:latin typeface="Times New Roman" panose="02020603050405020304" pitchFamily="18" charset="0"/>
                          <a:cs typeface="Times New Roman" panose="02020603050405020304" pitchFamily="18" charset="0"/>
                        </a:rPr>
                        <a:t>Not Null</a:t>
                      </a:r>
                    </a:p>
                  </a:txBody>
                  <a:tcPr/>
                </a:tc>
                <a:tc>
                  <a:txBody>
                    <a:bodyPr/>
                    <a:lstStyle/>
                    <a:p>
                      <a:pPr algn="ctr"/>
                      <a:r>
                        <a:rPr lang="en-US" sz="1400" dirty="0">
                          <a:latin typeface="Times New Roman" panose="02020603050405020304" pitchFamily="18" charset="0"/>
                          <a:cs typeface="Times New Roman" panose="02020603050405020304" pitchFamily="18" charset="0"/>
                        </a:rPr>
                        <a:t>For secure login</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E024A67-BB97-9805-D059-8539F529384C}"/>
              </a:ext>
            </a:extLst>
          </p:cNvPr>
          <p:cNvSpPr>
            <a:spLocks noGrp="1"/>
          </p:cNvSpPr>
          <p:nvPr>
            <p:ph type="sldNum" sz="quarter" idx="12"/>
          </p:nvPr>
        </p:nvSpPr>
        <p:spPr/>
        <p:txBody>
          <a:bodyPr/>
          <a:lstStyle/>
          <a:p>
            <a:fld id="{D57F1E4F-1CFF-5643-939E-217C01CDF565}" type="slidenum">
              <a:rPr lang="en-US" smtClean="0"/>
              <a:t>21</a:t>
            </a:fld>
            <a:endParaRPr lang="en-US" dirty="0"/>
          </a:p>
        </p:txBody>
      </p:sp>
      <p:sp>
        <p:nvSpPr>
          <p:cNvPr id="6" name="TextBox 5">
            <a:extLst>
              <a:ext uri="{FF2B5EF4-FFF2-40B4-BE49-F238E27FC236}">
                <a16:creationId xmlns:a16="http://schemas.microsoft.com/office/drawing/2014/main" id="{A4CCDE92-8564-7E28-56EB-6AAD0FA8F488}"/>
              </a:ext>
            </a:extLst>
          </p:cNvPr>
          <p:cNvSpPr txBox="1"/>
          <p:nvPr/>
        </p:nvSpPr>
        <p:spPr>
          <a:xfrm>
            <a:off x="1953208" y="935007"/>
            <a:ext cx="6102220" cy="646331"/>
          </a:xfrm>
          <a:prstGeom prst="rect">
            <a:avLst/>
          </a:prstGeom>
          <a:solidFill>
            <a:schemeClr val="bg1"/>
          </a:solidFill>
          <a:ln>
            <a:solidFill>
              <a:schemeClr val="bg1"/>
            </a:solidFill>
          </a:ln>
        </p:spPr>
        <p:txBody>
          <a:bodyPr wrap="square">
            <a:spAutoFit/>
          </a:bodyPr>
          <a:lstStyle/>
          <a:p>
            <a:pPr algn="ctr"/>
            <a:r>
              <a:rPr lang="en-US" sz="3600" dirty="0">
                <a:solidFill>
                  <a:schemeClr val="accent1"/>
                </a:solidFill>
                <a:latin typeface="Trebuchet MS (Headings)"/>
              </a:rPr>
              <a:t>Admin</a:t>
            </a:r>
            <a:r>
              <a:rPr lang="en-US" sz="3600" dirty="0">
                <a:latin typeface="Trebuchet MS (Headings)"/>
              </a:rPr>
              <a:t> </a:t>
            </a:r>
            <a:r>
              <a:rPr lang="en-US" sz="3600" dirty="0">
                <a:solidFill>
                  <a:schemeClr val="accent1"/>
                </a:solidFill>
                <a:latin typeface="Trebuchet MS (Headings)"/>
              </a:rPr>
              <a:t>Table</a:t>
            </a:r>
            <a:endParaRPr lang="en-IN" sz="3600" dirty="0">
              <a:solidFill>
                <a:schemeClr val="accent1"/>
              </a:solidFill>
              <a:latin typeface="Trebuchet MS (Headings)"/>
            </a:endParaRPr>
          </a:p>
        </p:txBody>
      </p:sp>
      <p:graphicFrame>
        <p:nvGraphicFramePr>
          <p:cNvPr id="13" name="Table 12">
            <a:extLst>
              <a:ext uri="{FF2B5EF4-FFF2-40B4-BE49-F238E27FC236}">
                <a16:creationId xmlns:a16="http://schemas.microsoft.com/office/drawing/2014/main" id="{6B475344-2E89-FD58-3961-6FAE8E0503CC}"/>
              </a:ext>
            </a:extLst>
          </p:cNvPr>
          <p:cNvGraphicFramePr>
            <a:graphicFrameLocks noGrp="1"/>
          </p:cNvGraphicFramePr>
          <p:nvPr>
            <p:extLst>
              <p:ext uri="{D42A27DB-BD31-4B8C-83A1-F6EECF244321}">
                <p14:modId xmlns:p14="http://schemas.microsoft.com/office/powerpoint/2010/main" val="3879366925"/>
              </p:ext>
            </p:extLst>
          </p:nvPr>
        </p:nvGraphicFramePr>
        <p:xfrm>
          <a:off x="940317" y="2150393"/>
          <a:ext cx="8520924" cy="3185877"/>
        </p:xfrm>
        <a:graphic>
          <a:graphicData uri="http://schemas.openxmlformats.org/drawingml/2006/table">
            <a:tbl>
              <a:tblPr firstRow="1" bandRow="1">
                <a:tableStyleId>{5C22544A-7EE6-4342-B048-85BDC9FD1C3A}</a:tableStyleId>
              </a:tblPr>
              <a:tblGrid>
                <a:gridCol w="1762875">
                  <a:extLst>
                    <a:ext uri="{9D8B030D-6E8A-4147-A177-3AD203B41FA5}">
                      <a16:colId xmlns:a16="http://schemas.microsoft.com/office/drawing/2014/main" val="1655127353"/>
                    </a:ext>
                  </a:extLst>
                </a:gridCol>
                <a:gridCol w="1633539">
                  <a:extLst>
                    <a:ext uri="{9D8B030D-6E8A-4147-A177-3AD203B41FA5}">
                      <a16:colId xmlns:a16="http://schemas.microsoft.com/office/drawing/2014/main" val="3126200205"/>
                    </a:ext>
                  </a:extLst>
                </a:gridCol>
                <a:gridCol w="1613976">
                  <a:extLst>
                    <a:ext uri="{9D8B030D-6E8A-4147-A177-3AD203B41FA5}">
                      <a16:colId xmlns:a16="http://schemas.microsoft.com/office/drawing/2014/main" val="2682511407"/>
                    </a:ext>
                  </a:extLst>
                </a:gridCol>
                <a:gridCol w="1750920">
                  <a:extLst>
                    <a:ext uri="{9D8B030D-6E8A-4147-A177-3AD203B41FA5}">
                      <a16:colId xmlns:a16="http://schemas.microsoft.com/office/drawing/2014/main" val="3763352462"/>
                    </a:ext>
                  </a:extLst>
                </a:gridCol>
                <a:gridCol w="1759614">
                  <a:extLst>
                    <a:ext uri="{9D8B030D-6E8A-4147-A177-3AD203B41FA5}">
                      <a16:colId xmlns:a16="http://schemas.microsoft.com/office/drawing/2014/main" val="2149595370"/>
                    </a:ext>
                  </a:extLst>
                </a:gridCol>
              </a:tblGrid>
              <a:tr h="352954">
                <a:tc>
                  <a:txBody>
                    <a:bodyPr/>
                    <a:lstStyle/>
                    <a:p>
                      <a:pPr algn="ctr"/>
                      <a:r>
                        <a:rPr lang="en-US" sz="1800" dirty="0">
                          <a:latin typeface="Times New Roman" panose="02020603050405020304" pitchFamily="18" charset="0"/>
                          <a:cs typeface="Times New Roman" panose="02020603050405020304" pitchFamily="18" charset="0"/>
                        </a:rPr>
                        <a:t>Column Name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Type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Size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Constrains</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29182610"/>
                  </a:ext>
                </a:extLst>
              </a:tr>
              <a:tr h="758618">
                <a:tc>
                  <a:txBody>
                    <a:bodyPr/>
                    <a:lstStyle/>
                    <a:p>
                      <a:pPr algn="ctr"/>
                      <a:r>
                        <a:rPr lang="en-US" sz="1800" dirty="0" err="1">
                          <a:latin typeface="Times New Roman" panose="02020603050405020304" pitchFamily="18" charset="0"/>
                          <a:cs typeface="Times New Roman" panose="02020603050405020304" pitchFamily="18" charset="0"/>
                        </a:rPr>
                        <a:t>Admin_id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Primary Key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Unique identifier for each admin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857324"/>
                  </a:ext>
                </a:extLst>
              </a:tr>
              <a:tr h="882384">
                <a:tc>
                  <a:txBody>
                    <a:bodyPr/>
                    <a:lstStyle/>
                    <a:p>
                      <a:pPr algn="ctr"/>
                      <a:r>
                        <a:rPr lang="en-US" sz="1800" dirty="0">
                          <a:latin typeface="Times New Roman" panose="02020603050405020304" pitchFamily="18" charset="0"/>
                          <a:cs typeface="Times New Roman" panose="02020603050405020304" pitchFamily="18" charset="0"/>
                        </a:rPr>
                        <a:t>Username</a:t>
                      </a:r>
                    </a:p>
                  </a:txBody>
                  <a:tcPr/>
                </a:tc>
                <a:tc>
                  <a:txBody>
                    <a:bodyPr/>
                    <a:lstStyle/>
                    <a:p>
                      <a:pPr algn="ctr"/>
                      <a:r>
                        <a:rPr lang="en-US" sz="1800" dirty="0">
                          <a:latin typeface="Times New Roman" panose="02020603050405020304" pitchFamily="18" charset="0"/>
                          <a:cs typeface="Times New Roman" panose="02020603050405020304" pitchFamily="18" charset="0"/>
                        </a:rPr>
                        <a:t>Varchar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50</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Not Null</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Login name chosen by the admin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21831206"/>
                  </a:ext>
                </a:extLst>
              </a:tr>
              <a:tr h="1147099">
                <a:tc>
                  <a:txBody>
                    <a:bodyPr/>
                    <a:lstStyle/>
                    <a:p>
                      <a:pPr algn="ctr"/>
                      <a:r>
                        <a:rPr lang="en-US" sz="1800" dirty="0">
                          <a:latin typeface="Times New Roman" panose="02020603050405020304" pitchFamily="18" charset="0"/>
                          <a:cs typeface="Times New Roman" panose="02020603050405020304" pitchFamily="18" charset="0"/>
                        </a:rPr>
                        <a:t>Password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Varchar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255</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Not Null</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Stores the admin’s hashed password</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23156700"/>
                  </a:ext>
                </a:extLst>
              </a:tr>
            </a:tbl>
          </a:graphicData>
        </a:graphic>
      </p:graphicFrame>
    </p:spTree>
    <p:extLst>
      <p:ext uri="{BB962C8B-B14F-4D97-AF65-F5344CB8AC3E}">
        <p14:creationId xmlns:p14="http://schemas.microsoft.com/office/powerpoint/2010/main" val="4262760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720E36-7C5B-1220-3537-A9F40CDB6A25}"/>
              </a:ext>
            </a:extLst>
          </p:cNvPr>
          <p:cNvSpPr>
            <a:spLocks noGrp="1"/>
          </p:cNvSpPr>
          <p:nvPr>
            <p:ph type="sldNum" sz="quarter" idx="12"/>
          </p:nvPr>
        </p:nvSpPr>
        <p:spPr/>
        <p:txBody>
          <a:bodyPr/>
          <a:lstStyle/>
          <a:p>
            <a:fld id="{D57F1E4F-1CFF-5643-939E-217C01CDF565}" type="slidenum">
              <a:rPr lang="en-US" smtClean="0"/>
              <a:t>22</a:t>
            </a:fld>
            <a:endParaRPr lang="en-US" dirty="0"/>
          </a:p>
        </p:txBody>
      </p:sp>
      <p:sp>
        <p:nvSpPr>
          <p:cNvPr id="4" name="TextBox 3">
            <a:extLst>
              <a:ext uri="{FF2B5EF4-FFF2-40B4-BE49-F238E27FC236}">
                <a16:creationId xmlns:a16="http://schemas.microsoft.com/office/drawing/2014/main" id="{2F898FF4-35CB-5C72-5C1F-C69D04BA7F0F}"/>
              </a:ext>
            </a:extLst>
          </p:cNvPr>
          <p:cNvSpPr txBox="1"/>
          <p:nvPr/>
        </p:nvSpPr>
        <p:spPr>
          <a:xfrm>
            <a:off x="1960772" y="1106048"/>
            <a:ext cx="6102220" cy="646331"/>
          </a:xfrm>
          <a:prstGeom prst="rect">
            <a:avLst/>
          </a:prstGeom>
          <a:noFill/>
        </p:spPr>
        <p:txBody>
          <a:bodyPr wrap="square">
            <a:spAutoFit/>
          </a:bodyPr>
          <a:lstStyle/>
          <a:p>
            <a:pPr algn="ctr"/>
            <a:r>
              <a:rPr lang="en-US" sz="3600" dirty="0">
                <a:solidFill>
                  <a:schemeClr val="accent1"/>
                </a:solidFill>
                <a:latin typeface="+mj-lt"/>
                <a:cs typeface="Times New Roman" panose="02020603050405020304" pitchFamily="18" charset="0"/>
              </a:rPr>
              <a:t>Category Table</a:t>
            </a:r>
            <a:endParaRPr lang="en-IN" sz="3600" dirty="0">
              <a:solidFill>
                <a:schemeClr val="accent1"/>
              </a:solidFill>
              <a:latin typeface="+mj-lt"/>
              <a:cs typeface="Times New Roman" panose="02020603050405020304" pitchFamily="18" charset="0"/>
            </a:endParaRPr>
          </a:p>
        </p:txBody>
      </p:sp>
      <p:graphicFrame>
        <p:nvGraphicFramePr>
          <p:cNvPr id="7" name="Table 6">
            <a:extLst>
              <a:ext uri="{FF2B5EF4-FFF2-40B4-BE49-F238E27FC236}">
                <a16:creationId xmlns:a16="http://schemas.microsoft.com/office/drawing/2014/main" id="{1FD5639C-50F4-EFE2-94FF-CE7434891427}"/>
              </a:ext>
            </a:extLst>
          </p:cNvPr>
          <p:cNvGraphicFramePr>
            <a:graphicFrameLocks noGrp="1"/>
          </p:cNvGraphicFramePr>
          <p:nvPr>
            <p:extLst>
              <p:ext uri="{D42A27DB-BD31-4B8C-83A1-F6EECF244321}">
                <p14:modId xmlns:p14="http://schemas.microsoft.com/office/powerpoint/2010/main" val="1681759794"/>
              </p:ext>
            </p:extLst>
          </p:nvPr>
        </p:nvGraphicFramePr>
        <p:xfrm>
          <a:off x="749763" y="2304615"/>
          <a:ext cx="8524239" cy="2547303"/>
        </p:xfrm>
        <a:graphic>
          <a:graphicData uri="http://schemas.openxmlformats.org/drawingml/2006/table">
            <a:tbl>
              <a:tblPr firstRow="1" bandRow="1">
                <a:tableStyleId>{5C22544A-7EE6-4342-B048-85BDC9FD1C3A}</a:tableStyleId>
              </a:tblPr>
              <a:tblGrid>
                <a:gridCol w="1726886">
                  <a:extLst>
                    <a:ext uri="{9D8B030D-6E8A-4147-A177-3AD203B41FA5}">
                      <a16:colId xmlns:a16="http://schemas.microsoft.com/office/drawing/2014/main" val="1523823010"/>
                    </a:ext>
                  </a:extLst>
                </a:gridCol>
                <a:gridCol w="1557234">
                  <a:extLst>
                    <a:ext uri="{9D8B030D-6E8A-4147-A177-3AD203B41FA5}">
                      <a16:colId xmlns:a16="http://schemas.microsoft.com/office/drawing/2014/main" val="1297876563"/>
                    </a:ext>
                  </a:extLst>
                </a:gridCol>
                <a:gridCol w="1642060">
                  <a:extLst>
                    <a:ext uri="{9D8B030D-6E8A-4147-A177-3AD203B41FA5}">
                      <a16:colId xmlns:a16="http://schemas.microsoft.com/office/drawing/2014/main" val="2556660470"/>
                    </a:ext>
                  </a:extLst>
                </a:gridCol>
                <a:gridCol w="1642060">
                  <a:extLst>
                    <a:ext uri="{9D8B030D-6E8A-4147-A177-3AD203B41FA5}">
                      <a16:colId xmlns:a16="http://schemas.microsoft.com/office/drawing/2014/main" val="3477710049"/>
                    </a:ext>
                  </a:extLst>
                </a:gridCol>
                <a:gridCol w="1955999">
                  <a:extLst>
                    <a:ext uri="{9D8B030D-6E8A-4147-A177-3AD203B41FA5}">
                      <a16:colId xmlns:a16="http://schemas.microsoft.com/office/drawing/2014/main" val="1160506104"/>
                    </a:ext>
                  </a:extLst>
                </a:gridCol>
              </a:tblGrid>
              <a:tr h="458732">
                <a:tc>
                  <a:txBody>
                    <a:bodyPr/>
                    <a:lstStyle/>
                    <a:p>
                      <a:pPr algn="ctr"/>
                      <a:r>
                        <a:rPr lang="en-US" sz="1800" dirty="0">
                          <a:latin typeface="Times New Roman" panose="02020603050405020304" pitchFamily="18" charset="0"/>
                          <a:cs typeface="Times New Roman" panose="02020603050405020304" pitchFamily="18" charset="0"/>
                        </a:rPr>
                        <a:t>Column Name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Type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Size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Constrains</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3035249"/>
                  </a:ext>
                </a:extLst>
              </a:tr>
              <a:tr h="769216">
                <a:tc>
                  <a:txBody>
                    <a:bodyPr/>
                    <a:lstStyle/>
                    <a:p>
                      <a:pPr algn="ctr"/>
                      <a:r>
                        <a:rPr lang="en-US" sz="1600" dirty="0" err="1">
                          <a:latin typeface="Times New Roman" panose="02020603050405020304" pitchFamily="18" charset="0"/>
                          <a:cs typeface="Times New Roman" panose="02020603050405020304" pitchFamily="18" charset="0"/>
                        </a:rPr>
                        <a:t>Category_id</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Int</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Primary Key</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Unique ID for each category</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74010060"/>
                  </a:ext>
                </a:extLst>
              </a:tr>
              <a:tr h="705457">
                <a:tc>
                  <a:txBody>
                    <a:bodyPr/>
                    <a:lstStyle/>
                    <a:p>
                      <a:pPr algn="ctr"/>
                      <a:r>
                        <a:rPr lang="en-US" sz="1600" dirty="0" err="1">
                          <a:latin typeface="Times New Roman" panose="02020603050405020304" pitchFamily="18" charset="0"/>
                          <a:cs typeface="Times New Roman" panose="02020603050405020304" pitchFamily="18" charset="0"/>
                        </a:rPr>
                        <a:t>Product_id</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Int</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Foreign Key</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Links the category to a product</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29129089"/>
                  </a:ext>
                </a:extLst>
              </a:tr>
              <a:tr h="613898">
                <a:tc>
                  <a:txBody>
                    <a:bodyPr/>
                    <a:lstStyle/>
                    <a:p>
                      <a:pPr algn="ctr"/>
                      <a:r>
                        <a:rPr lang="en-US" sz="1600" dirty="0" err="1">
                          <a:latin typeface="Times New Roman" panose="02020603050405020304" pitchFamily="18" charset="0"/>
                          <a:cs typeface="Times New Roman" panose="02020603050405020304" pitchFamily="18" charset="0"/>
                        </a:rPr>
                        <a:t>Category_name</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Varchar</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100</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Not Null</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Name of the category</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4166097"/>
                  </a:ext>
                </a:extLst>
              </a:tr>
            </a:tbl>
          </a:graphicData>
        </a:graphic>
      </p:graphicFrame>
    </p:spTree>
    <p:extLst>
      <p:ext uri="{BB962C8B-B14F-4D97-AF65-F5344CB8AC3E}">
        <p14:creationId xmlns:p14="http://schemas.microsoft.com/office/powerpoint/2010/main" val="2571044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004596"/>
          </a:xfrm>
        </p:spPr>
        <p:txBody>
          <a:bodyPr/>
          <a:lstStyle/>
          <a:p>
            <a:pPr algn="ctr"/>
            <a:r>
              <a:rPr lang="en-US" dirty="0"/>
              <a:t>Product Table</a:t>
            </a:r>
          </a:p>
        </p:txBody>
      </p:sp>
      <p:sp>
        <p:nvSpPr>
          <p:cNvPr id="6" name="Slide Number Placeholder 5"/>
          <p:cNvSpPr>
            <a:spLocks noGrp="1"/>
          </p:cNvSpPr>
          <p:nvPr>
            <p:ph type="sldNum" sz="quarter" idx="12"/>
          </p:nvPr>
        </p:nvSpPr>
        <p:spPr/>
        <p:txBody>
          <a:bodyPr/>
          <a:lstStyle/>
          <a:p>
            <a:fld id="{D57F1E4F-1CFF-5643-939E-217C01CDF565}" type="slidenum">
              <a:rPr lang="en-US" smtClean="0"/>
              <a:t>23</a:t>
            </a:fld>
            <a:endParaRPr lang="en-US" dirty="0"/>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3852978776"/>
              </p:ext>
            </p:extLst>
          </p:nvPr>
        </p:nvGraphicFramePr>
        <p:xfrm>
          <a:off x="677863" y="1744823"/>
          <a:ext cx="8596310" cy="4124131"/>
        </p:xfrm>
        <a:graphic>
          <a:graphicData uri="http://schemas.openxmlformats.org/drawingml/2006/table">
            <a:tbl>
              <a:tblPr firstRow="1" bandRow="1">
                <a:tableStyleId>{5C22544A-7EE6-4342-B048-85BDC9FD1C3A}</a:tableStyleId>
              </a:tblPr>
              <a:tblGrid>
                <a:gridCol w="1822741">
                  <a:extLst>
                    <a:ext uri="{9D8B030D-6E8A-4147-A177-3AD203B41FA5}">
                      <a16:colId xmlns:a16="http://schemas.microsoft.com/office/drawing/2014/main" val="20000"/>
                    </a:ext>
                  </a:extLst>
                </a:gridCol>
                <a:gridCol w="1615783">
                  <a:extLst>
                    <a:ext uri="{9D8B030D-6E8A-4147-A177-3AD203B41FA5}">
                      <a16:colId xmlns:a16="http://schemas.microsoft.com/office/drawing/2014/main" val="20001"/>
                    </a:ext>
                  </a:extLst>
                </a:gridCol>
                <a:gridCol w="1719262">
                  <a:extLst>
                    <a:ext uri="{9D8B030D-6E8A-4147-A177-3AD203B41FA5}">
                      <a16:colId xmlns:a16="http://schemas.microsoft.com/office/drawing/2014/main" val="20002"/>
                    </a:ext>
                  </a:extLst>
                </a:gridCol>
                <a:gridCol w="1719262">
                  <a:extLst>
                    <a:ext uri="{9D8B030D-6E8A-4147-A177-3AD203B41FA5}">
                      <a16:colId xmlns:a16="http://schemas.microsoft.com/office/drawing/2014/main" val="20003"/>
                    </a:ext>
                  </a:extLst>
                </a:gridCol>
                <a:gridCol w="1719262">
                  <a:extLst>
                    <a:ext uri="{9D8B030D-6E8A-4147-A177-3AD203B41FA5}">
                      <a16:colId xmlns:a16="http://schemas.microsoft.com/office/drawing/2014/main" val="20004"/>
                    </a:ext>
                  </a:extLst>
                </a:gridCol>
              </a:tblGrid>
              <a:tr h="397703">
                <a:tc>
                  <a:txBody>
                    <a:bodyPr/>
                    <a:lstStyle/>
                    <a:p>
                      <a:pPr algn="ctr"/>
                      <a:r>
                        <a:rPr lang="en-US" dirty="0">
                          <a:latin typeface="Times New Roman" panose="02020603050405020304" pitchFamily="18" charset="0"/>
                          <a:cs typeface="Times New Roman" panose="02020603050405020304" pitchFamily="18" charset="0"/>
                        </a:rPr>
                        <a:t>Column Name </a:t>
                      </a:r>
                    </a:p>
                  </a:txBody>
                  <a:tcPr/>
                </a:tc>
                <a:tc>
                  <a:txBody>
                    <a:bodyPr/>
                    <a:lstStyle/>
                    <a:p>
                      <a:pPr algn="ctr"/>
                      <a:r>
                        <a:rPr lang="en-US" dirty="0">
                          <a:latin typeface="Times New Roman" panose="02020603050405020304" pitchFamily="18" charset="0"/>
                          <a:cs typeface="Times New Roman" panose="02020603050405020304" pitchFamily="18" charset="0"/>
                        </a:rPr>
                        <a:t>Data Type</a:t>
                      </a:r>
                    </a:p>
                  </a:txBody>
                  <a:tcPr/>
                </a:tc>
                <a:tc>
                  <a:txBody>
                    <a:bodyPr/>
                    <a:lstStyle/>
                    <a:p>
                      <a:pPr algn="ctr"/>
                      <a:r>
                        <a:rPr lang="en-US" dirty="0">
                          <a:latin typeface="Times New Roman" panose="02020603050405020304" pitchFamily="18" charset="0"/>
                          <a:cs typeface="Times New Roman" panose="02020603050405020304" pitchFamily="18" charset="0"/>
                        </a:rPr>
                        <a:t>Data Size</a:t>
                      </a:r>
                    </a:p>
                  </a:txBody>
                  <a:tcPr/>
                </a:tc>
                <a:tc>
                  <a:txBody>
                    <a:bodyPr/>
                    <a:lstStyle/>
                    <a:p>
                      <a:pPr algn="ctr"/>
                      <a:r>
                        <a:rPr lang="en-US" dirty="0">
                          <a:latin typeface="Times New Roman" panose="02020603050405020304" pitchFamily="18" charset="0"/>
                          <a:cs typeface="Times New Roman" panose="02020603050405020304" pitchFamily="18" charset="0"/>
                        </a:rPr>
                        <a:t>Constrains</a:t>
                      </a:r>
                    </a:p>
                  </a:txBody>
                  <a:tcPr/>
                </a:tc>
                <a:tc>
                  <a:txBody>
                    <a:bodyPr/>
                    <a:lstStyle/>
                    <a:p>
                      <a:pPr algn="ctr"/>
                      <a:r>
                        <a:rPr lang="en-US" dirty="0">
                          <a:latin typeface="Times New Roman" panose="02020603050405020304" pitchFamily="18" charset="0"/>
                          <a:cs typeface="Times New Roman" panose="02020603050405020304" pitchFamily="18" charset="0"/>
                        </a:rPr>
                        <a:t>Description</a:t>
                      </a:r>
                    </a:p>
                  </a:txBody>
                  <a:tcPr/>
                </a:tc>
                <a:extLst>
                  <a:ext uri="{0D108BD9-81ED-4DB2-BD59-A6C34878D82A}">
                    <a16:rowId xmlns:a16="http://schemas.microsoft.com/office/drawing/2014/main" val="10000"/>
                  </a:ext>
                </a:extLst>
              </a:tr>
              <a:tr h="686447">
                <a:tc>
                  <a:txBody>
                    <a:bodyPr/>
                    <a:lstStyle/>
                    <a:p>
                      <a:pPr algn="ctr"/>
                      <a:r>
                        <a:rPr lang="en-US" dirty="0" err="1">
                          <a:latin typeface="Times New Roman" panose="02020603050405020304" pitchFamily="18" charset="0"/>
                          <a:cs typeface="Times New Roman" panose="02020603050405020304" pitchFamily="18" charset="0"/>
                        </a:rPr>
                        <a:t>Product_id</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err="1">
                          <a:latin typeface="Times New Roman" panose="02020603050405020304" pitchFamily="18" charset="0"/>
                          <a:cs typeface="Times New Roman" panose="02020603050405020304" pitchFamily="18" charset="0"/>
                        </a:rPr>
                        <a:t>Int</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10</a:t>
                      </a:r>
                    </a:p>
                  </a:txBody>
                  <a:tcPr/>
                </a:tc>
                <a:tc>
                  <a:txBody>
                    <a:bodyPr/>
                    <a:lstStyle/>
                    <a:p>
                      <a:pPr algn="ctr"/>
                      <a:r>
                        <a:rPr lang="en-US" dirty="0">
                          <a:latin typeface="Times New Roman" panose="02020603050405020304" pitchFamily="18" charset="0"/>
                          <a:cs typeface="Times New Roman" panose="02020603050405020304" pitchFamily="18" charset="0"/>
                        </a:rPr>
                        <a:t>Primary Key</a:t>
                      </a:r>
                    </a:p>
                  </a:txBody>
                  <a:tcPr>
                    <a:lnB w="12700" cmpd="sng">
                      <a:noFill/>
                    </a:lnB>
                  </a:tcPr>
                </a:tc>
                <a:tc>
                  <a:txBody>
                    <a:bodyPr/>
                    <a:lstStyle/>
                    <a:p>
                      <a:pPr algn="ctr"/>
                      <a:r>
                        <a:rPr lang="en-US" dirty="0">
                          <a:latin typeface="Times New Roman" panose="02020603050405020304" pitchFamily="18" charset="0"/>
                          <a:cs typeface="Times New Roman" panose="02020603050405020304" pitchFamily="18" charset="0"/>
                        </a:rPr>
                        <a:t>Unique ID for each product</a:t>
                      </a:r>
                    </a:p>
                  </a:txBody>
                  <a:tcPr/>
                </a:tc>
                <a:extLst>
                  <a:ext uri="{0D108BD9-81ED-4DB2-BD59-A6C34878D82A}">
                    <a16:rowId xmlns:a16="http://schemas.microsoft.com/office/drawing/2014/main" val="10001"/>
                  </a:ext>
                </a:extLst>
              </a:tr>
              <a:tr h="686447">
                <a:tc>
                  <a:txBody>
                    <a:bodyPr/>
                    <a:lstStyle/>
                    <a:p>
                      <a:pPr algn="ctr"/>
                      <a:r>
                        <a:rPr lang="en-US" dirty="0" err="1">
                          <a:latin typeface="Times New Roman" panose="02020603050405020304" pitchFamily="18" charset="0"/>
                          <a:cs typeface="Times New Roman" panose="02020603050405020304" pitchFamily="18" charset="0"/>
                        </a:rPr>
                        <a:t>Product_name</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err="1">
                          <a:latin typeface="Times New Roman" panose="02020603050405020304" pitchFamily="18" charset="0"/>
                          <a:cs typeface="Times New Roman" panose="02020603050405020304" pitchFamily="18" charset="0"/>
                        </a:rPr>
                        <a:t>Varchar</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100</a:t>
                      </a:r>
                    </a:p>
                  </a:txBody>
                  <a:tcPr/>
                </a:tc>
                <a:tc>
                  <a:txBody>
                    <a:bodyPr/>
                    <a:lstStyle/>
                    <a:p>
                      <a:pPr algn="ctr"/>
                      <a:r>
                        <a:rPr lang="en-US" dirty="0">
                          <a:latin typeface="Times New Roman" panose="02020603050405020304" pitchFamily="18" charset="0"/>
                          <a:cs typeface="Times New Roman" panose="02020603050405020304" pitchFamily="18" charset="0"/>
                        </a:rPr>
                        <a:t>Not Null</a:t>
                      </a:r>
                    </a:p>
                  </a:txBody>
                  <a:tcPr>
                    <a:lnT w="12700" cmpd="sng">
                      <a:noFill/>
                    </a:lnT>
                    <a:lnB w="12700" cmpd="sng">
                      <a:noFill/>
                    </a:lnB>
                  </a:tcPr>
                </a:tc>
                <a:tc>
                  <a:txBody>
                    <a:bodyPr/>
                    <a:lstStyle/>
                    <a:p>
                      <a:pPr algn="ctr"/>
                      <a:r>
                        <a:rPr lang="en-US" dirty="0">
                          <a:latin typeface="Times New Roman" panose="02020603050405020304" pitchFamily="18" charset="0"/>
                          <a:cs typeface="Times New Roman" panose="02020603050405020304" pitchFamily="18" charset="0"/>
                        </a:rPr>
                        <a:t>Product name or title</a:t>
                      </a:r>
                    </a:p>
                  </a:txBody>
                  <a:tcPr/>
                </a:tc>
                <a:extLst>
                  <a:ext uri="{0D108BD9-81ED-4DB2-BD59-A6C34878D82A}">
                    <a16:rowId xmlns:a16="http://schemas.microsoft.com/office/drawing/2014/main" val="10003"/>
                  </a:ext>
                </a:extLst>
              </a:tr>
              <a:tr h="980640">
                <a:tc>
                  <a:txBody>
                    <a:bodyPr/>
                    <a:lstStyle/>
                    <a:p>
                      <a:pPr algn="ctr"/>
                      <a:r>
                        <a:rPr lang="en-US" dirty="0" err="1">
                          <a:latin typeface="Times New Roman" panose="02020603050405020304" pitchFamily="18" charset="0"/>
                          <a:cs typeface="Times New Roman" panose="02020603050405020304" pitchFamily="18" charset="0"/>
                        </a:rPr>
                        <a:t>Product_price</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Int</a:t>
                      </a:r>
                    </a:p>
                  </a:txBody>
                  <a:tcPr/>
                </a:tc>
                <a:tc>
                  <a:txBody>
                    <a:bodyPr/>
                    <a:lstStyle/>
                    <a:p>
                      <a:pPr algn="ctr"/>
                      <a:r>
                        <a:rPr lang="en-US" dirty="0">
                          <a:latin typeface="Times New Roman" panose="02020603050405020304" pitchFamily="18" charset="0"/>
                          <a:cs typeface="Times New Roman" panose="02020603050405020304" pitchFamily="18" charset="0"/>
                        </a:rPr>
                        <a:t>4</a:t>
                      </a:r>
                    </a:p>
                  </a:txBody>
                  <a:tcPr/>
                </a:tc>
                <a:tc>
                  <a:txBody>
                    <a:bodyPr/>
                    <a:lstStyle/>
                    <a:p>
                      <a:pPr algn="ctr"/>
                      <a:r>
                        <a:rPr lang="en-US" dirty="0">
                          <a:latin typeface="Times New Roman" panose="02020603050405020304" pitchFamily="18" charset="0"/>
                          <a:cs typeface="Times New Roman" panose="02020603050405020304" pitchFamily="18" charset="0"/>
                        </a:rPr>
                        <a:t>Not Null</a:t>
                      </a:r>
                    </a:p>
                  </a:txBody>
                  <a:tcPr>
                    <a:lnT w="12700" cmpd="sng">
                      <a:noFill/>
                    </a:lnT>
                    <a:lnB w="12700" cmpd="sng">
                      <a:noFill/>
                    </a:lnB>
                  </a:tcPr>
                </a:tc>
                <a:tc>
                  <a:txBody>
                    <a:bodyPr/>
                    <a:lstStyle/>
                    <a:p>
                      <a:pPr algn="ctr"/>
                      <a:r>
                        <a:rPr lang="en-US" dirty="0">
                          <a:latin typeface="Times New Roman" panose="02020603050405020304" pitchFamily="18" charset="0"/>
                          <a:cs typeface="Times New Roman" panose="02020603050405020304" pitchFamily="18" charset="0"/>
                        </a:rPr>
                        <a:t>The selling price of the product</a:t>
                      </a:r>
                    </a:p>
                  </a:txBody>
                  <a:tcPr/>
                </a:tc>
                <a:extLst>
                  <a:ext uri="{0D108BD9-81ED-4DB2-BD59-A6C34878D82A}">
                    <a16:rowId xmlns:a16="http://schemas.microsoft.com/office/drawing/2014/main" val="3139219653"/>
                  </a:ext>
                </a:extLst>
              </a:tr>
              <a:tr h="686447">
                <a:tc>
                  <a:txBody>
                    <a:bodyPr/>
                    <a:lstStyle/>
                    <a:p>
                      <a:pPr algn="ctr"/>
                      <a:r>
                        <a:rPr lang="en-US" dirty="0" err="1">
                          <a:latin typeface="Times New Roman" panose="02020603050405020304" pitchFamily="18" charset="0"/>
                          <a:cs typeface="Times New Roman" panose="02020603050405020304" pitchFamily="18" charset="0"/>
                        </a:rPr>
                        <a:t>Product_weight</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Int</a:t>
                      </a:r>
                    </a:p>
                  </a:txBody>
                  <a:tcPr/>
                </a:tc>
                <a:tc>
                  <a:txBody>
                    <a:bodyPr/>
                    <a:lstStyle/>
                    <a:p>
                      <a:pPr algn="ctr"/>
                      <a:r>
                        <a:rPr lang="en-US" dirty="0">
                          <a:latin typeface="Times New Roman" panose="02020603050405020304" pitchFamily="18" charset="0"/>
                          <a:cs typeface="Times New Roman" panose="02020603050405020304" pitchFamily="18" charset="0"/>
                        </a:rPr>
                        <a:t>4</a:t>
                      </a:r>
                    </a:p>
                  </a:txBody>
                  <a:tcPr/>
                </a:tc>
                <a:tc>
                  <a:txBody>
                    <a:bodyPr/>
                    <a:lstStyle/>
                    <a:p>
                      <a:pPr algn="ctr"/>
                      <a:r>
                        <a:rPr lang="en-US" dirty="0">
                          <a:latin typeface="Times New Roman" panose="02020603050405020304" pitchFamily="18" charset="0"/>
                          <a:cs typeface="Times New Roman" panose="02020603050405020304" pitchFamily="18" charset="0"/>
                        </a:rPr>
                        <a:t>Not Null</a:t>
                      </a:r>
                    </a:p>
                  </a:txBody>
                  <a:tcPr>
                    <a:lnT w="12700" cmpd="sng">
                      <a:noFill/>
                    </a:lnT>
                    <a:lnB w="12700" cmpd="sng">
                      <a:noFill/>
                    </a:lnB>
                  </a:tcPr>
                </a:tc>
                <a:tc>
                  <a:txBody>
                    <a:bodyPr/>
                    <a:lstStyle/>
                    <a:p>
                      <a:pPr algn="ctr"/>
                      <a:r>
                        <a:rPr lang="en-US" dirty="0">
                          <a:latin typeface="Times New Roman" panose="02020603050405020304" pitchFamily="18" charset="0"/>
                          <a:cs typeface="Times New Roman" panose="02020603050405020304" pitchFamily="18" charset="0"/>
                        </a:rPr>
                        <a:t>The weight of the product</a:t>
                      </a:r>
                    </a:p>
                  </a:txBody>
                  <a:tcPr/>
                </a:tc>
                <a:extLst>
                  <a:ext uri="{0D108BD9-81ED-4DB2-BD59-A6C34878D82A}">
                    <a16:rowId xmlns:a16="http://schemas.microsoft.com/office/drawing/2014/main" val="3908477688"/>
                  </a:ext>
                </a:extLst>
              </a:tr>
              <a:tr h="686447">
                <a:tc>
                  <a:txBody>
                    <a:bodyPr/>
                    <a:lstStyle/>
                    <a:p>
                      <a:pPr algn="ctr"/>
                      <a:r>
                        <a:rPr lang="en-US" dirty="0" err="1">
                          <a:latin typeface="Times New Roman" panose="02020603050405020304" pitchFamily="18" charset="0"/>
                          <a:cs typeface="Times New Roman" panose="02020603050405020304" pitchFamily="18" charset="0"/>
                        </a:rPr>
                        <a:t>Farmer_id</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err="1">
                          <a:latin typeface="Times New Roman" panose="02020603050405020304" pitchFamily="18" charset="0"/>
                          <a:cs typeface="Times New Roman" panose="02020603050405020304" pitchFamily="18" charset="0"/>
                        </a:rPr>
                        <a:t>Varchar</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10</a:t>
                      </a:r>
                    </a:p>
                  </a:txBody>
                  <a:tcPr/>
                </a:tc>
                <a:tc>
                  <a:txBody>
                    <a:bodyPr/>
                    <a:lstStyle/>
                    <a:p>
                      <a:pPr algn="ctr"/>
                      <a:r>
                        <a:rPr lang="en-US" dirty="0">
                          <a:latin typeface="Times New Roman" panose="02020603050405020304" pitchFamily="18" charset="0"/>
                          <a:cs typeface="Times New Roman" panose="02020603050405020304" pitchFamily="18" charset="0"/>
                        </a:rPr>
                        <a:t>Foreign Key</a:t>
                      </a:r>
                    </a:p>
                  </a:txBody>
                  <a:tcPr>
                    <a:lnT w="12700" cmpd="sng">
                      <a:noFill/>
                    </a:lnT>
                  </a:tcPr>
                </a:tc>
                <a:tc>
                  <a:txBody>
                    <a:bodyPr/>
                    <a:lstStyle/>
                    <a:p>
                      <a:pPr algn="ctr"/>
                      <a:r>
                        <a:rPr lang="en-US" dirty="0">
                          <a:latin typeface="Times New Roman" panose="02020603050405020304" pitchFamily="18" charset="0"/>
                          <a:cs typeface="Times New Roman" panose="02020603050405020304" pitchFamily="18" charset="0"/>
                        </a:rPr>
                        <a:t>Links product to farmer</a:t>
                      </a:r>
                    </a:p>
                  </a:txBody>
                  <a:tcPr/>
                </a:tc>
                <a:extLst>
                  <a:ext uri="{0D108BD9-81ED-4DB2-BD59-A6C34878D82A}">
                    <a16:rowId xmlns:a16="http://schemas.microsoft.com/office/drawing/2014/main" val="2526709237"/>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408BDD-B51A-3900-F70C-461697CE0088}"/>
              </a:ext>
            </a:extLst>
          </p:cNvPr>
          <p:cNvSpPr>
            <a:spLocks noGrp="1"/>
          </p:cNvSpPr>
          <p:nvPr>
            <p:ph type="sldNum" sz="quarter" idx="12"/>
          </p:nvPr>
        </p:nvSpPr>
        <p:spPr/>
        <p:txBody>
          <a:bodyPr/>
          <a:lstStyle/>
          <a:p>
            <a:fld id="{D57F1E4F-1CFF-5643-939E-217C01CDF565}" type="slidenum">
              <a:rPr lang="en-US" smtClean="0"/>
              <a:t>24</a:t>
            </a:fld>
            <a:endParaRPr lang="en-US" dirty="0"/>
          </a:p>
        </p:txBody>
      </p:sp>
      <p:sp>
        <p:nvSpPr>
          <p:cNvPr id="4" name="TextBox 3">
            <a:extLst>
              <a:ext uri="{FF2B5EF4-FFF2-40B4-BE49-F238E27FC236}">
                <a16:creationId xmlns:a16="http://schemas.microsoft.com/office/drawing/2014/main" id="{24542577-8B72-A32C-29CE-17D1C4FBECD1}"/>
              </a:ext>
            </a:extLst>
          </p:cNvPr>
          <p:cNvSpPr txBox="1"/>
          <p:nvPr/>
        </p:nvSpPr>
        <p:spPr>
          <a:xfrm>
            <a:off x="1931438" y="1140281"/>
            <a:ext cx="6102220" cy="646331"/>
          </a:xfrm>
          <a:prstGeom prst="rect">
            <a:avLst/>
          </a:prstGeom>
          <a:noFill/>
        </p:spPr>
        <p:txBody>
          <a:bodyPr wrap="square">
            <a:spAutoFit/>
          </a:bodyPr>
          <a:lstStyle/>
          <a:p>
            <a:pPr algn="ctr"/>
            <a:r>
              <a:rPr lang="en-US" sz="3600" dirty="0">
                <a:solidFill>
                  <a:schemeClr val="accent1"/>
                </a:solidFill>
                <a:latin typeface="+mj-lt"/>
              </a:rPr>
              <a:t>Order Table</a:t>
            </a:r>
            <a:endParaRPr lang="en-IN" sz="3600" dirty="0">
              <a:solidFill>
                <a:schemeClr val="accent1"/>
              </a:solidFill>
              <a:latin typeface="+mj-lt"/>
            </a:endParaRPr>
          </a:p>
        </p:txBody>
      </p:sp>
      <p:graphicFrame>
        <p:nvGraphicFramePr>
          <p:cNvPr id="5" name="Table 4">
            <a:extLst>
              <a:ext uri="{FF2B5EF4-FFF2-40B4-BE49-F238E27FC236}">
                <a16:creationId xmlns:a16="http://schemas.microsoft.com/office/drawing/2014/main" id="{54D335C5-0F64-A2BE-3E68-3443F4608D3E}"/>
              </a:ext>
            </a:extLst>
          </p:cNvPr>
          <p:cNvGraphicFramePr>
            <a:graphicFrameLocks noGrp="1"/>
          </p:cNvGraphicFramePr>
          <p:nvPr>
            <p:extLst>
              <p:ext uri="{D42A27DB-BD31-4B8C-83A1-F6EECF244321}">
                <p14:modId xmlns:p14="http://schemas.microsoft.com/office/powerpoint/2010/main" val="1277216798"/>
              </p:ext>
            </p:extLst>
          </p:nvPr>
        </p:nvGraphicFramePr>
        <p:xfrm>
          <a:off x="825036" y="2406921"/>
          <a:ext cx="8448966" cy="2774495"/>
        </p:xfrm>
        <a:graphic>
          <a:graphicData uri="http://schemas.openxmlformats.org/drawingml/2006/table">
            <a:tbl>
              <a:tblPr firstRow="1" bandRow="1">
                <a:tableStyleId>{5C22544A-7EE6-4342-B048-85BDC9FD1C3A}</a:tableStyleId>
              </a:tblPr>
              <a:tblGrid>
                <a:gridCol w="1754703">
                  <a:extLst>
                    <a:ext uri="{9D8B030D-6E8A-4147-A177-3AD203B41FA5}">
                      <a16:colId xmlns:a16="http://schemas.microsoft.com/office/drawing/2014/main" val="4262173085"/>
                    </a:ext>
                  </a:extLst>
                </a:gridCol>
                <a:gridCol w="1582319">
                  <a:extLst>
                    <a:ext uri="{9D8B030D-6E8A-4147-A177-3AD203B41FA5}">
                      <a16:colId xmlns:a16="http://schemas.microsoft.com/office/drawing/2014/main" val="624099128"/>
                    </a:ext>
                  </a:extLst>
                </a:gridCol>
                <a:gridCol w="1668511">
                  <a:extLst>
                    <a:ext uri="{9D8B030D-6E8A-4147-A177-3AD203B41FA5}">
                      <a16:colId xmlns:a16="http://schemas.microsoft.com/office/drawing/2014/main" val="1391297977"/>
                    </a:ext>
                  </a:extLst>
                </a:gridCol>
                <a:gridCol w="1668511">
                  <a:extLst>
                    <a:ext uri="{9D8B030D-6E8A-4147-A177-3AD203B41FA5}">
                      <a16:colId xmlns:a16="http://schemas.microsoft.com/office/drawing/2014/main" val="2414845264"/>
                    </a:ext>
                  </a:extLst>
                </a:gridCol>
                <a:gridCol w="1774922">
                  <a:extLst>
                    <a:ext uri="{9D8B030D-6E8A-4147-A177-3AD203B41FA5}">
                      <a16:colId xmlns:a16="http://schemas.microsoft.com/office/drawing/2014/main" val="2768617596"/>
                    </a:ext>
                  </a:extLst>
                </a:gridCol>
              </a:tblGrid>
              <a:tr h="393730">
                <a:tc>
                  <a:txBody>
                    <a:bodyPr/>
                    <a:lstStyle/>
                    <a:p>
                      <a:pPr algn="ctr"/>
                      <a:r>
                        <a:rPr lang="en-US" sz="1800" dirty="0">
                          <a:latin typeface="Times New Roman" panose="02020603050405020304" pitchFamily="18" charset="0"/>
                          <a:cs typeface="Times New Roman" panose="02020603050405020304" pitchFamily="18" charset="0"/>
                        </a:rPr>
                        <a:t>Column Name</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Data Type</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Data Size</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Constrains</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marT="41564" marB="41564"/>
                </a:tc>
                <a:extLst>
                  <a:ext uri="{0D108BD9-81ED-4DB2-BD59-A6C34878D82A}">
                    <a16:rowId xmlns:a16="http://schemas.microsoft.com/office/drawing/2014/main" val="1434267643"/>
                  </a:ext>
                </a:extLst>
              </a:tr>
              <a:tr h="765993">
                <a:tc>
                  <a:txBody>
                    <a:bodyPr/>
                    <a:lstStyle/>
                    <a:p>
                      <a:pPr algn="ctr"/>
                      <a:r>
                        <a:rPr lang="en-US" sz="1800" dirty="0" err="1">
                          <a:latin typeface="Times New Roman" panose="02020603050405020304" pitchFamily="18" charset="0"/>
                          <a:cs typeface="Times New Roman" panose="02020603050405020304" pitchFamily="18" charset="0"/>
                        </a:rPr>
                        <a:t>Order_item_id</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Primary Key</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Unique ID for each order item</a:t>
                      </a:r>
                      <a:endParaRPr lang="en-IN" sz="1800" dirty="0">
                        <a:latin typeface="Times New Roman" panose="02020603050405020304" pitchFamily="18" charset="0"/>
                        <a:cs typeface="Times New Roman" panose="02020603050405020304" pitchFamily="18" charset="0"/>
                      </a:endParaRPr>
                    </a:p>
                  </a:txBody>
                  <a:tcPr marT="41564" marB="41564"/>
                </a:tc>
                <a:extLst>
                  <a:ext uri="{0D108BD9-81ED-4DB2-BD59-A6C34878D82A}">
                    <a16:rowId xmlns:a16="http://schemas.microsoft.com/office/drawing/2014/main" val="4090056759"/>
                  </a:ext>
                </a:extLst>
              </a:tr>
              <a:tr h="815360">
                <a:tc>
                  <a:txBody>
                    <a:bodyPr/>
                    <a:lstStyle/>
                    <a:p>
                      <a:pPr algn="ctr"/>
                      <a:r>
                        <a:rPr lang="en-US" sz="1800" dirty="0" err="1">
                          <a:latin typeface="Times New Roman" panose="02020603050405020304" pitchFamily="18" charset="0"/>
                          <a:cs typeface="Times New Roman" panose="02020603050405020304" pitchFamily="18" charset="0"/>
                        </a:rPr>
                        <a:t>Product_id</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Foreign Key</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Links the order item to a product</a:t>
                      </a:r>
                      <a:endParaRPr lang="en-IN" sz="1800" dirty="0">
                        <a:latin typeface="Times New Roman" panose="02020603050405020304" pitchFamily="18" charset="0"/>
                        <a:cs typeface="Times New Roman" panose="02020603050405020304" pitchFamily="18" charset="0"/>
                      </a:endParaRPr>
                    </a:p>
                  </a:txBody>
                  <a:tcPr marT="41564" marB="41564"/>
                </a:tc>
                <a:extLst>
                  <a:ext uri="{0D108BD9-81ED-4DB2-BD59-A6C34878D82A}">
                    <a16:rowId xmlns:a16="http://schemas.microsoft.com/office/drawing/2014/main" val="154905984"/>
                  </a:ext>
                </a:extLst>
              </a:tr>
              <a:tr h="799412">
                <a:tc>
                  <a:txBody>
                    <a:bodyPr/>
                    <a:lstStyle/>
                    <a:p>
                      <a:pPr algn="ctr"/>
                      <a:r>
                        <a:rPr lang="en-US" sz="1800" dirty="0">
                          <a:latin typeface="Times New Roman" panose="02020603050405020304" pitchFamily="18" charset="0"/>
                          <a:cs typeface="Times New Roman" panose="02020603050405020304" pitchFamily="18" charset="0"/>
                        </a:rPr>
                        <a:t>Quality</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Varchar</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20</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Not Null</a:t>
                      </a:r>
                      <a:endParaRPr lang="en-IN" sz="1800" dirty="0">
                        <a:latin typeface="Times New Roman" panose="02020603050405020304" pitchFamily="18" charset="0"/>
                        <a:cs typeface="Times New Roman" panose="02020603050405020304" pitchFamily="18" charset="0"/>
                      </a:endParaRPr>
                    </a:p>
                  </a:txBody>
                  <a:tcPr marT="41564" marB="41564"/>
                </a:tc>
                <a:tc>
                  <a:txBody>
                    <a:bodyPr/>
                    <a:lstStyle/>
                    <a:p>
                      <a:pPr algn="ctr"/>
                      <a:r>
                        <a:rPr lang="en-US" sz="1800" dirty="0">
                          <a:latin typeface="Times New Roman" panose="02020603050405020304" pitchFamily="18" charset="0"/>
                          <a:cs typeface="Times New Roman" panose="02020603050405020304" pitchFamily="18" charset="0"/>
                        </a:rPr>
                        <a:t>Describes the product’s quality</a:t>
                      </a:r>
                      <a:endParaRPr lang="en-IN" sz="1800" dirty="0">
                        <a:latin typeface="Times New Roman" panose="02020603050405020304" pitchFamily="18" charset="0"/>
                        <a:cs typeface="Times New Roman" panose="02020603050405020304" pitchFamily="18" charset="0"/>
                      </a:endParaRPr>
                    </a:p>
                  </a:txBody>
                  <a:tcPr marT="41564" marB="41564"/>
                </a:tc>
                <a:extLst>
                  <a:ext uri="{0D108BD9-81ED-4DB2-BD59-A6C34878D82A}">
                    <a16:rowId xmlns:a16="http://schemas.microsoft.com/office/drawing/2014/main" val="3637114985"/>
                  </a:ext>
                </a:extLst>
              </a:tr>
            </a:tbl>
          </a:graphicData>
        </a:graphic>
      </p:graphicFrame>
    </p:spTree>
    <p:extLst>
      <p:ext uri="{BB962C8B-B14F-4D97-AF65-F5344CB8AC3E}">
        <p14:creationId xmlns:p14="http://schemas.microsoft.com/office/powerpoint/2010/main" val="2959614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57F56CB-947A-558E-A6CB-F67E5A7505CE}"/>
              </a:ext>
            </a:extLst>
          </p:cNvPr>
          <p:cNvSpPr>
            <a:spLocks noGrp="1"/>
          </p:cNvSpPr>
          <p:nvPr>
            <p:ph type="sldNum" sz="quarter" idx="12"/>
          </p:nvPr>
        </p:nvSpPr>
        <p:spPr/>
        <p:txBody>
          <a:bodyPr/>
          <a:lstStyle/>
          <a:p>
            <a:fld id="{D57F1E4F-1CFF-5643-939E-217C01CDF565}" type="slidenum">
              <a:rPr lang="en-US" smtClean="0"/>
              <a:t>25</a:t>
            </a:fld>
            <a:endParaRPr lang="en-US" dirty="0"/>
          </a:p>
        </p:txBody>
      </p:sp>
      <p:sp>
        <p:nvSpPr>
          <p:cNvPr id="4" name="TextBox 3">
            <a:extLst>
              <a:ext uri="{FF2B5EF4-FFF2-40B4-BE49-F238E27FC236}">
                <a16:creationId xmlns:a16="http://schemas.microsoft.com/office/drawing/2014/main" id="{C0D8C72C-474E-938A-4E38-480EF67234CB}"/>
              </a:ext>
            </a:extLst>
          </p:cNvPr>
          <p:cNvSpPr txBox="1"/>
          <p:nvPr/>
        </p:nvSpPr>
        <p:spPr>
          <a:xfrm>
            <a:off x="2015411" y="870157"/>
            <a:ext cx="6102220" cy="646331"/>
          </a:xfrm>
          <a:prstGeom prst="rect">
            <a:avLst/>
          </a:prstGeom>
          <a:noFill/>
        </p:spPr>
        <p:txBody>
          <a:bodyPr wrap="square">
            <a:spAutoFit/>
          </a:bodyPr>
          <a:lstStyle/>
          <a:p>
            <a:pPr algn="ctr"/>
            <a:r>
              <a:rPr lang="en-US" sz="3600" dirty="0">
                <a:solidFill>
                  <a:schemeClr val="accent1"/>
                </a:solidFill>
                <a:latin typeface="+mj-lt"/>
                <a:cs typeface="Times New Roman" panose="02020603050405020304" pitchFamily="18" charset="0"/>
              </a:rPr>
              <a:t>Order Item Table</a:t>
            </a:r>
            <a:endParaRPr lang="en-IN" sz="3600" dirty="0">
              <a:solidFill>
                <a:schemeClr val="accent1"/>
              </a:solidFill>
              <a:latin typeface="+mj-lt"/>
              <a:cs typeface="Times New Roman" panose="02020603050405020304" pitchFamily="18" charset="0"/>
            </a:endParaRPr>
          </a:p>
        </p:txBody>
      </p:sp>
      <p:graphicFrame>
        <p:nvGraphicFramePr>
          <p:cNvPr id="5" name="Table 4">
            <a:extLst>
              <a:ext uri="{FF2B5EF4-FFF2-40B4-BE49-F238E27FC236}">
                <a16:creationId xmlns:a16="http://schemas.microsoft.com/office/drawing/2014/main" id="{C71DFD42-30D1-2277-6043-EC69BA616D65}"/>
              </a:ext>
            </a:extLst>
          </p:cNvPr>
          <p:cNvGraphicFramePr>
            <a:graphicFrameLocks noGrp="1"/>
          </p:cNvGraphicFramePr>
          <p:nvPr>
            <p:extLst>
              <p:ext uri="{D42A27DB-BD31-4B8C-83A1-F6EECF244321}">
                <p14:modId xmlns:p14="http://schemas.microsoft.com/office/powerpoint/2010/main" val="997950500"/>
              </p:ext>
            </p:extLst>
          </p:nvPr>
        </p:nvGraphicFramePr>
        <p:xfrm>
          <a:off x="804402" y="2295383"/>
          <a:ext cx="8524239" cy="2967084"/>
        </p:xfrm>
        <a:graphic>
          <a:graphicData uri="http://schemas.openxmlformats.org/drawingml/2006/table">
            <a:tbl>
              <a:tblPr firstRow="1" bandRow="1">
                <a:tableStyleId>{5C22544A-7EE6-4342-B048-85BDC9FD1C3A}</a:tableStyleId>
              </a:tblPr>
              <a:tblGrid>
                <a:gridCol w="1726886">
                  <a:extLst>
                    <a:ext uri="{9D8B030D-6E8A-4147-A177-3AD203B41FA5}">
                      <a16:colId xmlns:a16="http://schemas.microsoft.com/office/drawing/2014/main" val="287018413"/>
                    </a:ext>
                  </a:extLst>
                </a:gridCol>
                <a:gridCol w="1557234">
                  <a:extLst>
                    <a:ext uri="{9D8B030D-6E8A-4147-A177-3AD203B41FA5}">
                      <a16:colId xmlns:a16="http://schemas.microsoft.com/office/drawing/2014/main" val="347886091"/>
                    </a:ext>
                  </a:extLst>
                </a:gridCol>
                <a:gridCol w="1642060">
                  <a:extLst>
                    <a:ext uri="{9D8B030D-6E8A-4147-A177-3AD203B41FA5}">
                      <a16:colId xmlns:a16="http://schemas.microsoft.com/office/drawing/2014/main" val="907679033"/>
                    </a:ext>
                  </a:extLst>
                </a:gridCol>
                <a:gridCol w="1642060">
                  <a:extLst>
                    <a:ext uri="{9D8B030D-6E8A-4147-A177-3AD203B41FA5}">
                      <a16:colId xmlns:a16="http://schemas.microsoft.com/office/drawing/2014/main" val="1380169084"/>
                    </a:ext>
                  </a:extLst>
                </a:gridCol>
                <a:gridCol w="1955999">
                  <a:extLst>
                    <a:ext uri="{9D8B030D-6E8A-4147-A177-3AD203B41FA5}">
                      <a16:colId xmlns:a16="http://schemas.microsoft.com/office/drawing/2014/main" val="1218137421"/>
                    </a:ext>
                  </a:extLst>
                </a:gridCol>
              </a:tblGrid>
              <a:tr h="458732">
                <a:tc>
                  <a:txBody>
                    <a:bodyPr/>
                    <a:lstStyle/>
                    <a:p>
                      <a:pPr algn="ctr"/>
                      <a:r>
                        <a:rPr lang="en-US" sz="1800" dirty="0">
                          <a:latin typeface="Times New Roman" panose="02020603050405020304" pitchFamily="18" charset="0"/>
                          <a:cs typeface="Times New Roman" panose="02020603050405020304" pitchFamily="18" charset="0"/>
                        </a:rPr>
                        <a:t>Column Name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Type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Size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Constrains</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71270536"/>
                  </a:ext>
                </a:extLst>
              </a:tr>
              <a:tr h="769216">
                <a:tc>
                  <a:txBody>
                    <a:bodyPr/>
                    <a:lstStyle/>
                    <a:p>
                      <a:pPr algn="ctr"/>
                      <a:r>
                        <a:rPr lang="en-US" sz="1800" dirty="0" err="1">
                          <a:latin typeface="Times New Roman" panose="02020603050405020304" pitchFamily="18" charset="0"/>
                          <a:cs typeface="Times New Roman" panose="02020603050405020304" pitchFamily="18" charset="0"/>
                        </a:rPr>
                        <a:t>Order_item_id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Primary Key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Unique ID for each order item</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70730903"/>
                  </a:ext>
                </a:extLst>
              </a:tr>
              <a:tr h="770627">
                <a:tc>
                  <a:txBody>
                    <a:bodyPr/>
                    <a:lstStyle/>
                    <a:p>
                      <a:pPr algn="ctr"/>
                      <a:r>
                        <a:rPr lang="en-US" sz="1800" dirty="0" err="1">
                          <a:latin typeface="Times New Roman" panose="02020603050405020304" pitchFamily="18" charset="0"/>
                          <a:cs typeface="Times New Roman" panose="02020603050405020304" pitchFamily="18" charset="0"/>
                        </a:rPr>
                        <a:t>Order_id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Foreign Key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Links the item to a specific order</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0058409"/>
                  </a:ext>
                </a:extLst>
              </a:tr>
              <a:tr h="968509">
                <a:tc>
                  <a:txBody>
                    <a:bodyPr/>
                    <a:lstStyle/>
                    <a:p>
                      <a:pPr algn="ctr"/>
                      <a:r>
                        <a:rPr lang="en-US" sz="1800" dirty="0">
                          <a:latin typeface="Times New Roman" panose="02020603050405020304" pitchFamily="18" charset="0"/>
                          <a:cs typeface="Times New Roman" panose="02020603050405020304" pitchFamily="18" charset="0"/>
                        </a:rPr>
                        <a:t>Quantity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3</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Not Null</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Number of units</a:t>
                      </a:r>
                    </a:p>
                    <a:p>
                      <a:pPr algn="ctr"/>
                      <a:r>
                        <a:rPr lang="en-US" sz="1800" dirty="0">
                          <a:latin typeface="Times New Roman" panose="02020603050405020304" pitchFamily="18" charset="0"/>
                          <a:cs typeface="Times New Roman" panose="02020603050405020304" pitchFamily="18" charset="0"/>
                        </a:rPr>
                        <a:t>of the product in the order</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04523294"/>
                  </a:ext>
                </a:extLst>
              </a:tr>
            </a:tbl>
          </a:graphicData>
        </a:graphic>
      </p:graphicFrame>
    </p:spTree>
    <p:extLst>
      <p:ext uri="{BB962C8B-B14F-4D97-AF65-F5344CB8AC3E}">
        <p14:creationId xmlns:p14="http://schemas.microsoft.com/office/powerpoint/2010/main" val="714659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FBF690-4DB3-F392-52E4-24A77344BAC6}"/>
              </a:ext>
            </a:extLst>
          </p:cNvPr>
          <p:cNvSpPr>
            <a:spLocks noGrp="1"/>
          </p:cNvSpPr>
          <p:nvPr>
            <p:ph type="sldNum" sz="quarter" idx="12"/>
          </p:nvPr>
        </p:nvSpPr>
        <p:spPr/>
        <p:txBody>
          <a:bodyPr/>
          <a:lstStyle/>
          <a:p>
            <a:fld id="{D57F1E4F-1CFF-5643-939E-217C01CDF565}" type="slidenum">
              <a:rPr lang="en-US" smtClean="0"/>
              <a:t>26</a:t>
            </a:fld>
            <a:endParaRPr lang="en-US" dirty="0"/>
          </a:p>
        </p:txBody>
      </p:sp>
      <p:sp>
        <p:nvSpPr>
          <p:cNvPr id="4" name="TextBox 3">
            <a:extLst>
              <a:ext uri="{FF2B5EF4-FFF2-40B4-BE49-F238E27FC236}">
                <a16:creationId xmlns:a16="http://schemas.microsoft.com/office/drawing/2014/main" id="{BEF22821-8F62-3E7B-5D23-E1830F051124}"/>
              </a:ext>
            </a:extLst>
          </p:cNvPr>
          <p:cNvSpPr txBox="1"/>
          <p:nvPr/>
        </p:nvSpPr>
        <p:spPr>
          <a:xfrm>
            <a:off x="1707502" y="1037644"/>
            <a:ext cx="6102220" cy="646331"/>
          </a:xfrm>
          <a:prstGeom prst="rect">
            <a:avLst/>
          </a:prstGeom>
          <a:noFill/>
        </p:spPr>
        <p:txBody>
          <a:bodyPr wrap="square">
            <a:spAutoFit/>
          </a:bodyPr>
          <a:lstStyle/>
          <a:p>
            <a:pPr algn="ctr"/>
            <a:r>
              <a:rPr lang="en-US" sz="3600" dirty="0">
                <a:solidFill>
                  <a:schemeClr val="accent1"/>
                </a:solidFill>
                <a:latin typeface="+mj-lt"/>
                <a:cs typeface="Times New Roman" panose="02020603050405020304" pitchFamily="18" charset="0"/>
              </a:rPr>
              <a:t>Feedback Table</a:t>
            </a:r>
            <a:endParaRPr lang="en-IN" sz="3600" dirty="0">
              <a:solidFill>
                <a:schemeClr val="accent1"/>
              </a:solidFill>
              <a:latin typeface="+mj-lt"/>
              <a:cs typeface="Times New Roman" panose="02020603050405020304" pitchFamily="18" charset="0"/>
            </a:endParaRPr>
          </a:p>
        </p:txBody>
      </p:sp>
      <p:graphicFrame>
        <p:nvGraphicFramePr>
          <p:cNvPr id="5" name="Table 4">
            <a:extLst>
              <a:ext uri="{FF2B5EF4-FFF2-40B4-BE49-F238E27FC236}">
                <a16:creationId xmlns:a16="http://schemas.microsoft.com/office/drawing/2014/main" id="{C4FB8F4D-42A0-10DC-57B7-30E203766D7F}"/>
              </a:ext>
            </a:extLst>
          </p:cNvPr>
          <p:cNvGraphicFramePr>
            <a:graphicFrameLocks noGrp="1"/>
          </p:cNvGraphicFramePr>
          <p:nvPr>
            <p:extLst>
              <p:ext uri="{D42A27DB-BD31-4B8C-83A1-F6EECF244321}">
                <p14:modId xmlns:p14="http://schemas.microsoft.com/office/powerpoint/2010/main" val="3118149576"/>
              </p:ext>
            </p:extLst>
          </p:nvPr>
        </p:nvGraphicFramePr>
        <p:xfrm>
          <a:off x="677863" y="2160588"/>
          <a:ext cx="8524239" cy="3385177"/>
        </p:xfrm>
        <a:graphic>
          <a:graphicData uri="http://schemas.openxmlformats.org/drawingml/2006/table">
            <a:tbl>
              <a:tblPr firstRow="1" bandRow="1">
                <a:tableStyleId>{5C22544A-7EE6-4342-B048-85BDC9FD1C3A}</a:tableStyleId>
              </a:tblPr>
              <a:tblGrid>
                <a:gridCol w="1726886">
                  <a:extLst>
                    <a:ext uri="{9D8B030D-6E8A-4147-A177-3AD203B41FA5}">
                      <a16:colId xmlns:a16="http://schemas.microsoft.com/office/drawing/2014/main" val="2138283308"/>
                    </a:ext>
                  </a:extLst>
                </a:gridCol>
                <a:gridCol w="1557234">
                  <a:extLst>
                    <a:ext uri="{9D8B030D-6E8A-4147-A177-3AD203B41FA5}">
                      <a16:colId xmlns:a16="http://schemas.microsoft.com/office/drawing/2014/main" val="3662672715"/>
                    </a:ext>
                  </a:extLst>
                </a:gridCol>
                <a:gridCol w="1642060">
                  <a:extLst>
                    <a:ext uri="{9D8B030D-6E8A-4147-A177-3AD203B41FA5}">
                      <a16:colId xmlns:a16="http://schemas.microsoft.com/office/drawing/2014/main" val="4210538097"/>
                    </a:ext>
                  </a:extLst>
                </a:gridCol>
                <a:gridCol w="1642060">
                  <a:extLst>
                    <a:ext uri="{9D8B030D-6E8A-4147-A177-3AD203B41FA5}">
                      <a16:colId xmlns:a16="http://schemas.microsoft.com/office/drawing/2014/main" val="1298600564"/>
                    </a:ext>
                  </a:extLst>
                </a:gridCol>
                <a:gridCol w="1955999">
                  <a:extLst>
                    <a:ext uri="{9D8B030D-6E8A-4147-A177-3AD203B41FA5}">
                      <a16:colId xmlns:a16="http://schemas.microsoft.com/office/drawing/2014/main" val="851467213"/>
                    </a:ext>
                  </a:extLst>
                </a:gridCol>
              </a:tblGrid>
              <a:tr h="458732">
                <a:tc>
                  <a:txBody>
                    <a:bodyPr/>
                    <a:lstStyle/>
                    <a:p>
                      <a:pPr algn="ctr"/>
                      <a:r>
                        <a:rPr lang="en-US" sz="1800" dirty="0">
                          <a:latin typeface="Times New Roman" panose="02020603050405020304" pitchFamily="18" charset="0"/>
                          <a:cs typeface="Times New Roman" panose="02020603050405020304" pitchFamily="18" charset="0"/>
                        </a:rPr>
                        <a:t>Column Name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Type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Data Size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Constrains</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65377497"/>
                  </a:ext>
                </a:extLst>
              </a:tr>
              <a:tr h="769216">
                <a:tc>
                  <a:txBody>
                    <a:bodyPr/>
                    <a:lstStyle/>
                    <a:p>
                      <a:pPr algn="ctr"/>
                      <a:r>
                        <a:rPr lang="en-US" sz="1800" dirty="0" err="1">
                          <a:latin typeface="Times New Roman" panose="02020603050405020304" pitchFamily="18" charset="0"/>
                          <a:cs typeface="Times New Roman" panose="02020603050405020304" pitchFamily="18" charset="0"/>
                        </a:rPr>
                        <a:t>Feedback_id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8</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Primary Key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Unique ID for each feedback entry</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05638544"/>
                  </a:ext>
                </a:extLst>
              </a:tr>
              <a:tr h="953849">
                <a:tc>
                  <a:txBody>
                    <a:bodyPr/>
                    <a:lstStyle/>
                    <a:p>
                      <a:pPr algn="ctr"/>
                      <a:r>
                        <a:rPr lang="en-US" sz="1800" dirty="0" err="1">
                          <a:latin typeface="Times New Roman" panose="02020603050405020304" pitchFamily="18" charset="0"/>
                          <a:cs typeface="Times New Roman" panose="02020603050405020304" pitchFamily="18" charset="0"/>
                        </a:rPr>
                        <a:t>Consumer_id</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Int</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4</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Foreign Key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Identifies which consumer submitted the feedback</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614745"/>
                  </a:ext>
                </a:extLst>
              </a:tr>
              <a:tr h="968509">
                <a:tc>
                  <a:txBody>
                    <a:bodyPr/>
                    <a:lstStyle/>
                    <a:p>
                      <a:pPr algn="ctr"/>
                      <a:r>
                        <a:rPr lang="en-US" sz="1800" dirty="0">
                          <a:latin typeface="Times New Roman" panose="02020603050405020304" pitchFamily="18" charset="0"/>
                          <a:cs typeface="Times New Roman" panose="02020603050405020304" pitchFamily="18" charset="0"/>
                        </a:rPr>
                        <a:t>Message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Varchar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500</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Not Null</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The feedback text written by the consumer</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87233915"/>
                  </a:ext>
                </a:extLst>
              </a:tr>
            </a:tbl>
          </a:graphicData>
        </a:graphic>
      </p:graphicFrame>
    </p:spTree>
    <p:extLst>
      <p:ext uri="{BB962C8B-B14F-4D97-AF65-F5344CB8AC3E}">
        <p14:creationId xmlns:p14="http://schemas.microsoft.com/office/powerpoint/2010/main" val="31035133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071" y="2630906"/>
            <a:ext cx="8596668" cy="1320800"/>
          </a:xfrm>
        </p:spPr>
        <p:txBody>
          <a:bodyPr/>
          <a:lstStyle/>
          <a:p>
            <a:pPr algn="ctr"/>
            <a:r>
              <a:rPr lang="en-US" dirty="0"/>
              <a:t>Flow Diagram</a:t>
            </a:r>
          </a:p>
        </p:txBody>
      </p:sp>
      <p:sp>
        <p:nvSpPr>
          <p:cNvPr id="6" name="Slide Number Placeholder 5"/>
          <p:cNvSpPr>
            <a:spLocks noGrp="1"/>
          </p:cNvSpPr>
          <p:nvPr>
            <p:ph type="sldNum" sz="quarter" idx="12"/>
          </p:nvPr>
        </p:nvSpPr>
        <p:spPr/>
        <p:txBody>
          <a:bodyPr/>
          <a:lstStyle/>
          <a:p>
            <a:fld id="{D57F1E4F-1CFF-5643-939E-217C01CDF565}" type="slidenum">
              <a:rPr lang="en-US" smtClean="0"/>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D57F1E4F-1CFF-5643-939E-217C01CDF565}" type="slidenum">
              <a:rPr lang="en-US" smtClean="0"/>
              <a:t>28</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5916" y="216567"/>
            <a:ext cx="4945186" cy="637673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7992" y="2393133"/>
            <a:ext cx="8596668" cy="1320800"/>
          </a:xfrm>
        </p:spPr>
        <p:txBody>
          <a:bodyPr/>
          <a:lstStyle/>
          <a:p>
            <a:pPr algn="ctr"/>
            <a:r>
              <a:rPr lang="en-US" dirty="0"/>
              <a:t>Unified Modelling Language</a:t>
            </a:r>
          </a:p>
        </p:txBody>
      </p:sp>
      <p:sp>
        <p:nvSpPr>
          <p:cNvPr id="6" name="Slide Number Placeholder 5"/>
          <p:cNvSpPr>
            <a:spLocks noGrp="1"/>
          </p:cNvSpPr>
          <p:nvPr>
            <p:ph type="sldNum" sz="quarter" idx="12"/>
          </p:nvPr>
        </p:nvSpPr>
        <p:spPr/>
        <p:txBody>
          <a:bodyPr/>
          <a:lstStyle/>
          <a:p>
            <a:fld id="{D57F1E4F-1CFF-5643-939E-217C01CDF565}" type="slidenum">
              <a:rPr lang="en-US" smtClean="0"/>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1778" y="2537988"/>
            <a:ext cx="8596668" cy="1320800"/>
          </a:xfrm>
        </p:spPr>
        <p:txBody>
          <a:bodyPr/>
          <a:lstStyle/>
          <a:p>
            <a:pPr algn="ctr"/>
            <a:r>
              <a:rPr lang="en-US" dirty="0"/>
              <a:t>Use Case Diagram</a:t>
            </a:r>
          </a:p>
        </p:txBody>
      </p:sp>
      <p:sp>
        <p:nvSpPr>
          <p:cNvPr id="6" name="Slide Number Placeholder 5"/>
          <p:cNvSpPr>
            <a:spLocks noGrp="1"/>
          </p:cNvSpPr>
          <p:nvPr>
            <p:ph type="sldNum" sz="quarter" idx="12"/>
          </p:nvPr>
        </p:nvSpPr>
        <p:spPr/>
        <p:txBody>
          <a:bodyPr/>
          <a:lstStyle/>
          <a:p>
            <a:fld id="{D57F1E4F-1CFF-5643-939E-217C01CDF565}" type="slidenum">
              <a:rPr lang="en-US" smtClean="0"/>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Consumer Table</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2880" y="1394235"/>
            <a:ext cx="5685575" cy="5323438"/>
          </a:xfrm>
        </p:spPr>
      </p:pic>
      <p:sp>
        <p:nvSpPr>
          <p:cNvPr id="6" name="Slide Number Placeholder 5"/>
          <p:cNvSpPr>
            <a:spLocks noGrp="1"/>
          </p:cNvSpPr>
          <p:nvPr>
            <p:ph type="sldNum" sz="quarter" idx="12"/>
          </p:nvPr>
        </p:nvSpPr>
        <p:spPr/>
        <p:txBody>
          <a:bodyPr/>
          <a:lstStyle/>
          <a:p>
            <a:fld id="{D57F1E4F-1CFF-5643-939E-217C01CDF565}" type="slidenum">
              <a:rPr lang="en-US" smtClean="0"/>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Farmer Table</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4725" y="1484768"/>
            <a:ext cx="5794217" cy="4997513"/>
          </a:xfrm>
        </p:spPr>
      </p:pic>
      <p:sp>
        <p:nvSpPr>
          <p:cNvPr id="6" name="Slide Number Placeholder 5"/>
          <p:cNvSpPr>
            <a:spLocks noGrp="1"/>
          </p:cNvSpPr>
          <p:nvPr>
            <p:ph type="sldNum" sz="quarter" idx="12"/>
          </p:nvPr>
        </p:nvSpPr>
        <p:spPr/>
        <p:txBody>
          <a:bodyPr/>
          <a:lstStyle/>
          <a:p>
            <a:fld id="{D57F1E4F-1CFF-5643-939E-217C01CDF565}" type="slidenum">
              <a:rPr lang="en-US" smtClean="0"/>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t>33</a:t>
            </a:fld>
            <a:endParaRPr lang="en-US" dirty="0"/>
          </a:p>
        </p:txBody>
      </p:sp>
      <p:sp>
        <p:nvSpPr>
          <p:cNvPr id="6" name="TextBox 5"/>
          <p:cNvSpPr txBox="1"/>
          <p:nvPr/>
        </p:nvSpPr>
        <p:spPr>
          <a:xfrm>
            <a:off x="2313992" y="2617504"/>
            <a:ext cx="6102220" cy="615553"/>
          </a:xfrm>
          <a:prstGeom prst="rect">
            <a:avLst/>
          </a:prstGeom>
          <a:noFill/>
        </p:spPr>
        <p:txBody>
          <a:bodyPr wrap="square">
            <a:spAutoFit/>
          </a:bodyPr>
          <a:lstStyle/>
          <a:p>
            <a:pPr algn="ctr"/>
            <a:r>
              <a:rPr lang="en-US" sz="3400" dirty="0">
                <a:solidFill>
                  <a:schemeClr val="accent1"/>
                </a:solidFill>
              </a:rPr>
              <a:t>Activity Diagram</a:t>
            </a:r>
            <a:endParaRPr lang="en-IN" sz="3400" dirty="0">
              <a:solidFill>
                <a:schemeClr val="accent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t>34</a:t>
            </a:fld>
            <a:endParaRPr lang="en-US" dirty="0"/>
          </a:p>
        </p:txBody>
      </p:sp>
      <p:pic>
        <p:nvPicPr>
          <p:cNvPr id="6" name="Picture 5"/>
          <p:cNvPicPr>
            <a:picLocks noChangeAspect="1"/>
          </p:cNvPicPr>
          <p:nvPr/>
        </p:nvPicPr>
        <p:blipFill>
          <a:blip r:embed="rId2"/>
          <a:stretch>
            <a:fillRect/>
          </a:stretch>
        </p:blipFill>
        <p:spPr>
          <a:xfrm>
            <a:off x="447870" y="1"/>
            <a:ext cx="8509518" cy="666205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t>35</a:t>
            </a:fld>
            <a:endParaRPr lang="en-US" dirty="0"/>
          </a:p>
        </p:txBody>
      </p:sp>
      <p:pic>
        <p:nvPicPr>
          <p:cNvPr id="6" name="Picture 5"/>
          <p:cNvPicPr>
            <a:picLocks noChangeAspect="1"/>
          </p:cNvPicPr>
          <p:nvPr/>
        </p:nvPicPr>
        <p:blipFill>
          <a:blip r:embed="rId2"/>
          <a:stretch>
            <a:fillRect/>
          </a:stretch>
        </p:blipFill>
        <p:spPr>
          <a:xfrm>
            <a:off x="457200" y="0"/>
            <a:ext cx="8444204" cy="6858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pPr algn="ctr"/>
            <a:r>
              <a:rPr lang="en-US" dirty="0"/>
              <a:t>Class Diagram</a:t>
            </a:r>
          </a:p>
        </p:txBody>
      </p:sp>
      <p:pic>
        <p:nvPicPr>
          <p:cNvPr id="12" name="Content Placeholder 11"/>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6994" y="1285592"/>
            <a:ext cx="8455937" cy="5120895"/>
          </a:xfrm>
        </p:spPr>
      </p:pic>
      <p:sp>
        <p:nvSpPr>
          <p:cNvPr id="4" name="Slide Number Placeholder 3"/>
          <p:cNvSpPr>
            <a:spLocks noGrp="1"/>
          </p:cNvSpPr>
          <p:nvPr>
            <p:ph type="sldNum" sz="quarter" idx="12"/>
          </p:nvPr>
        </p:nvSpPr>
        <p:spPr/>
        <p:txBody>
          <a:bodyPr/>
          <a:lstStyle/>
          <a:p>
            <a:fld id="{D57F1E4F-1CFF-5643-939E-217C01CDF565}" type="slidenum">
              <a:rPr lang="en-US" smtClean="0"/>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Proposed System </a:t>
            </a:r>
            <a:endParaRPr lang="en-IN" dirty="0"/>
          </a:p>
        </p:txBody>
      </p:sp>
      <p:sp>
        <p:nvSpPr>
          <p:cNvPr id="3" name="Content Placeholder 2"/>
          <p:cNvSpPr>
            <a:spLocks noGrp="1"/>
          </p:cNvSpPr>
          <p:nvPr>
            <p:ph idx="1"/>
          </p:nvPr>
        </p:nvSpPr>
        <p:spPr/>
        <p:txBody>
          <a:bodyPr/>
          <a:lstStyle/>
          <a:p>
            <a:r>
              <a:rPr lang="en-US" dirty="0"/>
              <a:t>1) High Quality Products:</a:t>
            </a:r>
            <a:r>
              <a:rPr lang="en-IN" dirty="0"/>
              <a:t> Customers will always get fresh, organic, and high 		                                     quality fruits and vegetables directly from trusted  						    sources.</a:t>
            </a:r>
          </a:p>
          <a:p>
            <a:endParaRPr lang="en-IN" dirty="0"/>
          </a:p>
          <a:p>
            <a:r>
              <a:rPr lang="en-IN" dirty="0"/>
              <a:t>2) Reasonable Pricing: Products will be offered at affordable and competitive  	                                Prices so that everyone can access healthy food.    </a:t>
            </a:r>
          </a:p>
          <a:p>
            <a:endParaRPr lang="en-IN" dirty="0"/>
          </a:p>
          <a:p>
            <a:r>
              <a:rPr lang="en-IN" dirty="0"/>
              <a:t>3) Fair pricing for All: This system benefits both customers and farmers by     					     ensuring fair and transparent pricing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Scope </a:t>
            </a:r>
            <a:endParaRPr lang="en-IN" dirty="0"/>
          </a:p>
        </p:txBody>
      </p:sp>
      <p:sp>
        <p:nvSpPr>
          <p:cNvPr id="3" name="Content Placeholder 2"/>
          <p:cNvSpPr>
            <a:spLocks noGrp="1"/>
          </p:cNvSpPr>
          <p:nvPr>
            <p:ph idx="1"/>
          </p:nvPr>
        </p:nvSpPr>
        <p:spPr>
          <a:xfrm>
            <a:off x="663788" y="1408749"/>
            <a:ext cx="8596668" cy="3880773"/>
          </a:xfrm>
        </p:spPr>
        <p:txBody>
          <a:bodyPr/>
          <a:lstStyle/>
          <a:p>
            <a:r>
              <a:rPr lang="en-US" dirty="0"/>
              <a:t>The scope of Connect Farma is to build a seamless and reliable e-commerce platform dedicated to the daily supply of fresh fruits and vegetables, similar to the “Milk Basket” model. The system focuses on convenient doorstep delivery, allowing customers to receive fresh produce daily or as per their chosen schedule. By integrating features such as subscription-based services, flexible delivery slots, and user-friendly online ordering, the platform aims to become a trusted source of essential fruits and vegetables for urban as well as semi-urban households. Furthermore, Connect Farma creates opportunities for farmers to directly connect with consumers, ensuring better earnings, reduced wastage, and fair pricing. In the long run, the platform has the potential to expand into other daily essentials, thereby strengthening its market reach and customer base.</a:t>
            </a:r>
            <a:endParaRPr lang="en-IN" dirty="0"/>
          </a:p>
        </p:txBody>
      </p:sp>
      <p:sp>
        <p:nvSpPr>
          <p:cNvPr id="6" name="Slide Number Placeholder 5"/>
          <p:cNvSpPr>
            <a:spLocks noGrp="1"/>
          </p:cNvSpPr>
          <p:nvPr>
            <p:ph type="sldNum" sz="quarter" idx="12"/>
          </p:nvPr>
        </p:nvSpPr>
        <p:spPr/>
        <p:txBody>
          <a:bodyPr/>
          <a:lstStyle/>
          <a:p>
            <a:fld id="{D57F1E4F-1CFF-5643-939E-217C01CDF565}" type="slidenum">
              <a:rPr lang="en-US" smtClean="0"/>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 and Technologies</a:t>
            </a:r>
            <a:endParaRPr lang="en-IN" dirty="0"/>
          </a:p>
        </p:txBody>
      </p:sp>
      <p:sp>
        <p:nvSpPr>
          <p:cNvPr id="3" name="Content Placeholder 2"/>
          <p:cNvSpPr>
            <a:spLocks noGrp="1"/>
          </p:cNvSpPr>
          <p:nvPr>
            <p:ph idx="1"/>
          </p:nvPr>
        </p:nvSpPr>
        <p:spPr>
          <a:xfrm>
            <a:off x="748454" y="1357949"/>
            <a:ext cx="8596668" cy="3880773"/>
          </a:xfrm>
        </p:spPr>
        <p:txBody>
          <a:bodyPr/>
          <a:lstStyle/>
          <a:p>
            <a:r>
              <a:rPr lang="en-US" dirty="0"/>
              <a:t>1. HTML (Hyper Text Markup Language) – Used for creating the structure of the Connect Farma web platform.</a:t>
            </a:r>
          </a:p>
          <a:p>
            <a:r>
              <a:rPr lang="en-US" dirty="0"/>
              <a:t>2. CSS (Cascading Style Sheets) – Applied to design and style the user interface for a clean and user-friendly experience.</a:t>
            </a:r>
          </a:p>
          <a:p>
            <a:r>
              <a:rPr lang="en-US" dirty="0"/>
              <a:t>3. JavaScript (JS) – Implemented to add interactivity and dynamic features, enhancing the overall functionality of the platform.</a:t>
            </a:r>
          </a:p>
          <a:p>
            <a:r>
              <a:rPr lang="en-US" dirty="0"/>
              <a:t>4. Python – Used for backend development, handling business logic, and managing data processing.</a:t>
            </a:r>
          </a:p>
          <a:p>
            <a:r>
              <a:rPr lang="en-US" dirty="0"/>
              <a:t>5. Database – Implemented to securely store and manage information related to products, customers, orders, and transactions.</a:t>
            </a:r>
            <a:endParaRPr lang="en-IN" dirty="0"/>
          </a:p>
        </p:txBody>
      </p:sp>
      <p:sp>
        <p:nvSpPr>
          <p:cNvPr id="6" name="Slide Number Placeholder 5"/>
          <p:cNvSpPr>
            <a:spLocks noGrp="1"/>
          </p:cNvSpPr>
          <p:nvPr>
            <p:ph type="sldNum" sz="quarter" idx="12"/>
          </p:nvPr>
        </p:nvSpPr>
        <p:spPr/>
        <p:txBody>
          <a:bodyPr/>
          <a:lstStyle/>
          <a:p>
            <a:fld id="{D57F1E4F-1CFF-5643-939E-217C01CDF565}" type="slidenum">
              <a:rPr lang="en-US" smtClean="0"/>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Requirement</a:t>
            </a:r>
            <a:endParaRPr lang="en-IN" dirty="0"/>
          </a:p>
        </p:txBody>
      </p:sp>
      <p:sp>
        <p:nvSpPr>
          <p:cNvPr id="3" name="Content Placeholder 2"/>
          <p:cNvSpPr>
            <a:spLocks noGrp="1"/>
          </p:cNvSpPr>
          <p:nvPr>
            <p:ph idx="1"/>
          </p:nvPr>
        </p:nvSpPr>
        <p:spPr/>
        <p:txBody>
          <a:bodyPr/>
          <a:lstStyle/>
          <a:p>
            <a:pPr marL="0" indent="0">
              <a:buNone/>
            </a:pPr>
            <a:r>
              <a:rPr lang="en-US" b="1" u="sng" dirty="0"/>
              <a:t>Browser Compatibility</a:t>
            </a:r>
          </a:p>
          <a:p>
            <a:r>
              <a:rPr lang="en-US" dirty="0"/>
              <a:t>The Connect Farma platform is designed to run smoothly on multiple web browsers for better accessibility and user experience. It supports:</a:t>
            </a:r>
          </a:p>
          <a:p>
            <a:r>
              <a:rPr lang="en-US" dirty="0"/>
              <a:t>1. Google Chrome – Primary browser for testing and running the application.</a:t>
            </a:r>
          </a:p>
          <a:p>
            <a:r>
              <a:rPr lang="en-US" dirty="0"/>
              <a:t>2. Mozilla Firefox – Ensures compatibility and performance across different systems.</a:t>
            </a:r>
          </a:p>
          <a:p>
            <a:r>
              <a:rPr lang="en-US" dirty="0"/>
              <a:t>3. Microsoft Edge – Provides seamless access on Windows-based systems.</a:t>
            </a:r>
          </a:p>
          <a:p>
            <a:r>
              <a:rPr lang="en-US" dirty="0"/>
              <a:t>4. Brave Browser – Supports privacy-focused users without compromising performance.</a:t>
            </a:r>
            <a:endParaRPr lang="en-IN" dirty="0"/>
          </a:p>
        </p:txBody>
      </p:sp>
      <p:sp>
        <p:nvSpPr>
          <p:cNvPr id="6" name="Slide Number Placeholder 5"/>
          <p:cNvSpPr>
            <a:spLocks noGrp="1"/>
          </p:cNvSpPr>
          <p:nvPr>
            <p:ph type="sldNum" sz="quarter" idx="12"/>
          </p:nvPr>
        </p:nvSpPr>
        <p:spPr/>
        <p:txBody>
          <a:bodyPr/>
          <a:lstStyle/>
          <a:p>
            <a:fld id="{D57F1E4F-1CFF-5643-939E-217C01CDF565}" type="slidenum">
              <a:rPr lang="en-US" smtClean="0"/>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a:t>
            </a:r>
            <a:endParaRPr lang="en-IN" dirty="0"/>
          </a:p>
        </p:txBody>
      </p:sp>
      <p:sp>
        <p:nvSpPr>
          <p:cNvPr id="3" name="Content Placeholder 2"/>
          <p:cNvSpPr>
            <a:spLocks noGrp="1"/>
          </p:cNvSpPr>
          <p:nvPr>
            <p:ph idx="1"/>
          </p:nvPr>
        </p:nvSpPr>
        <p:spPr>
          <a:xfrm>
            <a:off x="677334" y="1368109"/>
            <a:ext cx="8596668" cy="3880773"/>
          </a:xfrm>
        </p:spPr>
        <p:txBody>
          <a:bodyPr/>
          <a:lstStyle/>
          <a:p>
            <a:r>
              <a:rPr lang="en-US" dirty="0"/>
              <a:t>1. Direct Farmer-to-Consumer Connection – Eliminate middlemen and create a link between farmers and consumers, ensuring fair prices for both sides.</a:t>
            </a:r>
          </a:p>
          <a:p>
            <a:r>
              <a:rPr lang="en-US" dirty="0"/>
              <a:t>2. Fair Pricing and Transparency – Provide genuine and transparent pricing so that farmers earn more and customers save money.</a:t>
            </a:r>
          </a:p>
          <a:p>
            <a:r>
              <a:rPr lang="en-US" dirty="0"/>
              <a:t>3. Freshness and Quality – Deliver fresh, healthy, and high-quality fruits and vegetables directly from farms to homes.</a:t>
            </a:r>
          </a:p>
          <a:p>
            <a:r>
              <a:rPr lang="en-US" dirty="0"/>
              <a:t>4. Convenience in Shopping – Offer a simple, user-friendly online platform with doorstep delivery to save customers’ time and effort.</a:t>
            </a:r>
          </a:p>
          <a:p>
            <a:r>
              <a:rPr lang="en-US" dirty="0"/>
              <a:t>5. Sustainability – Encourage eco-friendly practices like minimal packaging and reduced food wastage to promote a greener future.</a:t>
            </a:r>
            <a:endParaRPr lang="en-IN" dirty="0"/>
          </a:p>
        </p:txBody>
      </p:sp>
      <p:sp>
        <p:nvSpPr>
          <p:cNvPr id="6" name="Slide Number Placeholder 5"/>
          <p:cNvSpPr>
            <a:spLocks noGrp="1"/>
          </p:cNvSpPr>
          <p:nvPr>
            <p:ph type="sldNum" sz="quarter" idx="12"/>
          </p:nvPr>
        </p:nvSpPr>
        <p:spPr/>
        <p:txBody>
          <a:bodyPr/>
          <a:lstStyle/>
          <a:p>
            <a:fld id="{D57F1E4F-1CFF-5643-939E-217C01CDF565}" type="slidenum">
              <a:rPr lang="en-US" smtClean="0"/>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 Analysis</a:t>
            </a:r>
            <a:endParaRPr lang="en-IN" dirty="0"/>
          </a:p>
        </p:txBody>
      </p:sp>
      <p:sp>
        <p:nvSpPr>
          <p:cNvPr id="3" name="Content Placeholder 2"/>
          <p:cNvSpPr>
            <a:spLocks noGrp="1"/>
          </p:cNvSpPr>
          <p:nvPr>
            <p:ph idx="1"/>
          </p:nvPr>
        </p:nvSpPr>
        <p:spPr>
          <a:xfrm>
            <a:off x="643468" y="1408749"/>
            <a:ext cx="8596668" cy="3880773"/>
          </a:xfrm>
        </p:spPr>
        <p:txBody>
          <a:bodyPr>
            <a:normAutofit lnSpcReduction="10000"/>
          </a:bodyPr>
          <a:lstStyle/>
          <a:p>
            <a:r>
              <a:rPr lang="en-US" dirty="0"/>
              <a:t>Current System</a:t>
            </a:r>
          </a:p>
          <a:p>
            <a:r>
              <a:rPr lang="en-US" dirty="0"/>
              <a:t>At present, popular platforms like </a:t>
            </a:r>
            <a:r>
              <a:rPr lang="en-US" dirty="0" err="1"/>
              <a:t>Blinkit</a:t>
            </a:r>
            <a:r>
              <a:rPr lang="en-US" dirty="0"/>
              <a:t>, </a:t>
            </a:r>
            <a:r>
              <a:rPr lang="en-US" dirty="0" err="1"/>
              <a:t>Zepto</a:t>
            </a:r>
            <a:r>
              <a:rPr lang="en-US" dirty="0"/>
              <a:t>, and </a:t>
            </a:r>
            <a:r>
              <a:rPr lang="en-US" dirty="0" err="1"/>
              <a:t>BigBasket</a:t>
            </a:r>
            <a:r>
              <a:rPr lang="en-US" dirty="0"/>
              <a:t> are widely used for the delivery of fruits and vegetables. However, these platforms face several limitations:</a:t>
            </a:r>
          </a:p>
          <a:p>
            <a:r>
              <a:rPr lang="en-US" dirty="0"/>
              <a:t>1. Higher Pricing – Due to multiple intermediaries, customers often pay more than the actual farm value.</a:t>
            </a:r>
          </a:p>
          <a:p>
            <a:r>
              <a:rPr lang="en-US" dirty="0"/>
              <a:t>2. Middlemen Involvement – Farmers do not get fair earnings, as a significant share goes to middlemen.</a:t>
            </a:r>
          </a:p>
          <a:p>
            <a:r>
              <a:rPr lang="en-US" dirty="0"/>
              <a:t>3. Quality Issues – Customers sometimes receive overripe, stale, or low-quality produce.</a:t>
            </a:r>
          </a:p>
          <a:p>
            <a:r>
              <a:rPr lang="en-US" dirty="0"/>
              <a:t>4. Limited Freshness Guarantee – Many products are stored in warehouses for long durations, which reduces freshness.</a:t>
            </a:r>
            <a:endParaRPr lang="en-IN" dirty="0"/>
          </a:p>
        </p:txBody>
      </p:sp>
      <p:sp>
        <p:nvSpPr>
          <p:cNvPr id="6" name="Slide Number Placeholder 5"/>
          <p:cNvSpPr>
            <a:spLocks noGrp="1"/>
          </p:cNvSpPr>
          <p:nvPr>
            <p:ph type="sldNum" sz="quarter" idx="12"/>
          </p:nvPr>
        </p:nvSpPr>
        <p:spPr/>
        <p:txBody>
          <a:bodyPr/>
          <a:lstStyle/>
          <a:p>
            <a:fld id="{D57F1E4F-1CFF-5643-939E-217C01CDF565}" type="slidenum">
              <a:rPr lang="en-US" smtClean="0"/>
              <a:t>42</a:t>
            </a:fld>
            <a:endParaRPr lang="en-US"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74</TotalTime>
  <Words>2248</Words>
  <Application>Microsoft Office PowerPoint</Application>
  <PresentationFormat>Widescreen</PresentationFormat>
  <Paragraphs>463</Paragraphs>
  <Slides>42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Calibri</vt:lpstr>
      <vt:lpstr>Times New Roman</vt:lpstr>
      <vt:lpstr>Trebuchet MS</vt:lpstr>
      <vt:lpstr>Trebuchet MS (Headings)</vt:lpstr>
      <vt:lpstr>Wingdings 3</vt:lpstr>
      <vt:lpstr>Facet</vt:lpstr>
      <vt:lpstr>CONNECTFARMA</vt:lpstr>
      <vt:lpstr>INTERNAL PROJECT REPORT </vt:lpstr>
      <vt:lpstr>Project Overview</vt:lpstr>
      <vt:lpstr>PowerPoint Presentation</vt:lpstr>
      <vt:lpstr>Project Proposal &amp; Planning </vt:lpstr>
      <vt:lpstr>PowerPoint Presentation</vt:lpstr>
      <vt:lpstr>PowerPoint Presentation</vt:lpstr>
      <vt:lpstr>PowerPoint Presentation</vt:lpstr>
      <vt:lpstr>System Design &amp; Database Development &amp; Data Dictionary</vt:lpstr>
      <vt:lpstr>System Design</vt:lpstr>
      <vt:lpstr>PowerPoint Presentation</vt:lpstr>
      <vt:lpstr>PowerPoint Presentation</vt:lpstr>
      <vt:lpstr>System Design</vt:lpstr>
      <vt:lpstr>PowerPoint Presentation</vt:lpstr>
      <vt:lpstr>Database Development</vt:lpstr>
      <vt:lpstr>Entity Relationship Diagram</vt:lpstr>
      <vt:lpstr>PowerPoint Presentation</vt:lpstr>
      <vt:lpstr>Database Dictionary</vt:lpstr>
      <vt:lpstr>Consumer Table</vt:lpstr>
      <vt:lpstr>Farmer Table</vt:lpstr>
      <vt:lpstr>PowerPoint Presentation</vt:lpstr>
      <vt:lpstr>PowerPoint Presentation</vt:lpstr>
      <vt:lpstr>Product Table</vt:lpstr>
      <vt:lpstr>PowerPoint Presentation</vt:lpstr>
      <vt:lpstr>PowerPoint Presentation</vt:lpstr>
      <vt:lpstr>PowerPoint Presentation</vt:lpstr>
      <vt:lpstr>Flow Diagram</vt:lpstr>
      <vt:lpstr>PowerPoint Presentation</vt:lpstr>
      <vt:lpstr>Unified Modelling Language</vt:lpstr>
      <vt:lpstr>Use Case Diagram</vt:lpstr>
      <vt:lpstr>Consumer Table</vt:lpstr>
      <vt:lpstr>Farmer Table</vt:lpstr>
      <vt:lpstr>PowerPoint Presentation</vt:lpstr>
      <vt:lpstr>PowerPoint Presentation</vt:lpstr>
      <vt:lpstr>PowerPoint Presentation</vt:lpstr>
      <vt:lpstr>Class Diagram</vt:lpstr>
      <vt:lpstr>Proposed System </vt:lpstr>
      <vt:lpstr>Scope </vt:lpstr>
      <vt:lpstr>Tools and Technologies</vt:lpstr>
      <vt:lpstr>System Requirement</vt:lpstr>
      <vt:lpstr>Objective</vt:lpstr>
      <vt:lpstr>Requirement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CONNECTFARMA</dc:title>
  <dc:creator>ADMIN</dc:creator>
  <cp:lastModifiedBy>Bhoomi Rawal</cp:lastModifiedBy>
  <cp:revision>80</cp:revision>
  <dcterms:created xsi:type="dcterms:W3CDTF">2025-08-01T09:06:00Z</dcterms:created>
  <dcterms:modified xsi:type="dcterms:W3CDTF">2025-09-03T11:13:26Z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C008E40CB0C14A129D5CBD02F2896A55_12</vt:lpwstr>
  </property>
  <property fmtid="{D5CDD505-2E9C-101B-9397-08002B2CF9AE}" pid="3" name="KSOProductBuildVer">
    <vt:lpwstr>2057-12.2.0.21936</vt:lpwstr>
  </property>
</Properties>
</file>